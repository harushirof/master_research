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omments/modernComment_185_697818E7.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84_484A4A.xml" ContentType="application/vnd.ms-powerpoint.comments+xml"/>
  <Override PartName="/ppt/notesSlides/notesSlide3.xml" ContentType="application/vnd.openxmlformats-officedocument.presentationml.notesSlide+xml"/>
  <Override PartName="/ppt/comments/modernComment_19C_A82FD116.xml" ContentType="application/vnd.ms-powerpoint.comments+xml"/>
  <Override PartName="/ppt/notesSlides/notesSlide4.xml" ContentType="application/vnd.openxmlformats-officedocument.presentationml.notesSlide+xml"/>
  <Override PartName="/ppt/comments/modernComment_195_3507A41C.xml" ContentType="application/vnd.ms-powerpoint.comments+xml"/>
  <Override PartName="/ppt/notesSlides/notesSlide5.xml" ContentType="application/vnd.openxmlformats-officedocument.presentationml.notesSlide+xml"/>
  <Override PartName="/ppt/comments/modernComment_18F_DE3F5B3A.xml" ContentType="application/vnd.ms-powerpoint.comments+xml"/>
  <Override PartName="/ppt/notesSlides/notesSlide6.xml" ContentType="application/vnd.openxmlformats-officedocument.presentationml.notesSlide+xml"/>
  <Override PartName="/ppt/comments/modernComment_19B_914F0C5A.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5"/>
  </p:notesMasterIdLst>
  <p:sldIdLst>
    <p:sldId id="389" r:id="rId2"/>
    <p:sldId id="356" r:id="rId3"/>
    <p:sldId id="388" r:id="rId4"/>
    <p:sldId id="412" r:id="rId5"/>
    <p:sldId id="405" r:id="rId6"/>
    <p:sldId id="399" r:id="rId7"/>
    <p:sldId id="411" r:id="rId8"/>
    <p:sldId id="400" r:id="rId9"/>
    <p:sldId id="409" r:id="rId10"/>
    <p:sldId id="410" r:id="rId11"/>
    <p:sldId id="402" r:id="rId12"/>
    <p:sldId id="397" r:id="rId13"/>
    <p:sldId id="413" r:id="rId14"/>
  </p:sldIdLst>
  <p:sldSz cx="9906000" cy="6858000" type="A4"/>
  <p:notesSz cx="6858000" cy="98742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97">
          <p15:clr>
            <a:srgbClr val="A4A3A4"/>
          </p15:clr>
        </p15:guide>
        <p15:guide id="2" orient="horz" pos="4156">
          <p15:clr>
            <a:srgbClr val="A4A3A4"/>
          </p15:clr>
        </p15:guide>
        <p15:guide id="3" pos="727">
          <p15:clr>
            <a:srgbClr val="A4A3A4"/>
          </p15:clr>
        </p15:guide>
        <p15:guide id="4" pos="6082">
          <p15:clr>
            <a:srgbClr val="A4A3A4"/>
          </p15:clr>
        </p15:guide>
        <p15:guide id="5" pos="1876">
          <p15:clr>
            <a:srgbClr val="A4A3A4"/>
          </p15:clr>
        </p15:guide>
        <p15:guide id="6" pos="4481">
          <p15:clr>
            <a:srgbClr val="A4A3A4"/>
          </p15:clr>
        </p15:guide>
        <p15:guide id="7" pos="364">
          <p15:clr>
            <a:srgbClr val="A4A3A4"/>
          </p15:clr>
        </p15:guide>
      </p15:sldGuideLst>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hGZ7uZ5vFhmAr7D05oSO2hGt9NU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89181F-4E05-7DF9-4E74-3E4183689D47}" name="福井　晴士郎" initials="晴福" userId="S::9209790505@utac.u-tokyo.ac.jp::c862c106-44b5-40b1-8b55-3249c1e646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18D"/>
    <a:srgbClr val="0096FF"/>
    <a:srgbClr val="002060"/>
    <a:srgbClr val="FFAC40"/>
    <a:srgbClr val="BFBFBF"/>
    <a:srgbClr val="FF0011"/>
    <a:srgbClr val="F9F9F9"/>
    <a:srgbClr val="0070C0"/>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F55246-B984-4F00-A051-4BF160ACBDB1}">
  <a:tblStyle styleId="{FFF55246-B984-4F00-A051-4BF160ACBDB1}"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9F9F9"/>
          </a:solidFill>
        </a:fill>
      </a:tcStyle>
    </a:wholeTbl>
    <a:band1H>
      <a:tcTxStyle b="off" i="off"/>
      <a:tcStyle>
        <a:tcBdr/>
        <a:fill>
          <a:solidFill>
            <a:srgbClr val="F2F2F2"/>
          </a:solidFill>
        </a:fill>
      </a:tcStyle>
    </a:band1H>
    <a:band2H>
      <a:tcTxStyle b="off" i="off"/>
      <a:tcStyle>
        <a:tcBdr/>
      </a:tcStyle>
    </a:band2H>
    <a:band1V>
      <a:tcTxStyle b="off" i="off"/>
      <a:tcStyle>
        <a:tcBdr/>
        <a:fill>
          <a:solidFill>
            <a:srgbClr val="F2F2F2"/>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D1EA581E-A1C8-4F62-88BD-5A6DA978B53D}"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5A115FD-0512-4B44-A0B9-EB2B14077046}" styleName="Table_2">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27" autoAdjust="0"/>
    <p:restoredTop sz="85211"/>
  </p:normalViewPr>
  <p:slideViewPr>
    <p:cSldViewPr snapToGrid="0">
      <p:cViewPr varScale="1">
        <p:scale>
          <a:sx n="104" d="100"/>
          <a:sy n="104" d="100"/>
        </p:scale>
        <p:origin x="624" y="200"/>
      </p:cViewPr>
      <p:guideLst>
        <p:guide orient="horz" pos="1797"/>
        <p:guide orient="horz" pos="4156"/>
        <p:guide pos="727"/>
        <p:guide pos="6082"/>
        <p:guide pos="1876"/>
        <p:guide pos="4481"/>
        <p:guide pos="364"/>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89" d="100"/>
          <a:sy n="89" d="100"/>
        </p:scale>
        <p:origin x="384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51" Type="http://customschemas.google.com/relationships/presentationmetadata" Target="metadata"/><Relationship Id="rId3" Type="http://schemas.openxmlformats.org/officeDocument/2006/relationships/slide" Target="slides/slide2.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schemas.microsoft.com/office/2018/10/relationships/authors" Target="authors.xml"/></Relationships>
</file>

<file path=ppt/comments/modernComment_18F_DE3F5B3A.xml><?xml version="1.0" encoding="utf-8"?>
<p188:cmLst xmlns:a="http://schemas.openxmlformats.org/drawingml/2006/main" xmlns:r="http://schemas.openxmlformats.org/officeDocument/2006/relationships" xmlns:p188="http://schemas.microsoft.com/office/powerpoint/2018/8/main">
  <p188:cm id="{1960317D-5107-A043-B495-01408F4F5BF4}" authorId="{8E89181F-4E05-7DF9-4E74-3E4183689D47}" created="2025-01-30T05:11:45.764">
    <ac:txMkLst xmlns:ac="http://schemas.microsoft.com/office/drawing/2013/main/command">
      <pc:docMk xmlns:pc="http://schemas.microsoft.com/office/powerpoint/2013/main/command"/>
      <pc:sldMk xmlns:pc="http://schemas.microsoft.com/office/powerpoint/2013/main/command" cId="3728694074" sldId="399"/>
      <ac:spMk id="3" creationId="{F7E80DAE-6024-3195-D2D4-EA3A5C54BC10}"/>
      <ac:txMk cp="4" len="88">
        <ac:context len="98" hash="279502302"/>
      </ac:txMk>
    </ac:txMkLst>
    <p188:pos x="8930475" y="821087"/>
    <p188:txBody>
      <a:bodyPr/>
      <a:lstStyle/>
      <a:p>
        <a:r>
          <a:rPr lang="ja-JP" altLang="en-US"/>
          <a:t>目的を修正</a:t>
        </a:r>
      </a:p>
    </p188:txBody>
  </p188:cm>
</p188:cmLst>
</file>

<file path=ppt/comments/modernComment_19B_914F0C5A.xml><?xml version="1.0" encoding="utf-8"?>
<p188:cmLst xmlns:a="http://schemas.openxmlformats.org/drawingml/2006/main" xmlns:r="http://schemas.openxmlformats.org/officeDocument/2006/relationships" xmlns:p188="http://schemas.microsoft.com/office/powerpoint/2018/8/main">
  <p188:cm id="{F163ECF9-AF92-5446-8724-76F3A6C88EDC}" authorId="{8E89181F-4E05-7DF9-4E74-3E4183689D47}" created="2025-01-30T05:11:45.764">
    <ac:txMkLst xmlns:ac="http://schemas.microsoft.com/office/drawing/2013/main/command">
      <pc:docMk xmlns:pc="http://schemas.microsoft.com/office/powerpoint/2013/main/command"/>
      <pc:sldMk xmlns:pc="http://schemas.microsoft.com/office/powerpoint/2013/main/command" cId="2437876826" sldId="411"/>
      <ac:spMk id="3" creationId="{F7E80DAE-6024-3195-D2D4-EA3A5C54BC10}"/>
      <ac:txMk cp="0">
        <ac:context len="135" hash="3527959623"/>
      </ac:txMk>
    </ac:txMkLst>
    <p188:pos x="8930475" y="821087"/>
    <p188:txBody>
      <a:bodyPr/>
      <a:lstStyle/>
      <a:p>
        <a:r>
          <a:rPr lang="ja-JP" altLang="en-US"/>
          <a:t>目的を修正</a:t>
        </a:r>
      </a:p>
    </p188:txBody>
  </p188:cm>
</p188:cmLst>
</file>

<file path=ppt/comments/modernComment_19C_A82FD116.xml><?xml version="1.0" encoding="utf-8"?>
<p188:cmLst xmlns:a="http://schemas.openxmlformats.org/drawingml/2006/main" xmlns:r="http://schemas.openxmlformats.org/officeDocument/2006/relationships" xmlns:p188="http://schemas.microsoft.com/office/powerpoint/2018/8/main">
  <p188:cm id="{E9A71CFE-5509-B443-9012-66467F1E79F6}" authorId="{8E89181F-4E05-7DF9-4E74-3E4183689D47}" created="2025-01-30T06:56:12.892">
    <ac:deMkLst xmlns:ac="http://schemas.microsoft.com/office/drawing/2013/main/command">
      <pc:docMk xmlns:pc="http://schemas.microsoft.com/office/powerpoint/2013/main/command"/>
      <pc:sldMk xmlns:pc="http://schemas.microsoft.com/office/powerpoint/2013/main/command" cId="4737610" sldId="388"/>
      <ac:picMk id="61" creationId="{D71EA5ED-C488-B94E-534D-ED24647218DE}"/>
    </ac:deMkLst>
    <p188:txBody>
      <a:bodyPr/>
      <a:lstStyle/>
      <a:p>
        <a:r>
          <a:rPr lang="ja-JP" altLang="en-US"/>
          <a:t>\mathbb{V}(j(t)) = \cfrac{\sqrt{\int_{f_1}^{f_2} 10^{\frac{dBc}{10}}df}}{2 \pi f_c}</a:t>
        </a:r>
      </a:p>
    </p188:txBody>
  </p188:cm>
  <p188:cm id="{182BC2D0-C838-CD42-AEF1-26A35A24F087}" authorId="{8E89181F-4E05-7DF9-4E74-3E4183689D47}" created="2025-01-30T07:02:34.324">
    <ac:deMkLst xmlns:ac="http://schemas.microsoft.com/office/drawing/2013/main/command">
      <pc:docMk xmlns:pc="http://schemas.microsoft.com/office/powerpoint/2013/main/command"/>
      <pc:sldMk xmlns:pc="http://schemas.microsoft.com/office/powerpoint/2013/main/command" cId="2821706006" sldId="412"/>
      <ac:picMk id="62" creationId="{916ED799-CAF8-F4B3-828F-59176BCF743A}"/>
    </ac:deMkLst>
    <p188:txBody>
      <a:bodyPr/>
      <a:lstStyle/>
      <a:p>
        <a:r>
          <a:rPr lang="ja-JP" altLang="en-US"/>
          <a:t>A_0 cos(\omega (t + j(t)) \approx A_0 \cos\omega t - A_0\omega j(t)\sin \omega t</a:t>
        </a:r>
      </a:p>
    </p188:txBody>
  </p188:cm>
  <p188:cm id="{68135A49-A7CB-444C-A2C6-71DDFBC21BE2}" authorId="{8E89181F-4E05-7DF9-4E74-3E4183689D47}" created="2025-01-30T07:09:01.560">
    <ac:deMkLst xmlns:ac="http://schemas.microsoft.com/office/drawing/2013/main/command">
      <pc:docMk xmlns:pc="http://schemas.microsoft.com/office/powerpoint/2013/main/command"/>
      <pc:sldMk xmlns:pc="http://schemas.microsoft.com/office/powerpoint/2013/main/command" cId="2821706006" sldId="412"/>
      <ac:picMk id="63" creationId="{86061A11-EC5A-FDCC-D25A-4038E87F2A68}"/>
    </ac:deMkLst>
    <p188:txBody>
      <a:bodyPr/>
      <a:lstStyle/>
      <a:p>
        <a:r>
          <a:rPr lang="ja-JP" altLang="en-US"/>
          <a:t>Pc = (A_0 cos\omega t)^2 = \cfrac{A_0^2}{2} </a:t>
        </a:r>
      </a:p>
    </p188:txBody>
  </p188:cm>
  <p188:cm id="{29BEFF3A-0E2C-B043-8C62-5576EE358A2C}" authorId="{8E89181F-4E05-7DF9-4E74-3E4183689D47}" created="2025-01-30T07:10:47.294">
    <ac:deMkLst xmlns:ac="http://schemas.microsoft.com/office/drawing/2013/main/command">
      <pc:docMk xmlns:pc="http://schemas.microsoft.com/office/powerpoint/2013/main/command"/>
      <pc:sldMk xmlns:pc="http://schemas.microsoft.com/office/powerpoint/2013/main/command" cId="2821706006" sldId="412"/>
      <ac:picMk id="64" creationId="{79100334-29CB-0FFD-DBA3-CE530FD52CE2}"/>
    </ac:deMkLst>
    <p188:txBody>
      <a:bodyPr/>
      <a:lstStyle/>
      <a:p>
        <a:r>
          <a:rPr lang="ja-JP" altLang="en-US"/>
          <a:t>P_{jitter} = (A_0\omega j(t)\sin \omega t)^2 = \cfrac{A_0^2 \omega^2 \mathbb{V}[j(t)]}{2}</a:t>
        </a:r>
      </a:p>
    </p188:txBody>
  </p188:cm>
  <p188:cm id="{A5970056-34D6-5244-8993-A02751875543}" authorId="{8E89181F-4E05-7DF9-4E74-3E4183689D47}" created="2025-01-30T07:32:40.915">
    <ac:deMkLst xmlns:ac="http://schemas.microsoft.com/office/drawing/2013/main/command">
      <pc:docMk xmlns:pc="http://schemas.microsoft.com/office/powerpoint/2013/main/command"/>
      <pc:sldMk xmlns:pc="http://schemas.microsoft.com/office/powerpoint/2013/main/command" cId="4737610" sldId="388"/>
      <ac:picMk id="65" creationId="{5919A426-2E8E-B793-235E-4067E32CEFE0}"/>
    </ac:deMkLst>
    <p188:txBody>
      <a:bodyPr/>
      <a:lstStyle/>
      <a:p>
        <a:r>
          <a:rPr lang="ja-JP" altLang="en-US"/>
          <a:t>L(f) = \cfrac{1}{2} \times 10 \log_{10}{\frac{P_{jitter}}{P_c}} =\cfrac{1}{2} \times 10 \log_{10} \omega^2 \mathbb{V}(j(t))</a:t>
        </a:r>
      </a:p>
    </p188:txBody>
  </p188:cm>
  <p188:cm id="{9F9DA85D-4506-6F4D-B467-4D634F7E13D3}" authorId="{8E89181F-4E05-7DF9-4E74-3E4183689D47}" created="2025-01-30T07:36:00.051">
    <ac:deMkLst xmlns:ac="http://schemas.microsoft.com/office/drawing/2013/main/command">
      <pc:docMk xmlns:pc="http://schemas.microsoft.com/office/powerpoint/2013/main/command"/>
      <pc:sldMk xmlns:pc="http://schemas.microsoft.com/office/powerpoint/2013/main/command" cId="2821706006" sldId="412"/>
      <ac:picMk id="66" creationId="{299064D2-5B71-6CAE-8C8C-3423B95B475C}"/>
    </ac:deMkLst>
    <p188:txBody>
      <a:bodyPr/>
      <a:lstStyle/>
      <a:p>
        <a:r>
          <a:rPr lang="ja-JP" altLang="en-US"/>
          <a:t>\sigma (j(t)) = \sqrt{\mathbb{V}(j(t))} = \cfrac{\sqrt{\int_{f_1}^{f_2} 10^{\frac{L(f)}{10}}df}}{2 \pi f_c}</a:t>
        </a:r>
      </a:p>
    </p188:txBody>
  </p188:cm>
  <p188:cm id="{043AE714-7409-A94C-8C42-783821C22085}" authorId="{8E89181F-4E05-7DF9-4E74-3E4183689D47}" created="2025-01-31T08:07:15.765">
    <ac:deMkLst xmlns:ac="http://schemas.microsoft.com/office/drawing/2013/main/command">
      <pc:docMk xmlns:pc="http://schemas.microsoft.com/office/powerpoint/2013/main/command"/>
      <pc:sldMk xmlns:pc="http://schemas.microsoft.com/office/powerpoint/2013/main/command" cId="4737610" sldId="388"/>
      <ac:picMk id="4" creationId="{2006B7BA-EC49-3F16-D4E8-D9AAFA88DBDD}"/>
    </ac:deMkLst>
    <p188:txBody>
      <a:bodyPr/>
      <a:lstStyle/>
      <a:p>
        <a:r>
          <a:rPr lang="ja-JP" altLang="en-US"/>
          <a:t>L(f) = \mathcal{F} \left[\cfrac{1}{2} \times 10 \log_{10}{\frac{P_{jitter}}{P_c}}\right] =\mathcal{F} \left[\cfrac{1}{2} \times 10 \log_{10} \omega^2 \mathbb{V}(j(t))\right]</a:t>
        </a:r>
      </a:p>
    </p188:txBody>
  </p188:cm>
  <p188:cm id="{ABDE2BC9-9CFB-1446-84D8-0A39E92719C1}" authorId="{8E89181F-4E05-7DF9-4E74-3E4183689D47}" created="2025-01-31T08:31:31.288">
    <ac:deMkLst xmlns:ac="http://schemas.microsoft.com/office/drawing/2013/main/command">
      <pc:docMk xmlns:pc="http://schemas.microsoft.com/office/powerpoint/2013/main/command"/>
      <pc:sldMk xmlns:pc="http://schemas.microsoft.com/office/powerpoint/2013/main/command" cId="2821706006" sldId="412"/>
      <ac:picMk id="6" creationId="{1C5B4EEA-7429-3F14-CD8F-55BB9DA6BB36}"/>
    </ac:deMkLst>
    <p188:txBody>
      <a:bodyPr/>
      <a:lstStyle/>
      <a:p>
        <a:r>
          <a:rPr lang="ja-JP" altLang="en-US"/>
          <a:t>L(f) = \mathcal{F} \left[10 \log_{10}{\frac{P_{jitter}}{P_c}}\right] =\mathcal{F} \left[10 \log_{10} \omega^2 \mathbb{V}(j(t))\right]</a:t>
        </a:r>
      </a:p>
    </p188:txBody>
  </p188:cm>
</p188:cmLst>
</file>

<file path=ppt/comments/modernComment_184_484A4A.xml><?xml version="1.0" encoding="utf-8"?>
<p188:cmLst xmlns:a="http://schemas.openxmlformats.org/drawingml/2006/main" xmlns:r="http://schemas.openxmlformats.org/officeDocument/2006/relationships" xmlns:p188="http://schemas.microsoft.com/office/powerpoint/2018/8/main">
  <p188:cm id="{ED40950E-7C22-224D-9946-B26097C0E8D0}" authorId="{8E89181F-4E05-7DF9-4E74-3E4183689D47}" created="2025-01-30T06:56:12.892">
    <ac:deMkLst xmlns:ac="http://schemas.microsoft.com/office/drawing/2013/main/command">
      <pc:docMk xmlns:pc="http://schemas.microsoft.com/office/powerpoint/2013/main/command"/>
      <pc:sldMk xmlns:pc="http://schemas.microsoft.com/office/powerpoint/2013/main/command" cId="4737610" sldId="388"/>
      <ac:picMk id="61" creationId="{D71EA5ED-C488-B94E-534D-ED24647218DE}"/>
    </ac:deMkLst>
    <p188:txBody>
      <a:bodyPr/>
      <a:lstStyle/>
      <a:p>
        <a:r>
          <a:rPr lang="ja-JP" altLang="en-US"/>
          <a:t>\mathbb{V}(j(t)) = \cfrac{\sqrt{\int_{f_1}^{f_2} 10^{\frac{dBc}{10}}df}}{2 \pi f_c}</a:t>
        </a:r>
      </a:p>
    </p188:txBody>
  </p188:cm>
  <p188:cm id="{1130F69C-6223-EC47-877E-6583B35D83A4}" authorId="{8E89181F-4E05-7DF9-4E74-3E4183689D47}" created="2025-01-30T07:02:34.324">
    <ac:deMkLst xmlns:ac="http://schemas.microsoft.com/office/drawing/2013/main/command">
      <pc:docMk xmlns:pc="http://schemas.microsoft.com/office/powerpoint/2013/main/command"/>
      <pc:sldMk xmlns:pc="http://schemas.microsoft.com/office/powerpoint/2013/main/command" cId="4737610" sldId="388"/>
      <ac:picMk id="62" creationId="{916ED799-CAF8-F4B3-828F-59176BCF743A}"/>
    </ac:deMkLst>
    <p188:txBody>
      <a:bodyPr/>
      <a:lstStyle/>
      <a:p>
        <a:r>
          <a:rPr lang="ja-JP" altLang="en-US"/>
          <a:t>A_0 cos(\omega (t + j(t)) \approx A_0 \cos\omega t - A_0\omega j(t)\sin \omega t</a:t>
        </a:r>
      </a:p>
    </p188:txBody>
  </p188:cm>
  <p188:cm id="{8375A50A-D565-6E45-8BC3-5AC60E55DD23}" authorId="{8E89181F-4E05-7DF9-4E74-3E4183689D47}" created="2025-01-30T07:09:01.560">
    <ac:deMkLst xmlns:ac="http://schemas.microsoft.com/office/drawing/2013/main/command">
      <pc:docMk xmlns:pc="http://schemas.microsoft.com/office/powerpoint/2013/main/command"/>
      <pc:sldMk xmlns:pc="http://schemas.microsoft.com/office/powerpoint/2013/main/command" cId="4737610" sldId="388"/>
      <ac:picMk id="63" creationId="{86061A11-EC5A-FDCC-D25A-4038E87F2A68}"/>
    </ac:deMkLst>
    <p188:txBody>
      <a:bodyPr/>
      <a:lstStyle/>
      <a:p>
        <a:r>
          <a:rPr lang="ja-JP" altLang="en-US"/>
          <a:t>Pc = (A_0 cos\omega t)^2 = \cfrac{A_0^2}{2} </a:t>
        </a:r>
      </a:p>
    </p188:txBody>
  </p188:cm>
  <p188:cm id="{6EAEA4E3-6FB4-1040-A61B-BB24F3EAC473}" authorId="{8E89181F-4E05-7DF9-4E74-3E4183689D47}" created="2025-01-30T07:10:47.294">
    <ac:deMkLst xmlns:ac="http://schemas.microsoft.com/office/drawing/2013/main/command">
      <pc:docMk xmlns:pc="http://schemas.microsoft.com/office/powerpoint/2013/main/command"/>
      <pc:sldMk xmlns:pc="http://schemas.microsoft.com/office/powerpoint/2013/main/command" cId="4737610" sldId="388"/>
      <ac:picMk id="64" creationId="{79100334-29CB-0FFD-DBA3-CE530FD52CE2}"/>
    </ac:deMkLst>
    <p188:txBody>
      <a:bodyPr/>
      <a:lstStyle/>
      <a:p>
        <a:r>
          <a:rPr lang="ja-JP" altLang="en-US"/>
          <a:t>P_{jitter} = (A_0\omega j(t)\sin \omega t)^2 = \cfrac{A_0^2 \omega^2 \mathbb{V}[j(t)]}{2}</a:t>
        </a:r>
      </a:p>
    </p188:txBody>
  </p188:cm>
  <p188:cm id="{F2AB3BC8-9B7B-A64C-8501-AF71A30DBF34}" authorId="{8E89181F-4E05-7DF9-4E74-3E4183689D47}" created="2025-01-30T07:32:40.915">
    <ac:deMkLst xmlns:ac="http://schemas.microsoft.com/office/drawing/2013/main/command">
      <pc:docMk xmlns:pc="http://schemas.microsoft.com/office/powerpoint/2013/main/command"/>
      <pc:sldMk xmlns:pc="http://schemas.microsoft.com/office/powerpoint/2013/main/command" cId="4737610" sldId="388"/>
      <ac:picMk id="65" creationId="{5919A426-2E8E-B793-235E-4067E32CEFE0}"/>
    </ac:deMkLst>
    <p188:txBody>
      <a:bodyPr/>
      <a:lstStyle/>
      <a:p>
        <a:r>
          <a:rPr lang="ja-JP" altLang="en-US"/>
          <a:t>L(f) = \cfrac{1}{2} \times 10 \log_{10}{\frac{P_{jitter}}{P_c}} =\cfrac{1}{2} \times 10 \log_{10} \omega^2 \mathbb{V}(j(t))</a:t>
        </a:r>
      </a:p>
    </p188:txBody>
  </p188:cm>
  <p188:cm id="{62A4E2A4-DF3A-7C4C-80E8-42AA7A5513B1}" authorId="{8E89181F-4E05-7DF9-4E74-3E4183689D47}" created="2025-01-30T07:36:00.051">
    <ac:deMkLst xmlns:ac="http://schemas.microsoft.com/office/drawing/2013/main/command">
      <pc:docMk xmlns:pc="http://schemas.microsoft.com/office/powerpoint/2013/main/command"/>
      <pc:sldMk xmlns:pc="http://schemas.microsoft.com/office/powerpoint/2013/main/command" cId="4737610" sldId="388"/>
      <ac:picMk id="66" creationId="{299064D2-5B71-6CAE-8C8C-3423B95B475C}"/>
    </ac:deMkLst>
    <p188:txBody>
      <a:bodyPr/>
      <a:lstStyle/>
      <a:p>
        <a:r>
          <a:rPr lang="ja-JP" altLang="en-US"/>
          <a:t>\sigma (j(t)) = \sqrt{\mathbb{V}(j(t))} = \cfrac{\sqrt{\int_{f_1}^{f_2} 10^{\frac{L(f)}{10}}df}}{2 \pi f_c}</a:t>
        </a:r>
      </a:p>
    </p188:txBody>
  </p188:cm>
  <p188:cm id="{F7E804A0-C5A7-5C4E-BC6C-E97DD6AF922A}" authorId="{8E89181F-4E05-7DF9-4E74-3E4183689D47}" created="2025-01-31T08:07:15.765">
    <ac:deMkLst xmlns:ac="http://schemas.microsoft.com/office/drawing/2013/main/command">
      <pc:docMk xmlns:pc="http://schemas.microsoft.com/office/powerpoint/2013/main/command"/>
      <pc:sldMk xmlns:pc="http://schemas.microsoft.com/office/powerpoint/2013/main/command" cId="4737610" sldId="388"/>
      <ac:picMk id="4" creationId="{2006B7BA-EC49-3F16-D4E8-D9AAFA88DBDD}"/>
    </ac:deMkLst>
    <p188:txBody>
      <a:bodyPr/>
      <a:lstStyle/>
      <a:p>
        <a:r>
          <a:rPr lang="ja-JP" altLang="en-US"/>
          <a:t>L(f) = \mathcal{F} \left[\cfrac{1}{2} \times 10 \log_{10}{\frac{P_{jitter}}{P_c}}\right] =\mathcal{F} \left[\cfrac{1}{2} \times 10 \log_{10} \omega^2 \mathbb{V}(j(t))\right]</a:t>
        </a:r>
      </a:p>
    </p188:txBody>
  </p188:cm>
  <p188:cm id="{C4B4C73C-927C-DF44-BEA1-D711E6FC1685}" authorId="{8E89181F-4E05-7DF9-4E74-3E4183689D47}" created="2025-01-31T08:31:31.288">
    <ac:deMkLst xmlns:ac="http://schemas.microsoft.com/office/drawing/2013/main/command">
      <pc:docMk xmlns:pc="http://schemas.microsoft.com/office/powerpoint/2013/main/command"/>
      <pc:sldMk xmlns:pc="http://schemas.microsoft.com/office/powerpoint/2013/main/command" cId="4737610" sldId="388"/>
      <ac:picMk id="6" creationId="{1C5B4EEA-7429-3F14-CD8F-55BB9DA6BB36}"/>
    </ac:deMkLst>
    <p188:txBody>
      <a:bodyPr/>
      <a:lstStyle/>
      <a:p>
        <a:r>
          <a:rPr lang="ja-JP" altLang="en-US"/>
          <a:t>L(f) = \mathcal{F} \left[10 \log_{10}{\frac{P_{jitter}}{P_c}}\right] =\mathcal{F} \left[10 \log_{10} \omega^2 \mathbb{V}(j(t))\right]</a:t>
        </a:r>
      </a:p>
    </p188:txBody>
  </p188:cm>
  <p188:cm id="{63548348-4E7E-8347-A4D5-55FDD3CD38AB}" authorId="{8E89181F-4E05-7DF9-4E74-3E4183689D47}" created="2025-02-03T06:36:01.218">
    <ac:deMkLst xmlns:ac="http://schemas.microsoft.com/office/drawing/2013/main/command">
      <pc:docMk xmlns:pc="http://schemas.microsoft.com/office/powerpoint/2013/main/command"/>
      <pc:sldMk xmlns:pc="http://schemas.microsoft.com/office/powerpoint/2013/main/command" cId="4737610" sldId="388"/>
      <ac:picMk id="6" creationId="{1C5B4EEA-7429-3F14-CD8F-55BB9DA6BB36}"/>
    </ac:deMkLst>
    <p188:txBody>
      <a:bodyPr/>
      <a:lstStyle/>
      <a:p>
        <a:r>
          <a:rPr lang="ja-JP" altLang="en-US"/>
          <a:t>j(t)のフーリエ変換の形に直す</a:t>
        </a:r>
      </a:p>
    </p188:txBody>
    <p188:extLst>
      <p:ext xmlns:p="http://schemas.openxmlformats.org/presentationml/2006/main" uri="{57CB4572-C831-44C2-8A1C-0ADB6CCDFE69}">
        <p223:reactions xmlns:p223="http://schemas.microsoft.com/office/powerpoint/2022/03/main">
          <p223:rxn type="👍">
            <p223:instance time="2025-02-03T06:36:06.445" authorId="{8E89181F-4E05-7DF9-4E74-3E4183689D47}"/>
          </p223:rxn>
        </p223:reactions>
      </p:ext>
    </p188:extLst>
  </p188:cm>
  <p188:cm id="{0A02BBD2-C7A3-484F-B8E4-951C05844045}" authorId="{8E89181F-4E05-7DF9-4E74-3E4183689D47}" created="2025-02-04T01:47:56.475">
    <ac:deMkLst xmlns:ac="http://schemas.microsoft.com/office/drawing/2013/main/command">
      <pc:docMk xmlns:pc="http://schemas.microsoft.com/office/powerpoint/2013/main/command"/>
      <pc:sldMk xmlns:pc="http://schemas.microsoft.com/office/powerpoint/2013/main/command" cId="4737610" sldId="388"/>
      <ac:picMk id="4" creationId="{9C195C08-8BEE-1A31-ED96-7CE559B150E4}"/>
    </ac:deMkLst>
    <p188:txBody>
      <a:bodyPr/>
      <a:lstStyle/>
      <a:p>
        <a:r>
          <a:rPr lang="ja-JP" altLang="en-US"/>
          <a:t>L(f) =  10 \log_{10}{\frac{P_{jitter}}{P_c}} =10 \log_{10} \mathcal{F} \left[\omega^2 \mathbb{V}(j(t))\right]</a:t>
        </a:r>
      </a:p>
    </p188:txBody>
  </p188:cm>
</p188:cmLst>
</file>

<file path=ppt/comments/modernComment_185_697818E7.xml><?xml version="1.0" encoding="utf-8"?>
<p188:cmLst xmlns:a="http://schemas.openxmlformats.org/drawingml/2006/main" xmlns:r="http://schemas.openxmlformats.org/officeDocument/2006/relationships" xmlns:p188="http://schemas.microsoft.com/office/powerpoint/2018/8/main">
  <p188:cm id="{68B3DFEB-2883-A441-8412-D006ED897D7F}" authorId="{8E89181F-4E05-7DF9-4E74-3E4183689D47}" created="2025-01-30T04:22:47.416">
    <ac:deMkLst xmlns:ac="http://schemas.microsoft.com/office/drawing/2013/main/command">
      <pc:docMk xmlns:pc="http://schemas.microsoft.com/office/powerpoint/2013/main/command"/>
      <pc:sldMk xmlns:pc="http://schemas.microsoft.com/office/powerpoint/2013/main/command" cId="1769478375" sldId="389"/>
      <ac:spMk id="6" creationId="{685347EE-2965-C090-63D4-710A20C95107}"/>
    </ac:deMkLst>
    <p188:txBody>
      <a:bodyPr/>
      <a:lstStyle/>
      <a:p>
        <a:r>
          <a:rPr lang="ja-JP" altLang="en-US"/>
          <a:t>タイトルを修正</a:t>
        </a:r>
      </a:p>
    </p188:txBody>
  </p188:cm>
  <p188:cm id="{8EAFE6AB-7B75-CA43-8DFC-98EC95167DA2}" authorId="{8E89181F-4E05-7DF9-4E74-3E4183689D47}" created="2025-01-30T04:23:02.183">
    <ac:deMkLst xmlns:ac="http://schemas.microsoft.com/office/drawing/2013/main/command">
      <pc:docMk xmlns:pc="http://schemas.microsoft.com/office/powerpoint/2013/main/command"/>
      <pc:sldMk xmlns:pc="http://schemas.microsoft.com/office/powerpoint/2013/main/command" cId="1769478375" sldId="389"/>
      <ac:spMk id="7" creationId="{71FC25AB-DEB9-83EB-9860-9B53C72373B7}"/>
    </ac:deMkLst>
    <p188:txBody>
      <a:bodyPr/>
      <a:lstStyle/>
      <a:p>
        <a:r>
          <a:rPr lang="ja-JP" altLang="en-US"/>
          <a:t>所属を修正</a:t>
        </a:r>
      </a:p>
    </p188:txBody>
  </p188:cm>
</p188:cmLst>
</file>

<file path=ppt/comments/modernComment_195_3507A41C.xml><?xml version="1.0" encoding="utf-8"?>
<p188:cmLst xmlns:a="http://schemas.openxmlformats.org/drawingml/2006/main" xmlns:r="http://schemas.openxmlformats.org/officeDocument/2006/relationships" xmlns:p188="http://schemas.microsoft.com/office/powerpoint/2018/8/main">
  <p188:cm id="{16930778-FA99-3741-B9FE-52C7F8AF02E2}" authorId="{8E89181F-4E05-7DF9-4E74-3E4183689D47}" created="2025-01-30T08:22:59.669">
    <ac:deMkLst xmlns:ac="http://schemas.microsoft.com/office/drawing/2013/main/command">
      <pc:docMk xmlns:pc="http://schemas.microsoft.com/office/powerpoint/2013/main/command"/>
      <pc:sldMk xmlns:pc="http://schemas.microsoft.com/office/powerpoint/2013/main/command" cId="889693212" sldId="405"/>
      <ac:picMk id="98" creationId="{2CABBD04-901A-2814-A697-68B15C77FA62}"/>
    </ac:deMkLst>
    <p188:txBody>
      <a:bodyPr/>
      <a:lstStyle/>
      <a:p>
        <a:r>
          <a:rPr lang="ja-JP" altLang="en-US"/>
          <a:t>\mathbb{V} (\Delta s_r ) = (\sigma_{n})^2 + (\sigma_{b})^2</a:t>
        </a:r>
      </a:p>
    </p188:txBody>
  </p188:cm>
  <p188:cm id="{16CF4F4D-AB90-594D-9407-AB573E63C71D}" authorId="{8E89181F-4E05-7DF9-4E74-3E4183689D47}" created="2025-01-30T08:23:40.936">
    <ac:deMkLst xmlns:ac="http://schemas.microsoft.com/office/drawing/2013/main/command">
      <pc:docMk xmlns:pc="http://schemas.microsoft.com/office/powerpoint/2013/main/command"/>
      <pc:sldMk xmlns:pc="http://schemas.microsoft.com/office/powerpoint/2013/main/command" cId="889693212" sldId="405"/>
      <ac:picMk id="99" creationId="{4842525D-2976-1DFF-644F-481743B1E583}"/>
    </ac:deMkLst>
    <p188:txBody>
      <a:bodyPr/>
      <a:lstStyle/>
      <a:p>
        <a:r>
          <a:rPr lang="ja-JP" altLang="en-US"/>
          <a:t>\mathbb{V} (\Delta s_k ) = (\sigma_{n})^2 + (\sigma_{a})^2</a:t>
        </a:r>
      </a:p>
    </p188:txBody>
  </p188:cm>
  <p188:cm id="{A171960B-1564-5747-9BA0-A40519775FB9}" authorId="{8E89181F-4E05-7DF9-4E74-3E4183689D47}" created="2025-01-30T08:24:36.286">
    <ac:deMkLst xmlns:ac="http://schemas.microsoft.com/office/drawing/2013/main/command">
      <pc:docMk xmlns:pc="http://schemas.microsoft.com/office/powerpoint/2013/main/command"/>
      <pc:sldMk xmlns:pc="http://schemas.microsoft.com/office/powerpoint/2013/main/command" cId="889693212" sldId="405"/>
      <ac:picMk id="100" creationId="{8313E2CF-705C-1C23-2544-DDDD00992C7D}"/>
    </ac:deMkLst>
    <p188:txBody>
      <a:bodyPr/>
      <a:lstStyle/>
      <a:p>
        <a:r>
          <a:rPr lang="ja-JP" altLang="en-US"/>
          <a:t>\mathbb{V} (\Delta s_k - \Delta r_k) = (\sigma_{a})^2 + (\sigma_{b})^2</a:t>
        </a:r>
      </a:p>
    </p188:txBody>
  </p188:cm>
  <p188:cm id="{F25A4921-A018-A54D-9C21-6A8A982A8C1E}" authorId="{8E89181F-4E05-7DF9-4E74-3E4183689D47}" created="2025-01-30T08:25:34.009">
    <ac:deMkLst xmlns:ac="http://schemas.microsoft.com/office/drawing/2013/main/command">
      <pc:docMk xmlns:pc="http://schemas.microsoft.com/office/powerpoint/2013/main/command"/>
      <pc:sldMk xmlns:pc="http://schemas.microsoft.com/office/powerpoint/2013/main/command" cId="889693212" sldId="405"/>
      <ac:picMk id="101" creationId="{014AADD4-2B4D-13A1-BC86-392F35DA3194}"/>
    </ac:deMkLst>
    <p188:txBody>
      <a:bodyPr/>
      <a:lstStyle/>
      <a:p>
        <a:r>
          <a:rPr lang="ja-JP" altLang="en-US"/>
          <a:t>\mathbb{V} (\Delta s_k + \Delta r_k) = 4(\sigma_{n})^2 + (\sigma_{a})^2 + (\sigma_{b})^2</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93713"/>
          </a:xfrm>
          <a:prstGeom prst="rect">
            <a:avLst/>
          </a:prstGeom>
          <a:noFill/>
          <a:ln>
            <a:noFill/>
          </a:ln>
        </p:spPr>
        <p:txBody>
          <a:bodyPr spcFirstLastPara="1" wrap="square" lIns="92075" tIns="46050" rIns="92075" bIns="4605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dirty="0"/>
          </a:p>
        </p:txBody>
      </p:sp>
      <p:sp>
        <p:nvSpPr>
          <p:cNvPr id="4" name="Google Shape;4;n"/>
          <p:cNvSpPr txBox="1">
            <a:spLocks noGrp="1"/>
          </p:cNvSpPr>
          <p:nvPr>
            <p:ph type="dt" idx="10"/>
          </p:nvPr>
        </p:nvSpPr>
        <p:spPr>
          <a:xfrm>
            <a:off x="3884613" y="0"/>
            <a:ext cx="2971800" cy="493713"/>
          </a:xfrm>
          <a:prstGeom prst="rect">
            <a:avLst/>
          </a:prstGeom>
          <a:noFill/>
          <a:ln>
            <a:noFill/>
          </a:ln>
        </p:spPr>
        <p:txBody>
          <a:bodyPr spcFirstLastPara="1" wrap="square" lIns="92075" tIns="46050" rIns="92075" bIns="4605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dirty="0"/>
          </a:p>
        </p:txBody>
      </p:sp>
      <p:sp>
        <p:nvSpPr>
          <p:cNvPr id="5" name="Google Shape;5;n"/>
          <p:cNvSpPr>
            <a:spLocks noGrp="1" noRot="1" noChangeAspect="1"/>
          </p:cNvSpPr>
          <p:nvPr>
            <p:ph type="sldImg" idx="3"/>
          </p:nvPr>
        </p:nvSpPr>
        <p:spPr>
          <a:xfrm>
            <a:off x="752475" y="739775"/>
            <a:ext cx="5351463" cy="37052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4213" y="4689475"/>
            <a:ext cx="5489575" cy="4445000"/>
          </a:xfrm>
          <a:prstGeom prst="rect">
            <a:avLst/>
          </a:prstGeom>
          <a:noFill/>
          <a:ln>
            <a:noFill/>
          </a:ln>
        </p:spPr>
        <p:txBody>
          <a:bodyPr spcFirstLastPara="1" wrap="square" lIns="92075" tIns="46050" rIns="92075" bIns="4605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8950"/>
            <a:ext cx="2971800" cy="493713"/>
          </a:xfrm>
          <a:prstGeom prst="rect">
            <a:avLst/>
          </a:prstGeom>
          <a:noFill/>
          <a:ln>
            <a:noFill/>
          </a:ln>
        </p:spPr>
        <p:txBody>
          <a:bodyPr spcFirstLastPara="1" wrap="square" lIns="92075" tIns="46050" rIns="92075" bIns="4605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dirty="0"/>
          </a:p>
        </p:txBody>
      </p:sp>
      <p:sp>
        <p:nvSpPr>
          <p:cNvPr id="8" name="Google Shape;8;n"/>
          <p:cNvSpPr txBox="1">
            <a:spLocks noGrp="1"/>
          </p:cNvSpPr>
          <p:nvPr>
            <p:ph type="sldNum" idx="12"/>
          </p:nvPr>
        </p:nvSpPr>
        <p:spPr>
          <a:xfrm>
            <a:off x="3884613" y="9378950"/>
            <a:ext cx="2971800" cy="493713"/>
          </a:xfrm>
          <a:prstGeom prst="rect">
            <a:avLst/>
          </a:prstGeom>
          <a:noFill/>
          <a:ln>
            <a:noFill/>
          </a:ln>
        </p:spPr>
        <p:txBody>
          <a:bodyPr spcFirstLastPara="1" wrap="square" lIns="92075" tIns="46050" rIns="92075" bIns="460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JP" sz="1200" b="0" i="0" u="none" strike="noStrike" cap="none">
                <a:solidFill>
                  <a:schemeClr val="dk1"/>
                </a:solidFill>
                <a:latin typeface="Arial"/>
                <a:ea typeface="Arial"/>
                <a:cs typeface="Arial"/>
                <a:sym typeface="Arial"/>
              </a:rPr>
              <a:t>‹#›</a:t>
            </a:fld>
            <a:endParaRPr sz="1200" b="0" i="0" u="none" strike="noStrike" cap="none" dirty="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684213" y="4689475"/>
            <a:ext cx="5489575" cy="4445000"/>
          </a:xfrm>
          <a:prstGeom prst="rect">
            <a:avLst/>
          </a:prstGeom>
          <a:noFill/>
          <a:ln>
            <a:noFill/>
          </a:ln>
        </p:spPr>
        <p:txBody>
          <a:bodyPr spcFirstLastPara="1" wrap="square" lIns="92075" tIns="46050" rIns="92075" bIns="46050" anchor="t" anchorCtr="0">
            <a:noAutofit/>
          </a:bodyPr>
          <a:lstStyle/>
          <a:p>
            <a:pPr marL="0" lvl="0" indent="0" algn="l" rtl="0">
              <a:lnSpc>
                <a:spcPct val="100000"/>
              </a:lnSpc>
              <a:spcBef>
                <a:spcPts val="360"/>
              </a:spcBef>
              <a:spcAft>
                <a:spcPts val="0"/>
              </a:spcAft>
              <a:buSzPts val="1400"/>
              <a:buNone/>
            </a:pPr>
            <a:endParaRPr dirty="0"/>
          </a:p>
        </p:txBody>
      </p:sp>
      <p:sp>
        <p:nvSpPr>
          <p:cNvPr id="54" name="Google Shape;54;p2:notes"/>
          <p:cNvSpPr>
            <a:spLocks noGrp="1" noRot="1" noChangeAspect="1"/>
          </p:cNvSpPr>
          <p:nvPr>
            <p:ph type="sldImg" idx="2"/>
          </p:nvPr>
        </p:nvSpPr>
        <p:spPr>
          <a:xfrm>
            <a:off x="752475" y="739775"/>
            <a:ext cx="5351463" cy="37052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01990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a:t>
            </a:r>
            <a:r>
              <a:rPr kumimoji="1" lang="en-US" altLang="ja-JP" dirty="0"/>
              <a:t>j(t)</a:t>
            </a:r>
            <a:r>
              <a:rPr kumimoji="1" lang="ja-JP" altLang="en-US"/>
              <a:t>では表現しづらいので、</a:t>
            </a:r>
            <a:r>
              <a:rPr kumimoji="1" lang="en-US" altLang="ja-JP" dirty="0"/>
              <a:t>L(f)</a:t>
            </a:r>
            <a:r>
              <a:rPr kumimoji="1" lang="ja-JP" altLang="en-US"/>
              <a:t>で表現する</a:t>
            </a:r>
            <a:endParaRPr kumimoji="1" lang="en-US" altLang="ja-JP" dirty="0"/>
          </a:p>
          <a:p>
            <a:r>
              <a:rPr kumimoji="1" lang="ja-JP" altLang="en-US"/>
              <a:t>・</a:t>
            </a:r>
            <a:r>
              <a:rPr kumimoji="1" lang="en-US" altLang="ja-JP" dirty="0"/>
              <a:t>j(t)</a:t>
            </a:r>
            <a:r>
              <a:rPr kumimoji="1" lang="ja-JP" altLang="en-US"/>
              <a:t>のフーリエ変換</a:t>
            </a:r>
            <a:endParaRPr kumimoji="1" lang="en-US" altLang="ja-JP" dirty="0"/>
          </a:p>
          <a:p>
            <a:r>
              <a:rPr kumimoji="1" lang="ja-JP" altLang="en-US"/>
              <a:t>・</a:t>
            </a:r>
            <a:r>
              <a:rPr kumimoji="1" lang="en-US" altLang="ja-JP" dirty="0"/>
              <a:t>j(t)</a:t>
            </a:r>
            <a:r>
              <a:rPr kumimoji="1" lang="ja-JP" altLang="en-US"/>
              <a:t>の分散</a:t>
            </a:r>
            <a:endParaRPr kumimoji="1" lang="en-US" altLang="ja-JP" dirty="0"/>
          </a:p>
          <a:p>
            <a:r>
              <a:rPr kumimoji="1" lang="ja-JP" altLang="en-US"/>
              <a:t>・位相ノイズが</a:t>
            </a:r>
            <a:r>
              <a:rPr kumimoji="1" lang="en-US" altLang="ja-JP" dirty="0"/>
              <a:t>j(t)</a:t>
            </a:r>
            <a:r>
              <a:rPr kumimoji="1" lang="ja-JP" altLang="en-US"/>
              <a:t>なら</a:t>
            </a:r>
            <a:r>
              <a:rPr kumimoji="1" lang="en-US" altLang="ja-JP" dirty="0" err="1"/>
              <a:t>σ</a:t>
            </a:r>
            <a:r>
              <a:rPr kumimoji="1" lang="en-US" altLang="ja-JP" dirty="0"/>
              <a:t>(j(t))</a:t>
            </a:r>
          </a:p>
          <a:p>
            <a:endParaRPr kumimoji="1" lang="en-US" altLang="ja-JP" dirty="0"/>
          </a:p>
          <a:p>
            <a:endParaRPr kumimoji="1" lang="ja-JP" altLang="en-US"/>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2</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3812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TCXO</a:t>
            </a:r>
            <a:r>
              <a:rPr kumimoji="1" lang="ja-JP" altLang="en-US"/>
              <a:t>とは</a:t>
            </a:r>
            <a:endParaRPr kumimoji="1" lang="en-US" altLang="ja-JP" dirty="0"/>
          </a:p>
          <a:p>
            <a:r>
              <a:rPr kumimoji="1" lang="ja-JP" altLang="en-US"/>
              <a:t>・温度補償型水晶発信器</a:t>
            </a:r>
            <a:endParaRPr kumimoji="1" lang="en-US" altLang="ja-JP" dirty="0"/>
          </a:p>
          <a:p>
            <a:endParaRPr kumimoji="1" lang="ja-JP" altLang="en-US"/>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3</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6463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a:t>
            </a:r>
            <a:r>
              <a:rPr kumimoji="1" lang="en-US" altLang="ja-JP" dirty="0" err="1"/>
              <a:t>AudioRecoder</a:t>
            </a:r>
            <a:r>
              <a:rPr kumimoji="1" lang="ja-JP" altLang="en-US"/>
              <a:t>以外でも</a:t>
            </a:r>
            <a:r>
              <a:rPr kumimoji="1" lang="en-US" altLang="ja-JP" dirty="0"/>
              <a:t>offset</a:t>
            </a:r>
            <a:r>
              <a:rPr kumimoji="1" lang="ja-JP" altLang="en-US"/>
              <a:t>周波数下限</a:t>
            </a:r>
            <a:r>
              <a:rPr kumimoji="1" lang="en-US" altLang="ja-JP" dirty="0"/>
              <a:t>1Hz</a:t>
            </a:r>
            <a:r>
              <a:rPr kumimoji="1" lang="ja-JP" altLang="en-US"/>
              <a:t>以下の測定は可能だが、ノイズが乗りすぎる</a:t>
            </a:r>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4</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22784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5</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06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a:t>
            </a:r>
            <a:r>
              <a:rPr kumimoji="1" lang="en-US" altLang="ja-JP" dirty="0"/>
              <a:t>Appendix</a:t>
            </a:r>
            <a:r>
              <a:rPr kumimoji="1" lang="ja-JP" altLang="en-US"/>
              <a:t>に青本</a:t>
            </a:r>
            <a:r>
              <a:rPr kumimoji="1" lang="en-US" altLang="ja-JP" dirty="0"/>
              <a:t>p.30</a:t>
            </a:r>
            <a:r>
              <a:rPr kumimoji="1" lang="ja-JP" altLang="en-US"/>
              <a:t>を追加</a:t>
            </a:r>
            <a:endParaRPr kumimoji="1" lang="en-US" altLang="ja-JP" dirty="0"/>
          </a:p>
          <a:p>
            <a:r>
              <a:rPr kumimoji="1" lang="ja-JP" altLang="en-US"/>
              <a:t>・</a:t>
            </a:r>
            <a:r>
              <a:rPr kumimoji="1" lang="en-US" altLang="ja-JP" dirty="0"/>
              <a:t>27MHz</a:t>
            </a:r>
            <a:r>
              <a:rPr kumimoji="1" lang="ja-JP" altLang="en-US"/>
              <a:t>をそのまま</a:t>
            </a:r>
            <a:r>
              <a:rPr kumimoji="1" lang="en-US" altLang="ja-JP" dirty="0"/>
              <a:t>Recorder</a:t>
            </a:r>
            <a:r>
              <a:rPr kumimoji="1" lang="ja-JP" altLang="en-US"/>
              <a:t>にぶち込んだらどうなの？（勝手にアンダーサンプリングされる？）</a:t>
            </a:r>
            <a:endParaRPr kumimoji="1" lang="en-US" altLang="ja-JP" dirty="0"/>
          </a:p>
          <a:p>
            <a:r>
              <a:rPr kumimoji="1" lang="ja-JP" altLang="en-US"/>
              <a:t>→</a:t>
            </a:r>
            <a:r>
              <a:rPr kumimoji="1" lang="en-US" altLang="ja-JP" dirty="0"/>
              <a:t>Recorder</a:t>
            </a:r>
            <a:r>
              <a:rPr kumimoji="1" lang="ja-JP" altLang="en-US"/>
              <a:t>のアンプで減衰するからダメ</a:t>
            </a:r>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6</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53571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a:t>で</a:t>
            </a:r>
            <a:r>
              <a:rPr kumimoji="1" lang="en-US" altLang="ja-JP" dirty="0"/>
              <a:t>recorder</a:t>
            </a:r>
            <a:r>
              <a:rPr kumimoji="1" lang="ja-JP" altLang="en-US"/>
              <a:t>ノイズをプロット</a:t>
            </a:r>
            <a:endParaRPr kumimoji="1" lang="en-US" altLang="ja-JP" dirty="0"/>
          </a:p>
          <a:p>
            <a:r>
              <a:rPr kumimoji="1" lang="ja-JP" altLang="en-US"/>
              <a:t>→分周器を加えても</a:t>
            </a:r>
            <a:r>
              <a:rPr kumimoji="1" lang="en-US" altLang="ja-JP" dirty="0"/>
              <a:t>recorder</a:t>
            </a:r>
            <a:r>
              <a:rPr kumimoji="1" lang="ja-JP" altLang="en-US"/>
              <a:t>のノイズより小さい結果が得られた。</a:t>
            </a:r>
            <a:endParaRPr kumimoji="1" lang="en-US" altLang="ja-JP" dirty="0"/>
          </a:p>
          <a:p>
            <a:endParaRPr kumimoji="1" lang="en-US" altLang="ja-JP" dirty="0"/>
          </a:p>
          <a:p>
            <a:r>
              <a:rPr kumimoji="1" lang="ja-JP" altLang="en-US"/>
              <a:t>・測定した</a:t>
            </a:r>
            <a:r>
              <a:rPr kumimoji="1" lang="en-US" altLang="ja-JP" dirty="0"/>
              <a:t>+</a:t>
            </a:r>
            <a:r>
              <a:rPr kumimoji="1" lang="ja-JP" altLang="en-US"/>
              <a:t>外挿の形に概ね一致→妥当性あり</a:t>
            </a:r>
            <a:endParaRPr kumimoji="1" lang="en-US" altLang="ja-JP" dirty="0"/>
          </a:p>
          <a:p>
            <a:r>
              <a:rPr kumimoji="1" lang="ja-JP" altLang="en-US"/>
              <a:t>（本当は１</a:t>
            </a:r>
            <a:r>
              <a:rPr kumimoji="1" lang="en-US" altLang="ja-JP" dirty="0"/>
              <a:t>/f^3</a:t>
            </a:r>
            <a:r>
              <a:rPr kumimoji="1" lang="ja-JP" altLang="en-US"/>
              <a:t>と</a:t>
            </a:r>
            <a:r>
              <a:rPr kumimoji="1" lang="en-US" altLang="ja-JP" dirty="0"/>
              <a:t>1/f^4</a:t>
            </a:r>
            <a:r>
              <a:rPr kumimoji="1" lang="ja-JP" altLang="en-US"/>
              <a:t>がどこで切り替わるか、を知りたい）</a:t>
            </a:r>
            <a:endParaRPr kumimoji="1" lang="en-US" altLang="ja-JP"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9</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8104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a:t>
            </a:r>
            <a:r>
              <a:rPr kumimoji="1" lang="en-US" altLang="ja-JP" dirty="0"/>
              <a:t>Recorder</a:t>
            </a:r>
            <a:r>
              <a:rPr kumimoji="1" lang="ja-JP" altLang="en-US"/>
              <a:t>ノイズ自体もそもそも落としたい</a:t>
            </a:r>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10</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63989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Arial"/>
                <a:ea typeface="Arial"/>
                <a:cs typeface="Arial"/>
                <a:sym typeface="Arial"/>
              </a:rPr>
              <a:t>12</a:t>
            </a:fld>
            <a:endParaRPr lang="ja-JP" alt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833290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行タイトル+本文">
  <p:cSld name="1行タイトル+本文">
    <p:spTree>
      <p:nvGrpSpPr>
        <p:cNvPr id="1" name="Shape 33"/>
        <p:cNvGrpSpPr/>
        <p:nvPr/>
      </p:nvGrpSpPr>
      <p:grpSpPr>
        <a:xfrm>
          <a:off x="0" y="0"/>
          <a:ext cx="0" cy="0"/>
          <a:chOff x="0" y="0"/>
          <a:chExt cx="0" cy="0"/>
        </a:xfrm>
      </p:grpSpPr>
      <p:sp>
        <p:nvSpPr>
          <p:cNvPr id="5" name="Google Shape;12;p41">
            <a:extLst>
              <a:ext uri="{FF2B5EF4-FFF2-40B4-BE49-F238E27FC236}">
                <a16:creationId xmlns:a16="http://schemas.microsoft.com/office/drawing/2014/main" id="{D597FADB-FE53-9A2C-CE30-9A690B5E32D2}"/>
              </a:ext>
            </a:extLst>
          </p:cNvPr>
          <p:cNvSpPr txBox="1"/>
          <p:nvPr userDrawn="1"/>
        </p:nvSpPr>
        <p:spPr>
          <a:xfrm>
            <a:off x="201975" y="251988"/>
            <a:ext cx="9504000" cy="671292"/>
          </a:xfrm>
          <a:prstGeom prst="rect">
            <a:avLst/>
          </a:prstGeom>
          <a:blipFill rotWithShape="1">
            <a:blip r:embed="rId2">
              <a:alphaModFix/>
            </a:blip>
            <a:stretch>
              <a:fillRect/>
            </a:stretch>
          </a:blipFill>
          <a:ln>
            <a:noFill/>
          </a:ln>
        </p:spPr>
        <p:txBody>
          <a:bodyPr spcFirstLastPara="1" wrap="square" lIns="144000" tIns="324000" rIns="0" bIns="36000" anchor="t" anchorCtr="0">
            <a:spAutoFit/>
          </a:bodyPr>
          <a:lstStyle/>
          <a:p>
            <a:pPr marL="0" marR="0" lvl="0" indent="0" algn="l" rtl="0">
              <a:lnSpc>
                <a:spcPct val="100000"/>
              </a:lnSpc>
              <a:spcBef>
                <a:spcPts val="0"/>
              </a:spcBef>
              <a:spcAft>
                <a:spcPts val="0"/>
              </a:spcAft>
              <a:buClr>
                <a:schemeClr val="lt2"/>
              </a:buClr>
              <a:buSzPts val="2000"/>
              <a:buFont typeface="Noto Sans Symbols"/>
              <a:buNone/>
            </a:pPr>
            <a:endParaRPr sz="2000" b="1" i="0" u="none" strike="noStrike" cap="none" dirty="0">
              <a:solidFill>
                <a:srgbClr val="000F78"/>
              </a:solidFill>
              <a:latin typeface="Arial"/>
              <a:ea typeface="Arial"/>
              <a:cs typeface="Arial"/>
              <a:sym typeface="Arial"/>
            </a:endParaRPr>
          </a:p>
        </p:txBody>
      </p:sp>
      <p:sp>
        <p:nvSpPr>
          <p:cNvPr id="34" name="Google Shape;34;p46"/>
          <p:cNvSpPr txBox="1">
            <a:spLocks noGrp="1"/>
          </p:cNvSpPr>
          <p:nvPr>
            <p:ph type="title"/>
          </p:nvPr>
        </p:nvSpPr>
        <p:spPr>
          <a:xfrm>
            <a:off x="227025" y="259239"/>
            <a:ext cx="9477000" cy="62832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275" b="0" i="0" u="none" strike="noStrike" cap="none">
                <a:solidFill>
                  <a:schemeClr val="bg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dirty="0"/>
          </a:p>
        </p:txBody>
      </p:sp>
      <p:sp>
        <p:nvSpPr>
          <p:cNvPr id="35" name="Google Shape;35;p46"/>
          <p:cNvSpPr txBox="1">
            <a:spLocks noGrp="1"/>
          </p:cNvSpPr>
          <p:nvPr>
            <p:ph type="body" idx="1"/>
          </p:nvPr>
        </p:nvSpPr>
        <p:spPr>
          <a:xfrm>
            <a:off x="213525" y="906114"/>
            <a:ext cx="9477000" cy="1308765"/>
          </a:xfrm>
          <a:prstGeom prst="rect">
            <a:avLst/>
          </a:prstGeom>
          <a:noFill/>
          <a:ln>
            <a:noFill/>
          </a:ln>
        </p:spPr>
        <p:txBody>
          <a:bodyPr spcFirstLastPara="1" wrap="square" lIns="88425" tIns="43175" rIns="88425" bIns="43175" anchor="t" anchorCtr="0">
            <a:noAutofit/>
          </a:bodyPr>
          <a:lstStyle>
            <a:lvl1pPr marL="457200" lvl="0" indent="-331787" algn="l">
              <a:lnSpc>
                <a:spcPct val="100000"/>
              </a:lnSpc>
              <a:spcBef>
                <a:spcPts val="488"/>
              </a:spcBef>
              <a:spcAft>
                <a:spcPts val="0"/>
              </a:spcAft>
              <a:buSzPts val="1625"/>
              <a:buChar char="■"/>
              <a:defRPr sz="1800">
                <a:solidFill>
                  <a:schemeClr val="tx1"/>
                </a:solidFill>
              </a:defRPr>
            </a:lvl1pPr>
            <a:lvl2pPr marL="914400" lvl="1" indent="-321500" algn="l">
              <a:lnSpc>
                <a:spcPct val="100000"/>
              </a:lnSpc>
              <a:spcBef>
                <a:spcPts val="439"/>
              </a:spcBef>
              <a:spcAft>
                <a:spcPts val="0"/>
              </a:spcAft>
              <a:buSzPts val="1463"/>
              <a:buChar char="●"/>
              <a:defRPr sz="1463"/>
            </a:lvl2pPr>
            <a:lvl3pPr marL="1371600" lvl="2" indent="-311150" algn="l">
              <a:lnSpc>
                <a:spcPct val="100000"/>
              </a:lnSpc>
              <a:spcBef>
                <a:spcPts val="260"/>
              </a:spcBef>
              <a:spcAft>
                <a:spcPts val="0"/>
              </a:spcAft>
              <a:buSzPts val="1300"/>
              <a:buFont typeface="Arial"/>
              <a:buChar char="▪"/>
              <a:defRPr sz="1300"/>
            </a:lvl3pPr>
            <a:lvl4pPr marL="1828800" lvl="3" indent="-300863" algn="l">
              <a:lnSpc>
                <a:spcPct val="100000"/>
              </a:lnSpc>
              <a:spcBef>
                <a:spcPts val="171"/>
              </a:spcBef>
              <a:spcAft>
                <a:spcPts val="0"/>
              </a:spcAft>
              <a:buSzPts val="1138"/>
              <a:buFont typeface="Arial"/>
              <a:buChar char="▪"/>
              <a:defRPr sz="1138"/>
            </a:lvl4pPr>
            <a:lvl5pPr marL="2286000" lvl="4" indent="-290512" algn="l">
              <a:lnSpc>
                <a:spcPct val="100000"/>
              </a:lnSpc>
              <a:spcBef>
                <a:spcPts val="98"/>
              </a:spcBef>
              <a:spcAft>
                <a:spcPts val="0"/>
              </a:spcAft>
              <a:buSzPts val="975"/>
              <a:buFont typeface="Arial"/>
              <a:buChar char="▪"/>
              <a:defRPr sz="975"/>
            </a:lvl5pPr>
            <a:lvl6pPr marL="2743200" lvl="5" indent="-342900" algn="l">
              <a:lnSpc>
                <a:spcPct val="100000"/>
              </a:lnSpc>
              <a:spcBef>
                <a:spcPts val="180"/>
              </a:spcBef>
              <a:spcAft>
                <a:spcPts val="0"/>
              </a:spcAft>
              <a:buSzPts val="1800"/>
              <a:buChar char="▪"/>
              <a:defRPr/>
            </a:lvl6pPr>
            <a:lvl7pPr marL="3200400" lvl="6" indent="-342900" algn="l">
              <a:lnSpc>
                <a:spcPct val="100000"/>
              </a:lnSpc>
              <a:spcBef>
                <a:spcPts val="180"/>
              </a:spcBef>
              <a:spcAft>
                <a:spcPts val="0"/>
              </a:spcAft>
              <a:buSzPts val="1800"/>
              <a:buChar char="▪"/>
              <a:defRPr/>
            </a:lvl7pPr>
            <a:lvl8pPr marL="3657600" lvl="7" indent="-342900" algn="l">
              <a:lnSpc>
                <a:spcPct val="100000"/>
              </a:lnSpc>
              <a:spcBef>
                <a:spcPts val="180"/>
              </a:spcBef>
              <a:spcAft>
                <a:spcPts val="0"/>
              </a:spcAft>
              <a:buSzPts val="1800"/>
              <a:buChar char="▪"/>
              <a:defRPr/>
            </a:lvl8pPr>
            <a:lvl9pPr marL="4114800" lvl="8" indent="-342900" algn="l">
              <a:lnSpc>
                <a:spcPct val="100000"/>
              </a:lnSpc>
              <a:spcBef>
                <a:spcPts val="180"/>
              </a:spcBef>
              <a:spcAft>
                <a:spcPts val="0"/>
              </a:spcAft>
              <a:buSzPts val="1800"/>
              <a:buChar char="▪"/>
              <a:defRPr/>
            </a:lvl9pPr>
          </a:lstStyle>
          <a:p>
            <a:endParaRPr dirty="0"/>
          </a:p>
        </p:txBody>
      </p:sp>
      <p:sp>
        <p:nvSpPr>
          <p:cNvPr id="4" name="Google Shape;26;p43">
            <a:extLst>
              <a:ext uri="{FF2B5EF4-FFF2-40B4-BE49-F238E27FC236}">
                <a16:creationId xmlns:a16="http://schemas.microsoft.com/office/drawing/2014/main" id="{4C692D73-7D54-2741-7DA0-F6127E9259AE}"/>
              </a:ext>
            </a:extLst>
          </p:cNvPr>
          <p:cNvSpPr txBox="1">
            <a:spLocks noGrp="1"/>
          </p:cNvSpPr>
          <p:nvPr>
            <p:ph type="sldNum" idx="12"/>
          </p:nvPr>
        </p:nvSpPr>
        <p:spPr>
          <a:xfrm>
            <a:off x="9017000" y="6629400"/>
            <a:ext cx="660400" cy="228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dirty="0"/>
          </a:p>
        </p:txBody>
      </p:sp>
    </p:spTree>
  </p:cSld>
  <p:clrMapOvr>
    <a:masterClrMapping/>
  </p:clrMapOvr>
  <p:extLst>
    <p:ext uri="{DCECCB84-F9BA-43D5-87BE-67443E8EF086}">
      <p15:sldGuideLst xmlns:p15="http://schemas.microsoft.com/office/powerpoint/2012/main">
        <p15:guide id="1" orient="horz" pos="52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行タイトル+本文" preserve="1" userDrawn="1">
  <p:cSld name="1_1行タイトル+本文">
    <p:spTree>
      <p:nvGrpSpPr>
        <p:cNvPr id="1" name="Shape 33"/>
        <p:cNvGrpSpPr/>
        <p:nvPr/>
      </p:nvGrpSpPr>
      <p:grpSpPr>
        <a:xfrm>
          <a:off x="0" y="0"/>
          <a:ext cx="0" cy="0"/>
          <a:chOff x="0" y="0"/>
          <a:chExt cx="0" cy="0"/>
        </a:xfrm>
      </p:grpSpPr>
      <p:sp>
        <p:nvSpPr>
          <p:cNvPr id="5" name="Google Shape;12;p41">
            <a:extLst>
              <a:ext uri="{FF2B5EF4-FFF2-40B4-BE49-F238E27FC236}">
                <a16:creationId xmlns:a16="http://schemas.microsoft.com/office/drawing/2014/main" id="{D597FADB-FE53-9A2C-CE30-9A690B5E32D2}"/>
              </a:ext>
            </a:extLst>
          </p:cNvPr>
          <p:cNvSpPr txBox="1"/>
          <p:nvPr userDrawn="1"/>
        </p:nvSpPr>
        <p:spPr>
          <a:xfrm>
            <a:off x="201975" y="251988"/>
            <a:ext cx="9504000" cy="671292"/>
          </a:xfrm>
          <a:prstGeom prst="rect">
            <a:avLst/>
          </a:prstGeom>
          <a:blipFill rotWithShape="1">
            <a:blip r:embed="rId2">
              <a:alphaModFix/>
            </a:blip>
            <a:stretch>
              <a:fillRect/>
            </a:stretch>
          </a:blipFill>
          <a:ln>
            <a:noFill/>
          </a:ln>
        </p:spPr>
        <p:txBody>
          <a:bodyPr spcFirstLastPara="1" wrap="square" lIns="144000" tIns="324000" rIns="0" bIns="36000" anchor="t" anchorCtr="0">
            <a:spAutoFit/>
          </a:bodyPr>
          <a:lstStyle/>
          <a:p>
            <a:pPr marL="0" marR="0" lvl="0" indent="0" algn="l" rtl="0">
              <a:lnSpc>
                <a:spcPct val="100000"/>
              </a:lnSpc>
              <a:spcBef>
                <a:spcPts val="0"/>
              </a:spcBef>
              <a:spcAft>
                <a:spcPts val="0"/>
              </a:spcAft>
              <a:buClr>
                <a:schemeClr val="lt2"/>
              </a:buClr>
              <a:buSzPts val="2000"/>
              <a:buFont typeface="Noto Sans Symbols"/>
              <a:buNone/>
            </a:pPr>
            <a:endParaRPr sz="2000" b="1" i="0" u="none" strike="noStrike" cap="none" dirty="0">
              <a:solidFill>
                <a:srgbClr val="000F78"/>
              </a:solidFill>
              <a:latin typeface="Arial"/>
              <a:ea typeface="Arial"/>
              <a:cs typeface="Arial"/>
              <a:sym typeface="Arial"/>
            </a:endParaRPr>
          </a:p>
        </p:txBody>
      </p:sp>
      <p:sp>
        <p:nvSpPr>
          <p:cNvPr id="35" name="Google Shape;35;p46"/>
          <p:cNvSpPr txBox="1">
            <a:spLocks noGrp="1"/>
          </p:cNvSpPr>
          <p:nvPr>
            <p:ph type="body" idx="1"/>
          </p:nvPr>
        </p:nvSpPr>
        <p:spPr>
          <a:xfrm>
            <a:off x="213525" y="906114"/>
            <a:ext cx="9477000" cy="1308765"/>
          </a:xfrm>
          <a:prstGeom prst="rect">
            <a:avLst/>
          </a:prstGeom>
          <a:noFill/>
          <a:ln>
            <a:noFill/>
          </a:ln>
        </p:spPr>
        <p:txBody>
          <a:bodyPr spcFirstLastPara="1" wrap="square" lIns="88425" tIns="43175" rIns="88425" bIns="43175" anchor="t" anchorCtr="0">
            <a:noAutofit/>
          </a:bodyPr>
          <a:lstStyle>
            <a:lvl1pPr marL="457200" lvl="0" indent="-331787" algn="l">
              <a:lnSpc>
                <a:spcPct val="100000"/>
              </a:lnSpc>
              <a:spcBef>
                <a:spcPts val="488"/>
              </a:spcBef>
              <a:spcAft>
                <a:spcPts val="0"/>
              </a:spcAft>
              <a:buSzPts val="1625"/>
              <a:buChar char="■"/>
              <a:defRPr sz="1625">
                <a:solidFill>
                  <a:schemeClr val="bg2"/>
                </a:solidFill>
              </a:defRPr>
            </a:lvl1pPr>
            <a:lvl2pPr marL="914400" lvl="1" indent="-321500" algn="l">
              <a:lnSpc>
                <a:spcPct val="100000"/>
              </a:lnSpc>
              <a:spcBef>
                <a:spcPts val="439"/>
              </a:spcBef>
              <a:spcAft>
                <a:spcPts val="0"/>
              </a:spcAft>
              <a:buSzPts val="1463"/>
              <a:buChar char="●"/>
              <a:defRPr sz="1463"/>
            </a:lvl2pPr>
            <a:lvl3pPr marL="1371600" lvl="2" indent="-311150" algn="l">
              <a:lnSpc>
                <a:spcPct val="100000"/>
              </a:lnSpc>
              <a:spcBef>
                <a:spcPts val="260"/>
              </a:spcBef>
              <a:spcAft>
                <a:spcPts val="0"/>
              </a:spcAft>
              <a:buSzPts val="1300"/>
              <a:buFont typeface="Arial"/>
              <a:buChar char="▪"/>
              <a:defRPr sz="1300"/>
            </a:lvl3pPr>
            <a:lvl4pPr marL="1828800" lvl="3" indent="-300863" algn="l">
              <a:lnSpc>
                <a:spcPct val="100000"/>
              </a:lnSpc>
              <a:spcBef>
                <a:spcPts val="171"/>
              </a:spcBef>
              <a:spcAft>
                <a:spcPts val="0"/>
              </a:spcAft>
              <a:buSzPts val="1138"/>
              <a:buFont typeface="Arial"/>
              <a:buChar char="▪"/>
              <a:defRPr sz="1138"/>
            </a:lvl4pPr>
            <a:lvl5pPr marL="2286000" lvl="4" indent="-290512" algn="l">
              <a:lnSpc>
                <a:spcPct val="100000"/>
              </a:lnSpc>
              <a:spcBef>
                <a:spcPts val="98"/>
              </a:spcBef>
              <a:spcAft>
                <a:spcPts val="0"/>
              </a:spcAft>
              <a:buSzPts val="975"/>
              <a:buFont typeface="Arial"/>
              <a:buChar char="▪"/>
              <a:defRPr sz="975"/>
            </a:lvl5pPr>
            <a:lvl6pPr marL="2743200" lvl="5" indent="-342900" algn="l">
              <a:lnSpc>
                <a:spcPct val="100000"/>
              </a:lnSpc>
              <a:spcBef>
                <a:spcPts val="180"/>
              </a:spcBef>
              <a:spcAft>
                <a:spcPts val="0"/>
              </a:spcAft>
              <a:buSzPts val="1800"/>
              <a:buChar char="▪"/>
              <a:defRPr/>
            </a:lvl6pPr>
            <a:lvl7pPr marL="3200400" lvl="6" indent="-342900" algn="l">
              <a:lnSpc>
                <a:spcPct val="100000"/>
              </a:lnSpc>
              <a:spcBef>
                <a:spcPts val="180"/>
              </a:spcBef>
              <a:spcAft>
                <a:spcPts val="0"/>
              </a:spcAft>
              <a:buSzPts val="1800"/>
              <a:buChar char="▪"/>
              <a:defRPr/>
            </a:lvl7pPr>
            <a:lvl8pPr marL="3657600" lvl="7" indent="-342900" algn="l">
              <a:lnSpc>
                <a:spcPct val="100000"/>
              </a:lnSpc>
              <a:spcBef>
                <a:spcPts val="180"/>
              </a:spcBef>
              <a:spcAft>
                <a:spcPts val="0"/>
              </a:spcAft>
              <a:buSzPts val="1800"/>
              <a:buChar char="▪"/>
              <a:defRPr/>
            </a:lvl8pPr>
            <a:lvl9pPr marL="4114800" lvl="8" indent="-342900" algn="l">
              <a:lnSpc>
                <a:spcPct val="100000"/>
              </a:lnSpc>
              <a:spcBef>
                <a:spcPts val="180"/>
              </a:spcBef>
              <a:spcAft>
                <a:spcPts val="0"/>
              </a:spcAft>
              <a:buSzPts val="1800"/>
              <a:buChar char="▪"/>
              <a:defRPr/>
            </a:lvl9pPr>
          </a:lstStyle>
          <a:p>
            <a:endParaRPr dirty="0"/>
          </a:p>
        </p:txBody>
      </p:sp>
      <p:sp>
        <p:nvSpPr>
          <p:cNvPr id="4" name="Google Shape;26;p43">
            <a:extLst>
              <a:ext uri="{FF2B5EF4-FFF2-40B4-BE49-F238E27FC236}">
                <a16:creationId xmlns:a16="http://schemas.microsoft.com/office/drawing/2014/main" id="{4C692D73-7D54-2741-7DA0-F6127E9259AE}"/>
              </a:ext>
            </a:extLst>
          </p:cNvPr>
          <p:cNvSpPr txBox="1">
            <a:spLocks noGrp="1"/>
          </p:cNvSpPr>
          <p:nvPr>
            <p:ph type="sldNum" idx="12"/>
          </p:nvPr>
        </p:nvSpPr>
        <p:spPr>
          <a:xfrm>
            <a:off x="9017000" y="6629400"/>
            <a:ext cx="660400" cy="228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dirty="0"/>
          </a:p>
        </p:txBody>
      </p:sp>
    </p:spTree>
    <p:extLst>
      <p:ext uri="{BB962C8B-B14F-4D97-AF65-F5344CB8AC3E}">
        <p14:creationId xmlns:p14="http://schemas.microsoft.com/office/powerpoint/2010/main" val="2938756534"/>
      </p:ext>
    </p:extLst>
  </p:cSld>
  <p:clrMapOvr>
    <a:masterClrMapping/>
  </p:clrMapOvr>
  <p:extLst>
    <p:ext uri="{DCECCB84-F9BA-43D5-87BE-67443E8EF086}">
      <p15:sldGuideLst xmlns:p15="http://schemas.microsoft.com/office/powerpoint/2012/main">
        <p15:guide id="1" orient="horz" pos="52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25"/>
        <p:cNvGrpSpPr/>
        <p:nvPr/>
      </p:nvGrpSpPr>
      <p:grpSpPr>
        <a:xfrm>
          <a:off x="0" y="0"/>
          <a:ext cx="0" cy="0"/>
          <a:chOff x="0" y="0"/>
          <a:chExt cx="0" cy="0"/>
        </a:xfrm>
      </p:grpSpPr>
      <p:sp>
        <p:nvSpPr>
          <p:cNvPr id="26" name="Google Shape;26;p43"/>
          <p:cNvSpPr txBox="1">
            <a:spLocks noGrp="1"/>
          </p:cNvSpPr>
          <p:nvPr>
            <p:ph type="sldNum" idx="12"/>
          </p:nvPr>
        </p:nvSpPr>
        <p:spPr>
          <a:xfrm>
            <a:off x="9017000" y="6629400"/>
            <a:ext cx="660400" cy="228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168640" y="1262921"/>
            <a:ext cx="9448800" cy="9540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42" name="Google Shape;42;p48"/>
          <p:cNvSpPr txBox="1">
            <a:spLocks noGrp="1"/>
          </p:cNvSpPr>
          <p:nvPr>
            <p:ph type="sldNum" idx="12"/>
          </p:nvPr>
        </p:nvSpPr>
        <p:spPr>
          <a:xfrm>
            <a:off x="9017000" y="6629400"/>
            <a:ext cx="660400" cy="228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中表紙">
  <p:cSld name="中表紙">
    <p:bg>
      <p:bgPr>
        <a:solidFill>
          <a:srgbClr val="E4ECED">
            <a:alpha val="49411"/>
          </a:srgbClr>
        </a:solidFill>
        <a:effectLst/>
      </p:bgPr>
    </p:bg>
    <p:spTree>
      <p:nvGrpSpPr>
        <p:cNvPr id="1" name="Shape 27"/>
        <p:cNvGrpSpPr/>
        <p:nvPr/>
      </p:nvGrpSpPr>
      <p:grpSpPr>
        <a:xfrm>
          <a:off x="0" y="0"/>
          <a:ext cx="0" cy="0"/>
          <a:chOff x="0" y="0"/>
          <a:chExt cx="0" cy="0"/>
        </a:xfrm>
      </p:grpSpPr>
      <p:cxnSp>
        <p:nvCxnSpPr>
          <p:cNvPr id="28" name="Google Shape;28;p44"/>
          <p:cNvCxnSpPr/>
          <p:nvPr/>
        </p:nvCxnSpPr>
        <p:spPr>
          <a:xfrm>
            <a:off x="0" y="3564000"/>
            <a:ext cx="9906000" cy="0"/>
          </a:xfrm>
          <a:prstGeom prst="straightConnector1">
            <a:avLst/>
          </a:prstGeom>
          <a:noFill/>
          <a:ln w="9525" cap="flat" cmpd="sng">
            <a:solidFill>
              <a:srgbClr val="000F78"/>
            </a:solidFill>
            <a:prstDash val="solid"/>
            <a:round/>
            <a:headEnd type="none" w="sm" len="sm"/>
            <a:tailEnd type="none" w="sm" len="sm"/>
          </a:ln>
        </p:spPr>
      </p:cxnSp>
      <p:sp>
        <p:nvSpPr>
          <p:cNvPr id="29" name="Google Shape;29;p44"/>
          <p:cNvSpPr txBox="1">
            <a:spLocks noGrp="1"/>
          </p:cNvSpPr>
          <p:nvPr>
            <p:ph type="title"/>
          </p:nvPr>
        </p:nvSpPr>
        <p:spPr>
          <a:xfrm>
            <a:off x="200025" y="3060000"/>
            <a:ext cx="9504000" cy="504000"/>
          </a:xfrm>
          <a:prstGeom prst="rect">
            <a:avLst/>
          </a:prstGeom>
          <a:noFill/>
          <a:ln>
            <a:noFill/>
          </a:ln>
        </p:spPr>
        <p:txBody>
          <a:bodyPr spcFirstLastPara="1" wrap="square" lIns="0" tIns="0" rIns="0" bIns="144000" anchor="b" anchorCtr="0">
            <a:noAutofit/>
          </a:bodyPr>
          <a:lstStyle>
            <a:lvl1pPr marR="0" lvl="0" algn="ctr" rtl="0">
              <a:lnSpc>
                <a:spcPct val="100000"/>
              </a:lnSpc>
              <a:spcBef>
                <a:spcPts val="0"/>
              </a:spcBef>
              <a:spcAft>
                <a:spcPts val="0"/>
              </a:spcAft>
              <a:buClr>
                <a:srgbClr val="000F78"/>
              </a:buClr>
              <a:buSzPts val="2400"/>
              <a:buFont typeface="Arial"/>
              <a:buNone/>
              <a:defRPr sz="2400" b="0" i="0" u="none" strike="noStrike" cap="none">
                <a:solidFill>
                  <a:srgbClr val="000F7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15507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body" idx="1"/>
          </p:nvPr>
        </p:nvSpPr>
        <p:spPr>
          <a:xfrm>
            <a:off x="228600" y="1524000"/>
            <a:ext cx="9448800" cy="5029200"/>
          </a:xfrm>
          <a:prstGeom prst="rect">
            <a:avLst/>
          </a:prstGeom>
          <a:noFill/>
          <a:ln>
            <a:noFill/>
          </a:ln>
        </p:spPr>
        <p:txBody>
          <a:bodyPr spcFirstLastPara="1" wrap="square" lIns="88425" tIns="43175" rIns="88425" bIns="43175" anchor="t" anchorCtr="0">
            <a:noAutofit/>
          </a:bodyPr>
          <a:lstStyle>
            <a:lvl1pPr marL="457200" marR="0" lvl="0" indent="-330200" algn="l" rtl="0">
              <a:lnSpc>
                <a:spcPct val="100000"/>
              </a:lnSpc>
              <a:spcBef>
                <a:spcPts val="480"/>
              </a:spcBef>
              <a:spcAft>
                <a:spcPts val="0"/>
              </a:spcAft>
              <a:buClr>
                <a:schemeClr val="lt2"/>
              </a:buClr>
              <a:buSzPts val="1600"/>
              <a:buFont typeface="Noto Sans Symbols"/>
              <a:buChar char="■"/>
              <a:defRPr sz="1600" b="0" i="0" u="none" strike="noStrike" cap="none">
                <a:solidFill>
                  <a:schemeClr val="dk1"/>
                </a:solidFill>
                <a:latin typeface="Arial"/>
                <a:ea typeface="Arial"/>
                <a:cs typeface="Arial"/>
                <a:sym typeface="Arial"/>
              </a:defRPr>
            </a:lvl1pPr>
            <a:lvl2pPr marL="914400" marR="0" lvl="1" indent="-317500" algn="l" rtl="0">
              <a:lnSpc>
                <a:spcPct val="100000"/>
              </a:lnSpc>
              <a:spcBef>
                <a:spcPts val="420"/>
              </a:spcBef>
              <a:spcAft>
                <a:spcPts val="0"/>
              </a:spcAft>
              <a:buClr>
                <a:schemeClr val="lt2"/>
              </a:buClr>
              <a:buSzPts val="1400"/>
              <a:buFont typeface="Noto Sans Symbols"/>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00000"/>
              </a:lnSpc>
              <a:spcBef>
                <a:spcPts val="18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12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12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12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12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12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1" name="Google Shape;11;p41"/>
          <p:cNvSpPr txBox="1">
            <a:spLocks noGrp="1"/>
          </p:cNvSpPr>
          <p:nvPr>
            <p:ph type="sldNum" idx="12"/>
          </p:nvPr>
        </p:nvSpPr>
        <p:spPr>
          <a:xfrm>
            <a:off x="9017000" y="6598761"/>
            <a:ext cx="660400" cy="228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dirty="0"/>
          </a:p>
        </p:txBody>
      </p:sp>
    </p:spTree>
  </p:cSld>
  <p:clrMap bg1="lt1" tx1="dk1" bg2="dk2" tx2="lt2" accent1="accent1" accent2="accent2" accent3="accent3" accent4="accent4" accent5="accent5" accent6="accent6" hlink="hlink" folHlink="folHlink"/>
  <p:sldLayoutIdLst>
    <p:sldLayoutId id="2147483653" r:id="rId1"/>
    <p:sldLayoutId id="2147483659" r:id="rId2"/>
    <p:sldLayoutId id="2147483650" r:id="rId3"/>
    <p:sldLayoutId id="2147483655" r:id="rId4"/>
    <p:sldLayoutId id="214748366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85_697818E7.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microsoft.com/office/2018/10/relationships/comments" Target="../comments/modernComment_184_484A4A.xml"/><Relationship Id="rId7"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microsoft.com/office/2018/10/relationships/comments" Target="../comments/modernComment_19C_A82FD116.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9.emf"/><Relationship Id="rId3" Type="http://schemas.microsoft.com/office/2018/10/relationships/comments" Target="../comments/modernComment_195_3507A41C.xml"/><Relationship Id="rId7" Type="http://schemas.openxmlformats.org/officeDocument/2006/relationships/image" Target="../media/image10.png"/><Relationship Id="rId12"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15" Type="http://schemas.openxmlformats.org/officeDocument/2006/relationships/image" Target="../media/image11.emf"/><Relationship Id="rId10" Type="http://schemas.openxmlformats.org/officeDocument/2006/relationships/image" Target="../media/image13.png"/><Relationship Id="rId4" Type="http://schemas.openxmlformats.org/officeDocument/2006/relationships/hyperlink" Target="https://doi.org/10.1121/10.0020291" TargetMode="External"/><Relationship Id="rId9" Type="http://schemas.openxmlformats.org/officeDocument/2006/relationships/image" Target="../media/image12.png"/><Relationship Id="rId1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microsoft.com/office/2018/10/relationships/comments" Target="../comments/modernComment_18F_DE3F5B3A.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9B_914F0C5A.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8DDC74B-379C-60AA-C6B0-F4616E96A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t>0</a:t>
            </a:fld>
            <a:endParaRPr lang="ja-JP" altLang="en-US" dirty="0"/>
          </a:p>
        </p:txBody>
      </p:sp>
      <p:cxnSp>
        <p:nvCxnSpPr>
          <p:cNvPr id="4" name="直線コネクタ 3">
            <a:extLst>
              <a:ext uri="{FF2B5EF4-FFF2-40B4-BE49-F238E27FC236}">
                <a16:creationId xmlns:a16="http://schemas.microsoft.com/office/drawing/2014/main" id="{8AA7F329-6046-8E5F-D683-3255C4F76CA1}"/>
              </a:ext>
            </a:extLst>
          </p:cNvPr>
          <p:cNvCxnSpPr/>
          <p:nvPr/>
        </p:nvCxnSpPr>
        <p:spPr>
          <a:xfrm>
            <a:off x="501015" y="4146319"/>
            <a:ext cx="890397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71FC25AB-DEB9-83EB-9860-9B53C72373B7}"/>
              </a:ext>
            </a:extLst>
          </p:cNvPr>
          <p:cNvSpPr txBox="1"/>
          <p:nvPr/>
        </p:nvSpPr>
        <p:spPr>
          <a:xfrm>
            <a:off x="3510915" y="4417536"/>
            <a:ext cx="2884170" cy="400110"/>
          </a:xfrm>
          <a:prstGeom prst="rect">
            <a:avLst/>
          </a:prstGeom>
          <a:noFill/>
        </p:spPr>
        <p:txBody>
          <a:bodyPr wrap="square" rtlCol="0">
            <a:spAutoFit/>
          </a:bodyPr>
          <a:lstStyle/>
          <a:p>
            <a:pPr algn="ctr"/>
            <a:r>
              <a:rPr kumimoji="1" lang="ja-JP" altLang="en-US" sz="2000"/>
              <a:t>斎藤晴雄研究室</a:t>
            </a:r>
          </a:p>
        </p:txBody>
      </p:sp>
      <p:cxnSp>
        <p:nvCxnSpPr>
          <p:cNvPr id="8" name="直線コネクタ 7">
            <a:extLst>
              <a:ext uri="{FF2B5EF4-FFF2-40B4-BE49-F238E27FC236}">
                <a16:creationId xmlns:a16="http://schemas.microsoft.com/office/drawing/2014/main" id="{B190BDFC-58C0-7EBD-75E3-17EBBE924494}"/>
              </a:ext>
            </a:extLst>
          </p:cNvPr>
          <p:cNvCxnSpPr>
            <a:cxnSpLocks/>
          </p:cNvCxnSpPr>
          <p:nvPr/>
        </p:nvCxnSpPr>
        <p:spPr>
          <a:xfrm>
            <a:off x="7160895" y="6130290"/>
            <a:ext cx="274510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1C6662F0-FEA1-B1A8-8DF6-0F41BB2511D8}"/>
              </a:ext>
            </a:extLst>
          </p:cNvPr>
          <p:cNvSpPr txBox="1"/>
          <p:nvPr/>
        </p:nvSpPr>
        <p:spPr>
          <a:xfrm>
            <a:off x="7160894" y="5822513"/>
            <a:ext cx="2745105" cy="307777"/>
          </a:xfrm>
          <a:prstGeom prst="rect">
            <a:avLst/>
          </a:prstGeom>
          <a:noFill/>
        </p:spPr>
        <p:txBody>
          <a:bodyPr wrap="square" rtlCol="0">
            <a:spAutoFit/>
          </a:bodyPr>
          <a:lstStyle/>
          <a:p>
            <a:pPr algn="ctr"/>
            <a:r>
              <a:rPr kumimoji="1" lang="en-US" altLang="ja-JP" dirty="0"/>
              <a:t>2025/02/05 15:45-16:00</a:t>
            </a:r>
            <a:endParaRPr kumimoji="1" lang="ja-JP" altLang="en-US"/>
          </a:p>
        </p:txBody>
      </p:sp>
      <p:sp>
        <p:nvSpPr>
          <p:cNvPr id="5" name="テキスト ボックス 4">
            <a:extLst>
              <a:ext uri="{FF2B5EF4-FFF2-40B4-BE49-F238E27FC236}">
                <a16:creationId xmlns:a16="http://schemas.microsoft.com/office/drawing/2014/main" id="{52CBA681-9ACC-0BBE-1EB5-246173595B06}"/>
              </a:ext>
            </a:extLst>
          </p:cNvPr>
          <p:cNvSpPr txBox="1"/>
          <p:nvPr/>
        </p:nvSpPr>
        <p:spPr>
          <a:xfrm>
            <a:off x="2546509" y="4817646"/>
            <a:ext cx="4812982" cy="400110"/>
          </a:xfrm>
          <a:prstGeom prst="rect">
            <a:avLst/>
          </a:prstGeom>
          <a:noFill/>
        </p:spPr>
        <p:txBody>
          <a:bodyPr wrap="square" rtlCol="0">
            <a:spAutoFit/>
          </a:bodyPr>
          <a:lstStyle/>
          <a:p>
            <a:pPr algn="ctr"/>
            <a:r>
              <a:rPr kumimoji="1" lang="en-US" altLang="ja-JP" sz="2000" dirty="0"/>
              <a:t>08-223022 </a:t>
            </a:r>
            <a:r>
              <a:rPr kumimoji="1" lang="ja-JP" altLang="en-US" sz="2000"/>
              <a:t>福井</a:t>
            </a:r>
            <a:r>
              <a:rPr kumimoji="1" lang="en-US" altLang="ja-JP" sz="2000" dirty="0"/>
              <a:t> </a:t>
            </a:r>
            <a:r>
              <a:rPr kumimoji="1" lang="ja-JP" altLang="en-US" sz="2000"/>
              <a:t>晴士郎</a:t>
            </a:r>
          </a:p>
        </p:txBody>
      </p:sp>
      <p:sp>
        <p:nvSpPr>
          <p:cNvPr id="6" name="テキスト ボックス 5">
            <a:extLst>
              <a:ext uri="{FF2B5EF4-FFF2-40B4-BE49-F238E27FC236}">
                <a16:creationId xmlns:a16="http://schemas.microsoft.com/office/drawing/2014/main" id="{685347EE-2965-C090-63D4-710A20C95107}"/>
              </a:ext>
            </a:extLst>
          </p:cNvPr>
          <p:cNvSpPr txBox="1"/>
          <p:nvPr/>
        </p:nvSpPr>
        <p:spPr>
          <a:xfrm>
            <a:off x="501016" y="2828835"/>
            <a:ext cx="8903969" cy="1200329"/>
          </a:xfrm>
          <a:prstGeom prst="rect">
            <a:avLst/>
          </a:prstGeom>
          <a:noFill/>
        </p:spPr>
        <p:txBody>
          <a:bodyPr wrap="square" rtlCol="0">
            <a:spAutoFit/>
          </a:bodyPr>
          <a:lstStyle/>
          <a:p>
            <a:pPr algn="ctr"/>
            <a:r>
              <a:rPr kumimoji="1" lang="ja-JP" altLang="en-US" sz="3600"/>
              <a:t>水晶基準発信器の</a:t>
            </a:r>
            <a:endParaRPr kumimoji="1" lang="en-US" altLang="ja-JP" sz="3600" dirty="0"/>
          </a:p>
          <a:p>
            <a:pPr algn="ctr"/>
            <a:r>
              <a:rPr kumimoji="1" lang="ja-JP" altLang="en-US" sz="3600"/>
              <a:t>位相ノイズ測定における帯域拡張</a:t>
            </a:r>
          </a:p>
        </p:txBody>
      </p:sp>
    </p:spTree>
    <p:extLst>
      <p:ext uri="{BB962C8B-B14F-4D97-AF65-F5344CB8AC3E}">
        <p14:creationId xmlns:p14="http://schemas.microsoft.com/office/powerpoint/2010/main" val="1769478375"/>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70" name="Google Shape;70;p2"/>
          <p:cNvSpPr/>
          <p:nvPr/>
        </p:nvSpPr>
        <p:spPr>
          <a:xfrm>
            <a:off x="133643" y="175846"/>
            <a:ext cx="464234" cy="963637"/>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dirty="0">
              <a:solidFill>
                <a:schemeClr val="dk1"/>
              </a:solidFill>
              <a:latin typeface="Arial"/>
              <a:ea typeface="Arial"/>
              <a:cs typeface="Arial"/>
              <a:sym typeface="Arial"/>
            </a:endParaRPr>
          </a:p>
        </p:txBody>
      </p:sp>
      <p:sp>
        <p:nvSpPr>
          <p:cNvPr id="71" name="Google Shape;71;p2"/>
          <p:cNvSpPr txBox="1"/>
          <p:nvPr/>
        </p:nvSpPr>
        <p:spPr>
          <a:xfrm>
            <a:off x="9201989" y="6591300"/>
            <a:ext cx="660400" cy="228600"/>
          </a:xfrm>
          <a:prstGeom prst="rect">
            <a:avLst/>
          </a:prstGeom>
          <a:noFill/>
          <a:ln>
            <a:noFill/>
          </a:ln>
        </p:spPr>
        <p:txBody>
          <a:bodyPr spcFirstLastPara="1" wrap="square" lIns="88425" tIns="43175" rIns="88425" bIns="43175" anchor="t" anchorCtr="0">
            <a:noAutofit/>
          </a:bodyPr>
          <a:lstStyle/>
          <a:p>
            <a:pPr marL="0" marR="0" lvl="0" indent="0" algn="l" rtl="0">
              <a:lnSpc>
                <a:spcPct val="100000"/>
              </a:lnSpc>
              <a:spcBef>
                <a:spcPts val="0"/>
              </a:spcBef>
              <a:spcAft>
                <a:spcPts val="0"/>
              </a:spcAft>
              <a:buClr>
                <a:schemeClr val="lt2"/>
              </a:buClr>
              <a:buSzPts val="1100"/>
              <a:buFont typeface="Noto Sans Symbols"/>
              <a:buNone/>
            </a:pPr>
            <a:fld id="{00000000-1234-1234-1234-123412341234}" type="slidenum">
              <a:rPr lang="en-US" altLang="ja-JP" sz="1100" b="0" i="0" u="none" strike="noStrike" cap="none">
                <a:solidFill>
                  <a:schemeClr val="dk1"/>
                </a:solidFill>
                <a:latin typeface="Arial"/>
                <a:ea typeface="Arial"/>
                <a:cs typeface="Arial"/>
                <a:sym typeface="Arial"/>
              </a:rPr>
              <a:t>1</a:t>
            </a:fld>
            <a:endParaRPr sz="1100" b="0" i="0" u="none" strike="noStrike" cap="none" dirty="0">
              <a:solidFill>
                <a:schemeClr val="dk1"/>
              </a:solidFill>
              <a:latin typeface="Arial"/>
              <a:ea typeface="Arial"/>
              <a:cs typeface="Arial"/>
              <a:sym typeface="Arial"/>
            </a:endParaRPr>
          </a:p>
        </p:txBody>
      </p:sp>
      <p:grpSp>
        <p:nvGrpSpPr>
          <p:cNvPr id="28" name="グループ化 27">
            <a:extLst>
              <a:ext uri="{FF2B5EF4-FFF2-40B4-BE49-F238E27FC236}">
                <a16:creationId xmlns:a16="http://schemas.microsoft.com/office/drawing/2014/main" id="{87F1A145-67EE-D989-0616-084884FAD21F}"/>
              </a:ext>
            </a:extLst>
          </p:cNvPr>
          <p:cNvGrpSpPr/>
          <p:nvPr/>
        </p:nvGrpSpPr>
        <p:grpSpPr>
          <a:xfrm>
            <a:off x="966349" y="2320887"/>
            <a:ext cx="7285338" cy="550196"/>
            <a:chOff x="966349" y="2235689"/>
            <a:chExt cx="7285338" cy="550196"/>
          </a:xfrm>
        </p:grpSpPr>
        <p:grpSp>
          <p:nvGrpSpPr>
            <p:cNvPr id="4" name="Google Shape;56;p2">
              <a:extLst>
                <a:ext uri="{FF2B5EF4-FFF2-40B4-BE49-F238E27FC236}">
                  <a16:creationId xmlns:a16="http://schemas.microsoft.com/office/drawing/2014/main" id="{FE881E70-03A8-C9EB-4648-77E20B2E1034}"/>
                </a:ext>
              </a:extLst>
            </p:cNvPr>
            <p:cNvGrpSpPr/>
            <p:nvPr/>
          </p:nvGrpSpPr>
          <p:grpSpPr>
            <a:xfrm>
              <a:off x="966349" y="2260867"/>
              <a:ext cx="5209544" cy="525018"/>
              <a:chOff x="1363626" y="1195448"/>
              <a:chExt cx="5209544" cy="525018"/>
            </a:xfrm>
          </p:grpSpPr>
          <p:sp>
            <p:nvSpPr>
              <p:cNvPr id="8" name="Google Shape;57;p2">
                <a:extLst>
                  <a:ext uri="{FF2B5EF4-FFF2-40B4-BE49-F238E27FC236}">
                    <a16:creationId xmlns:a16="http://schemas.microsoft.com/office/drawing/2014/main" id="{BE009C27-9EE4-2208-892F-EE7A83BE4376}"/>
                  </a:ext>
                </a:extLst>
              </p:cNvPr>
              <p:cNvSpPr/>
              <p:nvPr/>
            </p:nvSpPr>
            <p:spPr>
              <a:xfrm>
                <a:off x="1419517" y="1195448"/>
                <a:ext cx="5153653"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9" name="Google Shape;58;p2">
                <a:extLst>
                  <a:ext uri="{FF2B5EF4-FFF2-40B4-BE49-F238E27FC236}">
                    <a16:creationId xmlns:a16="http://schemas.microsoft.com/office/drawing/2014/main" id="{62C0A97A-CCC7-9FE2-00E6-B7EC607BA7FE}"/>
                  </a:ext>
                </a:extLst>
              </p:cNvPr>
              <p:cNvSpPr/>
              <p:nvPr/>
            </p:nvSpPr>
            <p:spPr>
              <a:xfrm>
                <a:off x="1363626" y="1195448"/>
                <a:ext cx="681998" cy="525018"/>
              </a:xfrm>
              <a:prstGeom prst="homePlate">
                <a:avLst>
                  <a:gd name="adj" fmla="val 31952"/>
                </a:avLst>
              </a:prstGeom>
              <a:solidFill>
                <a:srgbClr val="000F78"/>
              </a:solid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Arial"/>
                    <a:ea typeface="Arial"/>
                    <a:cs typeface="Arial"/>
                    <a:sym typeface="Arial"/>
                  </a:rPr>
                  <a:t>0</a:t>
                </a:r>
                <a:r>
                  <a:rPr lang="en-US" altLang="ja-JP" sz="1200" b="1" i="0" u="none" strike="noStrike" cap="none" dirty="0">
                    <a:solidFill>
                      <a:schemeClr val="lt1"/>
                    </a:solidFill>
                    <a:latin typeface="Arial"/>
                    <a:ea typeface="Arial"/>
                    <a:cs typeface="Arial"/>
                    <a:sym typeface="Arial"/>
                  </a:rPr>
                  <a:t>2</a:t>
                </a:r>
                <a:endParaRPr sz="1200" b="1" i="0" u="none" strike="noStrike" cap="none" dirty="0">
                  <a:solidFill>
                    <a:schemeClr val="lt1"/>
                  </a:solidFill>
                  <a:latin typeface="Arial"/>
                  <a:ea typeface="Arial"/>
                  <a:cs typeface="Arial"/>
                  <a:sym typeface="Arial"/>
                </a:endParaRPr>
              </a:p>
            </p:txBody>
          </p:sp>
        </p:grpSp>
        <p:sp>
          <p:nvSpPr>
            <p:cNvPr id="10" name="Google Shape;68;p2">
              <a:extLst>
                <a:ext uri="{FF2B5EF4-FFF2-40B4-BE49-F238E27FC236}">
                  <a16:creationId xmlns:a16="http://schemas.microsoft.com/office/drawing/2014/main" id="{67802ABC-BA82-98A3-50D8-837191BCD854}"/>
                </a:ext>
              </a:extLst>
            </p:cNvPr>
            <p:cNvSpPr/>
            <p:nvPr/>
          </p:nvSpPr>
          <p:spPr>
            <a:xfrm>
              <a:off x="966349" y="2235689"/>
              <a:ext cx="7285338"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dk1"/>
                  </a:solidFill>
                  <a:latin typeface="Arial"/>
                  <a:ea typeface="Arial"/>
                  <a:cs typeface="Arial"/>
                  <a:sym typeface="Arial"/>
                </a:rPr>
                <a:t> </a:t>
              </a:r>
              <a:r>
                <a:rPr lang="ja-JP" altLang="en-US" sz="2000" b="1" i="0" u="none" strike="noStrike" cap="none">
                  <a:solidFill>
                    <a:schemeClr val="dk1"/>
                  </a:solidFill>
                  <a:latin typeface="Arial"/>
                  <a:ea typeface="Arial"/>
                  <a:cs typeface="Arial"/>
                  <a:sym typeface="Arial"/>
                </a:rPr>
                <a:t>本研究の目標</a:t>
              </a:r>
              <a:endParaRPr lang="en-US" altLang="ja-JP" sz="2000" b="1" i="0" u="none" strike="noStrike" cap="none" dirty="0">
                <a:solidFill>
                  <a:schemeClr val="dk1"/>
                </a:solidFill>
                <a:latin typeface="Arial"/>
                <a:ea typeface="Arial"/>
                <a:cs typeface="Arial"/>
                <a:sym typeface="Arial"/>
              </a:endParaRPr>
            </a:p>
          </p:txBody>
        </p:sp>
      </p:grpSp>
      <p:grpSp>
        <p:nvGrpSpPr>
          <p:cNvPr id="29" name="グループ化 28">
            <a:extLst>
              <a:ext uri="{FF2B5EF4-FFF2-40B4-BE49-F238E27FC236}">
                <a16:creationId xmlns:a16="http://schemas.microsoft.com/office/drawing/2014/main" id="{326664E3-DC11-C842-2233-33D2E906848C}"/>
              </a:ext>
            </a:extLst>
          </p:cNvPr>
          <p:cNvGrpSpPr/>
          <p:nvPr/>
        </p:nvGrpSpPr>
        <p:grpSpPr>
          <a:xfrm>
            <a:off x="966349" y="3049829"/>
            <a:ext cx="7285338" cy="550196"/>
            <a:chOff x="966349" y="2854847"/>
            <a:chExt cx="7285338" cy="550196"/>
          </a:xfrm>
        </p:grpSpPr>
        <p:grpSp>
          <p:nvGrpSpPr>
            <p:cNvPr id="11" name="Google Shape;56;p2">
              <a:extLst>
                <a:ext uri="{FF2B5EF4-FFF2-40B4-BE49-F238E27FC236}">
                  <a16:creationId xmlns:a16="http://schemas.microsoft.com/office/drawing/2014/main" id="{5B99108C-3C98-59C1-BA22-035CD6D84C45}"/>
                </a:ext>
              </a:extLst>
            </p:cNvPr>
            <p:cNvGrpSpPr/>
            <p:nvPr/>
          </p:nvGrpSpPr>
          <p:grpSpPr>
            <a:xfrm>
              <a:off x="966349" y="2880025"/>
              <a:ext cx="5209544" cy="525018"/>
              <a:chOff x="1363626" y="1195448"/>
              <a:chExt cx="5209544" cy="525018"/>
            </a:xfrm>
          </p:grpSpPr>
          <p:sp>
            <p:nvSpPr>
              <p:cNvPr id="12" name="Google Shape;57;p2">
                <a:extLst>
                  <a:ext uri="{FF2B5EF4-FFF2-40B4-BE49-F238E27FC236}">
                    <a16:creationId xmlns:a16="http://schemas.microsoft.com/office/drawing/2014/main" id="{0BE9DA5C-86ED-6EAE-52BA-533BDEC6F87E}"/>
                  </a:ext>
                </a:extLst>
              </p:cNvPr>
              <p:cNvSpPr/>
              <p:nvPr/>
            </p:nvSpPr>
            <p:spPr>
              <a:xfrm>
                <a:off x="1419517" y="1195448"/>
                <a:ext cx="5153653"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13" name="Google Shape;58;p2">
                <a:extLst>
                  <a:ext uri="{FF2B5EF4-FFF2-40B4-BE49-F238E27FC236}">
                    <a16:creationId xmlns:a16="http://schemas.microsoft.com/office/drawing/2014/main" id="{A0E59B47-6B25-FE76-5709-AFFB28EE80D0}"/>
                  </a:ext>
                </a:extLst>
              </p:cNvPr>
              <p:cNvSpPr/>
              <p:nvPr/>
            </p:nvSpPr>
            <p:spPr>
              <a:xfrm>
                <a:off x="1363626" y="1195448"/>
                <a:ext cx="681998" cy="525018"/>
              </a:xfrm>
              <a:prstGeom prst="homePlate">
                <a:avLst>
                  <a:gd name="adj" fmla="val 31952"/>
                </a:avLst>
              </a:prstGeom>
              <a:solidFill>
                <a:srgbClr val="000F78"/>
              </a:solid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Arial"/>
                    <a:ea typeface="Arial"/>
                    <a:cs typeface="Arial"/>
                    <a:sym typeface="Arial"/>
                  </a:rPr>
                  <a:t>0</a:t>
                </a:r>
                <a:r>
                  <a:rPr lang="en-US" altLang="ja-JP" sz="1200" b="1" i="0" u="none" strike="noStrike" cap="none" dirty="0">
                    <a:solidFill>
                      <a:schemeClr val="lt1"/>
                    </a:solidFill>
                    <a:latin typeface="Arial"/>
                    <a:ea typeface="Arial"/>
                    <a:cs typeface="Arial"/>
                    <a:sym typeface="Arial"/>
                  </a:rPr>
                  <a:t>3</a:t>
                </a:r>
                <a:endParaRPr sz="1200" b="1" i="0" u="none" strike="noStrike" cap="none" dirty="0">
                  <a:solidFill>
                    <a:schemeClr val="lt1"/>
                  </a:solidFill>
                  <a:latin typeface="Arial"/>
                  <a:ea typeface="Arial"/>
                  <a:cs typeface="Arial"/>
                  <a:sym typeface="Arial"/>
                </a:endParaRPr>
              </a:p>
            </p:txBody>
          </p:sp>
        </p:grpSp>
        <p:sp>
          <p:nvSpPr>
            <p:cNvPr id="14" name="Google Shape;68;p2">
              <a:extLst>
                <a:ext uri="{FF2B5EF4-FFF2-40B4-BE49-F238E27FC236}">
                  <a16:creationId xmlns:a16="http://schemas.microsoft.com/office/drawing/2014/main" id="{2A6F96B4-7264-1FA6-3AC9-9E6497410E11}"/>
                </a:ext>
              </a:extLst>
            </p:cNvPr>
            <p:cNvSpPr/>
            <p:nvPr/>
          </p:nvSpPr>
          <p:spPr>
            <a:xfrm>
              <a:off x="966349" y="2854847"/>
              <a:ext cx="7285338"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dk1"/>
                  </a:solidFill>
                  <a:latin typeface="Arial"/>
                  <a:ea typeface="Arial"/>
                  <a:cs typeface="Arial"/>
                  <a:sym typeface="Arial"/>
                </a:rPr>
                <a:t> </a:t>
              </a:r>
              <a:r>
                <a:rPr lang="ja-JP" altLang="en-US" sz="2000" b="1" i="0" u="none" strike="noStrike" cap="none">
                  <a:solidFill>
                    <a:schemeClr val="dk1"/>
                  </a:solidFill>
                  <a:latin typeface="Arial"/>
                  <a:ea typeface="Arial"/>
                  <a:cs typeface="Arial"/>
                  <a:sym typeface="Arial"/>
                </a:rPr>
                <a:t>研究方法</a:t>
              </a:r>
              <a:endParaRPr lang="en-US" altLang="ja-JP" sz="2000" b="1" i="0" u="none" strike="noStrike" cap="none" dirty="0">
                <a:solidFill>
                  <a:schemeClr val="dk1"/>
                </a:solidFill>
                <a:latin typeface="Arial"/>
                <a:ea typeface="Arial"/>
                <a:cs typeface="Arial"/>
                <a:sym typeface="Arial"/>
              </a:endParaRPr>
            </a:p>
          </p:txBody>
        </p:sp>
      </p:grpSp>
      <p:grpSp>
        <p:nvGrpSpPr>
          <p:cNvPr id="30" name="グループ化 29">
            <a:extLst>
              <a:ext uri="{FF2B5EF4-FFF2-40B4-BE49-F238E27FC236}">
                <a16:creationId xmlns:a16="http://schemas.microsoft.com/office/drawing/2014/main" id="{841A2931-A659-0346-5CD4-D536C9AEE1A4}"/>
              </a:ext>
            </a:extLst>
          </p:cNvPr>
          <p:cNvGrpSpPr/>
          <p:nvPr/>
        </p:nvGrpSpPr>
        <p:grpSpPr>
          <a:xfrm>
            <a:off x="966349" y="3778771"/>
            <a:ext cx="7285338" cy="550196"/>
            <a:chOff x="966349" y="3476162"/>
            <a:chExt cx="7285338" cy="550196"/>
          </a:xfrm>
        </p:grpSpPr>
        <p:grpSp>
          <p:nvGrpSpPr>
            <p:cNvPr id="15" name="Google Shape;56;p2">
              <a:extLst>
                <a:ext uri="{FF2B5EF4-FFF2-40B4-BE49-F238E27FC236}">
                  <a16:creationId xmlns:a16="http://schemas.microsoft.com/office/drawing/2014/main" id="{C787518E-46B1-A0A7-B751-A1A66CF95DBC}"/>
                </a:ext>
              </a:extLst>
            </p:cNvPr>
            <p:cNvGrpSpPr/>
            <p:nvPr/>
          </p:nvGrpSpPr>
          <p:grpSpPr>
            <a:xfrm>
              <a:off x="966349" y="3501340"/>
              <a:ext cx="5209544" cy="525018"/>
              <a:chOff x="1363626" y="1195448"/>
              <a:chExt cx="5209544" cy="525018"/>
            </a:xfrm>
          </p:grpSpPr>
          <p:sp>
            <p:nvSpPr>
              <p:cNvPr id="16" name="Google Shape;57;p2">
                <a:extLst>
                  <a:ext uri="{FF2B5EF4-FFF2-40B4-BE49-F238E27FC236}">
                    <a16:creationId xmlns:a16="http://schemas.microsoft.com/office/drawing/2014/main" id="{CAF34C88-19F4-5A3F-904E-E4BB54EFA288}"/>
                  </a:ext>
                </a:extLst>
              </p:cNvPr>
              <p:cNvSpPr/>
              <p:nvPr/>
            </p:nvSpPr>
            <p:spPr>
              <a:xfrm>
                <a:off x="1419517" y="1195448"/>
                <a:ext cx="5153653"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17" name="Google Shape;58;p2">
                <a:extLst>
                  <a:ext uri="{FF2B5EF4-FFF2-40B4-BE49-F238E27FC236}">
                    <a16:creationId xmlns:a16="http://schemas.microsoft.com/office/drawing/2014/main" id="{C6E13D04-1959-787E-E2E3-EF3F0A7382D9}"/>
                  </a:ext>
                </a:extLst>
              </p:cNvPr>
              <p:cNvSpPr/>
              <p:nvPr/>
            </p:nvSpPr>
            <p:spPr>
              <a:xfrm>
                <a:off x="1363626" y="1195448"/>
                <a:ext cx="681998" cy="525018"/>
              </a:xfrm>
              <a:prstGeom prst="homePlate">
                <a:avLst>
                  <a:gd name="adj" fmla="val 31952"/>
                </a:avLst>
              </a:prstGeom>
              <a:solidFill>
                <a:srgbClr val="000F78"/>
              </a:solid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Arial"/>
                    <a:ea typeface="Arial"/>
                    <a:cs typeface="Arial"/>
                    <a:sym typeface="Arial"/>
                  </a:rPr>
                  <a:t>0</a:t>
                </a:r>
                <a:r>
                  <a:rPr lang="en-US" altLang="ja-JP" sz="1200" b="1" i="0" u="none" strike="noStrike" cap="none" dirty="0">
                    <a:solidFill>
                      <a:schemeClr val="lt1"/>
                    </a:solidFill>
                    <a:latin typeface="Arial"/>
                    <a:ea typeface="Arial"/>
                    <a:cs typeface="Arial"/>
                    <a:sym typeface="Arial"/>
                  </a:rPr>
                  <a:t>4</a:t>
                </a:r>
                <a:endParaRPr sz="1200" b="1" i="0" u="none" strike="noStrike" cap="none" dirty="0">
                  <a:solidFill>
                    <a:schemeClr val="lt1"/>
                  </a:solidFill>
                  <a:latin typeface="Arial"/>
                  <a:ea typeface="Arial"/>
                  <a:cs typeface="Arial"/>
                  <a:sym typeface="Arial"/>
                </a:endParaRPr>
              </a:p>
            </p:txBody>
          </p:sp>
        </p:grpSp>
        <p:sp>
          <p:nvSpPr>
            <p:cNvPr id="18" name="Google Shape;68;p2">
              <a:extLst>
                <a:ext uri="{FF2B5EF4-FFF2-40B4-BE49-F238E27FC236}">
                  <a16:creationId xmlns:a16="http://schemas.microsoft.com/office/drawing/2014/main" id="{77A0AFEF-9CEC-1345-7D86-F863612B480E}"/>
                </a:ext>
              </a:extLst>
            </p:cNvPr>
            <p:cNvSpPr/>
            <p:nvPr/>
          </p:nvSpPr>
          <p:spPr>
            <a:xfrm>
              <a:off x="966349" y="3476162"/>
              <a:ext cx="7285338"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dk1"/>
                  </a:solidFill>
                  <a:latin typeface="Arial"/>
                  <a:ea typeface="Arial"/>
                  <a:cs typeface="Arial"/>
                  <a:sym typeface="Arial"/>
                </a:rPr>
                <a:t> </a:t>
              </a:r>
              <a:r>
                <a:rPr lang="ja-JP" altLang="en-US" sz="2000" b="1" i="0" u="none" strike="noStrike" cap="none">
                  <a:solidFill>
                    <a:schemeClr val="dk1"/>
                  </a:solidFill>
                  <a:latin typeface="Arial"/>
                  <a:ea typeface="Arial"/>
                  <a:cs typeface="Arial"/>
                  <a:sym typeface="Arial"/>
                </a:rPr>
                <a:t>実験と結果</a:t>
              </a:r>
              <a:endParaRPr lang="en-US" altLang="ja-JP" sz="2000" b="1" i="0" u="none" strike="noStrike" cap="none" dirty="0">
                <a:solidFill>
                  <a:schemeClr val="dk1"/>
                </a:solidFill>
                <a:latin typeface="Arial"/>
                <a:ea typeface="Arial"/>
                <a:cs typeface="Arial"/>
                <a:sym typeface="Arial"/>
              </a:endParaRPr>
            </a:p>
          </p:txBody>
        </p:sp>
      </p:grpSp>
      <p:grpSp>
        <p:nvGrpSpPr>
          <p:cNvPr id="31" name="グループ化 30">
            <a:extLst>
              <a:ext uri="{FF2B5EF4-FFF2-40B4-BE49-F238E27FC236}">
                <a16:creationId xmlns:a16="http://schemas.microsoft.com/office/drawing/2014/main" id="{270CE68A-EE4B-1058-5DEF-747E26FBF936}"/>
              </a:ext>
            </a:extLst>
          </p:cNvPr>
          <p:cNvGrpSpPr/>
          <p:nvPr/>
        </p:nvGrpSpPr>
        <p:grpSpPr>
          <a:xfrm>
            <a:off x="966349" y="4507713"/>
            <a:ext cx="7285338" cy="550196"/>
            <a:chOff x="966349" y="4068137"/>
            <a:chExt cx="7285338" cy="550196"/>
          </a:xfrm>
        </p:grpSpPr>
        <p:grpSp>
          <p:nvGrpSpPr>
            <p:cNvPr id="19" name="Google Shape;56;p2">
              <a:extLst>
                <a:ext uri="{FF2B5EF4-FFF2-40B4-BE49-F238E27FC236}">
                  <a16:creationId xmlns:a16="http://schemas.microsoft.com/office/drawing/2014/main" id="{6C9604AD-0804-F50F-68BE-C4FC8764BED9}"/>
                </a:ext>
              </a:extLst>
            </p:cNvPr>
            <p:cNvGrpSpPr/>
            <p:nvPr/>
          </p:nvGrpSpPr>
          <p:grpSpPr>
            <a:xfrm>
              <a:off x="966349" y="4093315"/>
              <a:ext cx="5209544" cy="525018"/>
              <a:chOff x="1363626" y="1195448"/>
              <a:chExt cx="5209544" cy="525018"/>
            </a:xfrm>
          </p:grpSpPr>
          <p:sp>
            <p:nvSpPr>
              <p:cNvPr id="20" name="Google Shape;57;p2">
                <a:extLst>
                  <a:ext uri="{FF2B5EF4-FFF2-40B4-BE49-F238E27FC236}">
                    <a16:creationId xmlns:a16="http://schemas.microsoft.com/office/drawing/2014/main" id="{110679F9-B8AA-5B19-0E99-11326BD66E72}"/>
                  </a:ext>
                </a:extLst>
              </p:cNvPr>
              <p:cNvSpPr/>
              <p:nvPr/>
            </p:nvSpPr>
            <p:spPr>
              <a:xfrm>
                <a:off x="1419517" y="1195448"/>
                <a:ext cx="5153653"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21" name="Google Shape;58;p2">
                <a:extLst>
                  <a:ext uri="{FF2B5EF4-FFF2-40B4-BE49-F238E27FC236}">
                    <a16:creationId xmlns:a16="http://schemas.microsoft.com/office/drawing/2014/main" id="{DA223E69-B477-1B68-EAA2-DFA9D6D01569}"/>
                  </a:ext>
                </a:extLst>
              </p:cNvPr>
              <p:cNvSpPr/>
              <p:nvPr/>
            </p:nvSpPr>
            <p:spPr>
              <a:xfrm>
                <a:off x="1363626" y="1195448"/>
                <a:ext cx="681998" cy="525018"/>
              </a:xfrm>
              <a:prstGeom prst="homePlate">
                <a:avLst>
                  <a:gd name="adj" fmla="val 31952"/>
                </a:avLst>
              </a:prstGeom>
              <a:solidFill>
                <a:srgbClr val="000F78"/>
              </a:solid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Arial"/>
                    <a:ea typeface="Arial"/>
                    <a:cs typeface="Arial"/>
                    <a:sym typeface="Arial"/>
                  </a:rPr>
                  <a:t>0</a:t>
                </a:r>
                <a:r>
                  <a:rPr lang="en-US" altLang="ja-JP" sz="1200" b="1" i="0" u="none" strike="noStrike" cap="none" dirty="0">
                    <a:solidFill>
                      <a:schemeClr val="lt1"/>
                    </a:solidFill>
                    <a:latin typeface="Arial"/>
                    <a:ea typeface="Arial"/>
                    <a:cs typeface="Arial"/>
                    <a:sym typeface="Arial"/>
                  </a:rPr>
                  <a:t>5</a:t>
                </a:r>
                <a:endParaRPr sz="1200" b="1" i="0" u="none" strike="noStrike" cap="none" dirty="0">
                  <a:solidFill>
                    <a:schemeClr val="lt1"/>
                  </a:solidFill>
                  <a:latin typeface="Arial"/>
                  <a:ea typeface="Arial"/>
                  <a:cs typeface="Arial"/>
                  <a:sym typeface="Arial"/>
                </a:endParaRPr>
              </a:p>
            </p:txBody>
          </p:sp>
        </p:grpSp>
        <p:sp>
          <p:nvSpPr>
            <p:cNvPr id="22" name="Google Shape;68;p2">
              <a:extLst>
                <a:ext uri="{FF2B5EF4-FFF2-40B4-BE49-F238E27FC236}">
                  <a16:creationId xmlns:a16="http://schemas.microsoft.com/office/drawing/2014/main" id="{F761D5D0-7141-AE81-C392-23D8AD8829E1}"/>
                </a:ext>
              </a:extLst>
            </p:cNvPr>
            <p:cNvSpPr/>
            <p:nvPr/>
          </p:nvSpPr>
          <p:spPr>
            <a:xfrm>
              <a:off x="966349" y="4068137"/>
              <a:ext cx="7285338"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dk1"/>
                  </a:solidFill>
                  <a:latin typeface="Arial"/>
                  <a:ea typeface="Arial"/>
                  <a:cs typeface="Arial"/>
                  <a:sym typeface="Arial"/>
                </a:rPr>
                <a:t> </a:t>
              </a:r>
              <a:r>
                <a:rPr lang="ja-JP" altLang="en-US" sz="2000" b="1">
                  <a:solidFill>
                    <a:schemeClr val="dk1"/>
                  </a:solidFill>
                </a:rPr>
                <a:t>考察と今後の展望</a:t>
              </a:r>
              <a:endParaRPr lang="en-US" altLang="ja-JP" sz="2000" b="1" i="0" u="none" strike="noStrike" cap="none" dirty="0">
                <a:solidFill>
                  <a:schemeClr val="dk1"/>
                </a:solidFill>
                <a:latin typeface="Arial"/>
                <a:ea typeface="Arial"/>
                <a:cs typeface="Arial"/>
                <a:sym typeface="Arial"/>
              </a:endParaRPr>
            </a:p>
          </p:txBody>
        </p:sp>
      </p:grpSp>
      <p:grpSp>
        <p:nvGrpSpPr>
          <p:cNvPr id="27" name="グループ化 26">
            <a:extLst>
              <a:ext uri="{FF2B5EF4-FFF2-40B4-BE49-F238E27FC236}">
                <a16:creationId xmlns:a16="http://schemas.microsoft.com/office/drawing/2014/main" id="{13ABD878-DFB2-6205-FF5D-49881191621D}"/>
              </a:ext>
            </a:extLst>
          </p:cNvPr>
          <p:cNvGrpSpPr/>
          <p:nvPr/>
        </p:nvGrpSpPr>
        <p:grpSpPr>
          <a:xfrm>
            <a:off x="966349" y="1591945"/>
            <a:ext cx="7285338" cy="550196"/>
            <a:chOff x="966349" y="1614374"/>
            <a:chExt cx="7285338" cy="550196"/>
          </a:xfrm>
        </p:grpSpPr>
        <p:grpSp>
          <p:nvGrpSpPr>
            <p:cNvPr id="23" name="Google Shape;56;p2">
              <a:extLst>
                <a:ext uri="{FF2B5EF4-FFF2-40B4-BE49-F238E27FC236}">
                  <a16:creationId xmlns:a16="http://schemas.microsoft.com/office/drawing/2014/main" id="{74C13A1A-09E8-428D-27DA-09C0B3571617}"/>
                </a:ext>
              </a:extLst>
            </p:cNvPr>
            <p:cNvGrpSpPr/>
            <p:nvPr/>
          </p:nvGrpSpPr>
          <p:grpSpPr>
            <a:xfrm>
              <a:off x="966349" y="1639552"/>
              <a:ext cx="5209544" cy="525018"/>
              <a:chOff x="1363626" y="1195448"/>
              <a:chExt cx="5209544" cy="525018"/>
            </a:xfrm>
          </p:grpSpPr>
          <p:sp>
            <p:nvSpPr>
              <p:cNvPr id="24" name="Google Shape;57;p2">
                <a:extLst>
                  <a:ext uri="{FF2B5EF4-FFF2-40B4-BE49-F238E27FC236}">
                    <a16:creationId xmlns:a16="http://schemas.microsoft.com/office/drawing/2014/main" id="{F88788C3-F177-8F1C-E3BD-9B46A058BD7C}"/>
                  </a:ext>
                </a:extLst>
              </p:cNvPr>
              <p:cNvSpPr/>
              <p:nvPr/>
            </p:nvSpPr>
            <p:spPr>
              <a:xfrm>
                <a:off x="1419517" y="1195448"/>
                <a:ext cx="5153653"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25" name="Google Shape;58;p2">
                <a:extLst>
                  <a:ext uri="{FF2B5EF4-FFF2-40B4-BE49-F238E27FC236}">
                    <a16:creationId xmlns:a16="http://schemas.microsoft.com/office/drawing/2014/main" id="{E9DAE931-8800-6403-E648-186C4E4E0913}"/>
                  </a:ext>
                </a:extLst>
              </p:cNvPr>
              <p:cNvSpPr/>
              <p:nvPr/>
            </p:nvSpPr>
            <p:spPr>
              <a:xfrm>
                <a:off x="1363626" y="1195448"/>
                <a:ext cx="681998" cy="525018"/>
              </a:xfrm>
              <a:prstGeom prst="homePlate">
                <a:avLst>
                  <a:gd name="adj" fmla="val 31952"/>
                </a:avLst>
              </a:prstGeom>
              <a:solidFill>
                <a:srgbClr val="000F78"/>
              </a:solid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Arial"/>
                    <a:ea typeface="Arial"/>
                    <a:cs typeface="Arial"/>
                    <a:sym typeface="Arial"/>
                  </a:rPr>
                  <a:t>01</a:t>
                </a:r>
                <a:endParaRPr sz="1200" b="1" i="0" u="none" strike="noStrike" cap="none" dirty="0">
                  <a:solidFill>
                    <a:schemeClr val="lt1"/>
                  </a:solidFill>
                  <a:latin typeface="Arial"/>
                  <a:ea typeface="Arial"/>
                  <a:cs typeface="Arial"/>
                  <a:sym typeface="Arial"/>
                </a:endParaRPr>
              </a:p>
            </p:txBody>
          </p:sp>
        </p:grpSp>
        <p:sp>
          <p:nvSpPr>
            <p:cNvPr id="26" name="Google Shape;68;p2">
              <a:extLst>
                <a:ext uri="{FF2B5EF4-FFF2-40B4-BE49-F238E27FC236}">
                  <a16:creationId xmlns:a16="http://schemas.microsoft.com/office/drawing/2014/main" id="{E7DAC789-BAB3-37E1-722A-37EAE53CAD85}"/>
                </a:ext>
              </a:extLst>
            </p:cNvPr>
            <p:cNvSpPr/>
            <p:nvPr/>
          </p:nvSpPr>
          <p:spPr>
            <a:xfrm>
              <a:off x="966349" y="1614374"/>
              <a:ext cx="7285338"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dk1"/>
                  </a:solidFill>
                  <a:latin typeface="Arial"/>
                  <a:ea typeface="Arial"/>
                  <a:cs typeface="Arial"/>
                  <a:sym typeface="Arial"/>
                </a:rPr>
                <a:t> </a:t>
              </a:r>
              <a:r>
                <a:rPr lang="ja-JP" altLang="en-US" sz="2000" b="1" i="0" u="none" strike="noStrike" cap="none">
                  <a:solidFill>
                    <a:schemeClr val="dk1"/>
                  </a:solidFill>
                  <a:latin typeface="Arial"/>
                  <a:ea typeface="Arial"/>
                  <a:cs typeface="Arial"/>
                  <a:sym typeface="Arial"/>
                </a:rPr>
                <a:t>研究背景</a:t>
              </a:r>
              <a:endParaRPr lang="en-US" altLang="ja-JP" sz="2000" b="1" i="0" u="none" strike="noStrike" cap="none" dirty="0">
                <a:solidFill>
                  <a:schemeClr val="dk1"/>
                </a:solidFill>
                <a:latin typeface="Arial"/>
                <a:ea typeface="Arial"/>
                <a:cs typeface="Arial"/>
                <a:sym typeface="Arial"/>
              </a:endParaRPr>
            </a:p>
          </p:txBody>
        </p:sp>
      </p:grpSp>
      <p:sp>
        <p:nvSpPr>
          <p:cNvPr id="32" name="Google Shape;12;p41">
            <a:extLst>
              <a:ext uri="{FF2B5EF4-FFF2-40B4-BE49-F238E27FC236}">
                <a16:creationId xmlns:a16="http://schemas.microsoft.com/office/drawing/2014/main" id="{65DABD37-B89A-F563-8D6B-40B5EC39E602}"/>
              </a:ext>
            </a:extLst>
          </p:cNvPr>
          <p:cNvSpPr txBox="1"/>
          <p:nvPr/>
        </p:nvSpPr>
        <p:spPr>
          <a:xfrm>
            <a:off x="201975" y="251988"/>
            <a:ext cx="9504000" cy="671292"/>
          </a:xfrm>
          <a:prstGeom prst="rect">
            <a:avLst/>
          </a:prstGeom>
          <a:blipFill rotWithShape="1">
            <a:blip r:embed="rId3">
              <a:alphaModFix/>
            </a:blip>
            <a:stretch>
              <a:fillRect/>
            </a:stretch>
          </a:blipFill>
          <a:ln>
            <a:noFill/>
          </a:ln>
        </p:spPr>
        <p:txBody>
          <a:bodyPr spcFirstLastPara="1" wrap="square" lIns="144000" tIns="324000" rIns="0" bIns="36000" anchor="t" anchorCtr="0">
            <a:spAutoFit/>
          </a:bodyPr>
          <a:lstStyle/>
          <a:p>
            <a:pPr marL="0" marR="0" lvl="0" indent="0" algn="l" rtl="0">
              <a:lnSpc>
                <a:spcPct val="100000"/>
              </a:lnSpc>
              <a:spcBef>
                <a:spcPts val="0"/>
              </a:spcBef>
              <a:spcAft>
                <a:spcPts val="0"/>
              </a:spcAft>
              <a:buClr>
                <a:schemeClr val="lt2"/>
              </a:buClr>
              <a:buSzPts val="2000"/>
              <a:buFont typeface="Noto Sans Symbols"/>
              <a:buNone/>
            </a:pPr>
            <a:r>
              <a:rPr lang="en-US" sz="2000" b="1" dirty="0">
                <a:solidFill>
                  <a:srgbClr val="000F78"/>
                </a:solidFill>
              </a:rPr>
              <a:t>00.Index</a:t>
            </a:r>
            <a:endParaRPr sz="2000" b="1" i="0" u="none" strike="noStrike" cap="none" dirty="0">
              <a:solidFill>
                <a:srgbClr val="000F78"/>
              </a:solidFill>
              <a:latin typeface="Arial"/>
              <a:ea typeface="Arial"/>
              <a:cs typeface="Arial"/>
              <a:sym typeface="Arial"/>
            </a:endParaRPr>
          </a:p>
        </p:txBody>
      </p:sp>
      <p:grpSp>
        <p:nvGrpSpPr>
          <p:cNvPr id="35" name="グループ化 34">
            <a:extLst>
              <a:ext uri="{FF2B5EF4-FFF2-40B4-BE49-F238E27FC236}">
                <a16:creationId xmlns:a16="http://schemas.microsoft.com/office/drawing/2014/main" id="{9DC018A6-938B-EC91-B461-ECC4FC5AB921}"/>
              </a:ext>
            </a:extLst>
          </p:cNvPr>
          <p:cNvGrpSpPr/>
          <p:nvPr/>
        </p:nvGrpSpPr>
        <p:grpSpPr>
          <a:xfrm>
            <a:off x="966349" y="5236654"/>
            <a:ext cx="7285338" cy="550196"/>
            <a:chOff x="966349" y="4068137"/>
            <a:chExt cx="7285338" cy="550196"/>
          </a:xfrm>
        </p:grpSpPr>
        <p:grpSp>
          <p:nvGrpSpPr>
            <p:cNvPr id="36" name="Google Shape;56;p2">
              <a:extLst>
                <a:ext uri="{FF2B5EF4-FFF2-40B4-BE49-F238E27FC236}">
                  <a16:creationId xmlns:a16="http://schemas.microsoft.com/office/drawing/2014/main" id="{5146E329-5D15-89A8-7307-A1210A1C8CF0}"/>
                </a:ext>
              </a:extLst>
            </p:cNvPr>
            <p:cNvGrpSpPr/>
            <p:nvPr/>
          </p:nvGrpSpPr>
          <p:grpSpPr>
            <a:xfrm>
              <a:off x="966349" y="4093315"/>
              <a:ext cx="5209544" cy="525018"/>
              <a:chOff x="1363626" y="1195448"/>
              <a:chExt cx="5209544" cy="525018"/>
            </a:xfrm>
          </p:grpSpPr>
          <p:sp>
            <p:nvSpPr>
              <p:cNvPr id="38" name="Google Shape;57;p2">
                <a:extLst>
                  <a:ext uri="{FF2B5EF4-FFF2-40B4-BE49-F238E27FC236}">
                    <a16:creationId xmlns:a16="http://schemas.microsoft.com/office/drawing/2014/main" id="{E91C60B3-D8A8-F794-9389-307482A4BA26}"/>
                  </a:ext>
                </a:extLst>
              </p:cNvPr>
              <p:cNvSpPr/>
              <p:nvPr/>
            </p:nvSpPr>
            <p:spPr>
              <a:xfrm>
                <a:off x="1419517" y="1195448"/>
                <a:ext cx="5153653"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39" name="Google Shape;58;p2">
                <a:extLst>
                  <a:ext uri="{FF2B5EF4-FFF2-40B4-BE49-F238E27FC236}">
                    <a16:creationId xmlns:a16="http://schemas.microsoft.com/office/drawing/2014/main" id="{3F18BB21-9800-9FEB-1845-2556CAE0798D}"/>
                  </a:ext>
                </a:extLst>
              </p:cNvPr>
              <p:cNvSpPr/>
              <p:nvPr/>
            </p:nvSpPr>
            <p:spPr>
              <a:xfrm>
                <a:off x="1363626" y="1195448"/>
                <a:ext cx="681998" cy="525018"/>
              </a:xfrm>
              <a:prstGeom prst="homePlate">
                <a:avLst>
                  <a:gd name="adj" fmla="val 31952"/>
                </a:avLst>
              </a:prstGeom>
              <a:solidFill>
                <a:srgbClr val="000F78"/>
              </a:solid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Arial"/>
                    <a:ea typeface="Arial"/>
                    <a:cs typeface="Arial"/>
                    <a:sym typeface="Arial"/>
                  </a:rPr>
                  <a:t>0</a:t>
                </a:r>
                <a:r>
                  <a:rPr lang="en-US" altLang="ja-JP" sz="1200" b="1" dirty="0">
                    <a:solidFill>
                      <a:schemeClr val="lt1"/>
                    </a:solidFill>
                  </a:rPr>
                  <a:t>6</a:t>
                </a:r>
                <a:endParaRPr sz="1200" b="1" i="0" u="none" strike="noStrike" cap="none" dirty="0">
                  <a:solidFill>
                    <a:schemeClr val="lt1"/>
                  </a:solidFill>
                  <a:latin typeface="Arial"/>
                  <a:ea typeface="Arial"/>
                  <a:cs typeface="Arial"/>
                  <a:sym typeface="Arial"/>
                </a:endParaRPr>
              </a:p>
            </p:txBody>
          </p:sp>
        </p:grpSp>
        <p:sp>
          <p:nvSpPr>
            <p:cNvPr id="37" name="Google Shape;68;p2">
              <a:extLst>
                <a:ext uri="{FF2B5EF4-FFF2-40B4-BE49-F238E27FC236}">
                  <a16:creationId xmlns:a16="http://schemas.microsoft.com/office/drawing/2014/main" id="{E5BCE9F3-880C-CC50-7FF6-6717695A2EE5}"/>
                </a:ext>
              </a:extLst>
            </p:cNvPr>
            <p:cNvSpPr/>
            <p:nvPr/>
          </p:nvSpPr>
          <p:spPr>
            <a:xfrm>
              <a:off x="966349" y="4068137"/>
              <a:ext cx="7285338" cy="525018"/>
            </a:xfrm>
            <a:prstGeom prst="rect">
              <a:avLst/>
            </a:prstGeom>
            <a:noFill/>
            <a:ln>
              <a:noFill/>
            </a:ln>
          </p:spPr>
          <p:txBody>
            <a:bodyPr spcFirstLastPara="1" wrap="square" lIns="756000" tIns="36000" rIns="99050" bIns="360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dk1"/>
                  </a:solidFill>
                  <a:latin typeface="Arial"/>
                  <a:ea typeface="Arial"/>
                  <a:cs typeface="Arial"/>
                  <a:sym typeface="Arial"/>
                </a:rPr>
                <a:t> </a:t>
              </a:r>
              <a:r>
                <a:rPr lang="en-US" altLang="ja-JP" sz="2000" b="1" i="0" u="none" strike="noStrike" cap="none" dirty="0">
                  <a:solidFill>
                    <a:schemeClr val="dk1"/>
                  </a:solidFill>
                  <a:latin typeface="Arial"/>
                  <a:ea typeface="Arial"/>
                  <a:cs typeface="Arial"/>
                  <a:sym typeface="Arial"/>
                </a:rPr>
                <a:t>Appendix</a:t>
              </a:r>
            </a:p>
          </p:txBody>
        </p:sp>
      </p:grpSp>
    </p:spTree>
    <p:extLst>
      <p:ext uri="{BB962C8B-B14F-4D97-AF65-F5344CB8AC3E}">
        <p14:creationId xmlns:p14="http://schemas.microsoft.com/office/powerpoint/2010/main" val="351055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t>01.</a:t>
            </a:r>
            <a:r>
              <a:rPr kumimoji="1" lang="ja-JP" altLang="en-US" sz="1400" b="1"/>
              <a:t>研究背景</a:t>
            </a:r>
            <a:br>
              <a:rPr kumimoji="1" lang="en-US" altLang="ja-JP" b="1" dirty="0"/>
            </a:br>
            <a:r>
              <a:rPr kumimoji="1" lang="en-US" altLang="ja-JP" b="1" dirty="0"/>
              <a:t>1-1.</a:t>
            </a:r>
            <a:r>
              <a:rPr kumimoji="1" lang="ja-JP" altLang="en-US" b="1"/>
              <a:t>前提</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4" y="906114"/>
            <a:ext cx="9127246" cy="2428807"/>
          </a:xfrm>
        </p:spPr>
        <p:txBody>
          <a:bodyPr/>
          <a:lstStyle/>
          <a:p>
            <a:r>
              <a:rPr kumimoji="1" lang="ja-JP" altLang="en-US" sz="2000">
                <a:solidFill>
                  <a:schemeClr val="tx1"/>
                </a:solidFill>
              </a:rPr>
              <a:t>位相ノイズ</a:t>
            </a:r>
            <a:r>
              <a:rPr kumimoji="1" lang="en-US" altLang="ja-JP" sz="2000" dirty="0">
                <a:solidFill>
                  <a:schemeClr val="tx1"/>
                </a:solidFill>
              </a:rPr>
              <a:t>(</a:t>
            </a:r>
            <a:r>
              <a:rPr kumimoji="1" lang="ja-JP" altLang="en-US" sz="2000">
                <a:solidFill>
                  <a:schemeClr val="tx1"/>
                </a:solidFill>
              </a:rPr>
              <a:t>ジッ</a:t>
            </a:r>
            <a:r>
              <a:rPr kumimoji="1" lang="ja-JP" altLang="en-US" sz="2000"/>
              <a:t>タ</a:t>
            </a:r>
            <a:r>
              <a:rPr kumimoji="1" lang="en-US" altLang="ja-JP" sz="2000" dirty="0"/>
              <a:t>)</a:t>
            </a:r>
            <a:r>
              <a:rPr kumimoji="1" lang="ja-JP" altLang="en-US" sz="2000">
                <a:solidFill>
                  <a:schemeClr val="tx1"/>
                </a:solidFill>
              </a:rPr>
              <a:t>とは</a:t>
            </a:r>
            <a:endParaRPr kumimoji="1" lang="en-US" altLang="ja-JP" sz="2000" dirty="0">
              <a:solidFill>
                <a:schemeClr val="tx1"/>
              </a:solidFill>
            </a:endParaRPr>
          </a:p>
          <a:p>
            <a:pPr lvl="1"/>
            <a:r>
              <a:rPr kumimoji="1" lang="ja-JP" altLang="en-US" sz="2000">
                <a:solidFill>
                  <a:schemeClr val="tx1"/>
                </a:solidFill>
              </a:rPr>
              <a:t>時間軸上の誤差</a:t>
            </a:r>
            <a:endParaRPr kumimoji="1" lang="en-US" altLang="ja-JP" sz="2000" dirty="0">
              <a:solidFill>
                <a:schemeClr val="tx1"/>
              </a:solidFill>
            </a:endParaRPr>
          </a:p>
          <a:p>
            <a:pPr lvl="1"/>
            <a:r>
              <a:rPr kumimoji="1" lang="ja-JP" altLang="en-US" sz="2000">
                <a:solidFill>
                  <a:schemeClr val="tx1"/>
                </a:solidFill>
              </a:rPr>
              <a:t>理想的な波</a:t>
            </a:r>
            <a:r>
              <a:rPr kumimoji="1" lang="en-US" altLang="ja-JP" sz="2000" dirty="0">
                <a:solidFill>
                  <a:schemeClr val="tx1"/>
                </a:solidFill>
              </a:rPr>
              <a:t>cos(</a:t>
            </a:r>
            <a:r>
              <a:rPr kumimoji="1" lang="en-US" altLang="ja-JP" sz="2000" dirty="0" err="1">
                <a:solidFill>
                  <a:schemeClr val="tx1"/>
                </a:solidFill>
              </a:rPr>
              <a:t>ωt</a:t>
            </a:r>
            <a:r>
              <a:rPr kumimoji="1" lang="en-US" altLang="ja-JP" sz="2000" dirty="0">
                <a:solidFill>
                  <a:schemeClr val="tx1"/>
                </a:solidFill>
              </a:rPr>
              <a:t>)</a:t>
            </a:r>
            <a:r>
              <a:rPr kumimoji="1" lang="ja-JP" altLang="en-US" sz="2000">
                <a:solidFill>
                  <a:schemeClr val="tx1"/>
                </a:solidFill>
              </a:rPr>
              <a:t>に対して、</a:t>
            </a:r>
            <a:r>
              <a:rPr kumimoji="1" lang="en-US" altLang="ja-JP" sz="2000" dirty="0">
                <a:solidFill>
                  <a:schemeClr val="tx1"/>
                </a:solidFill>
              </a:rPr>
              <a:t>cos[(</a:t>
            </a:r>
            <a:r>
              <a:rPr kumimoji="1" lang="en-US" altLang="ja-JP" sz="2000" dirty="0" err="1">
                <a:solidFill>
                  <a:schemeClr val="tx1"/>
                </a:solidFill>
              </a:rPr>
              <a:t>ω</a:t>
            </a:r>
            <a:r>
              <a:rPr kumimoji="1" lang="en-US" altLang="ja-JP" sz="2000" dirty="0">
                <a:solidFill>
                  <a:schemeClr val="tx1"/>
                </a:solidFill>
              </a:rPr>
              <a:t>(</a:t>
            </a:r>
            <a:r>
              <a:rPr kumimoji="1" lang="en-US" altLang="ja-JP" sz="2000" dirty="0" err="1">
                <a:solidFill>
                  <a:schemeClr val="tx1"/>
                </a:solidFill>
              </a:rPr>
              <a:t>t+j</a:t>
            </a:r>
            <a:r>
              <a:rPr kumimoji="1" lang="en-US" altLang="ja-JP" sz="2000" dirty="0">
                <a:solidFill>
                  <a:schemeClr val="tx1"/>
                </a:solidFill>
              </a:rPr>
              <a:t>(t))]</a:t>
            </a:r>
            <a:r>
              <a:rPr kumimoji="1" lang="ja-JP" altLang="en-US" sz="2000">
                <a:solidFill>
                  <a:schemeClr val="tx1"/>
                </a:solidFill>
              </a:rPr>
              <a:t>となるときの</a:t>
            </a:r>
            <a:r>
              <a:rPr kumimoji="1" lang="en-US" altLang="ja-JP" sz="2000" dirty="0">
                <a:solidFill>
                  <a:schemeClr val="tx1"/>
                </a:solidFill>
              </a:rPr>
              <a:t>j(t)</a:t>
            </a:r>
            <a:r>
              <a:rPr kumimoji="1" lang="ja-JP" altLang="en-US" sz="2000">
                <a:solidFill>
                  <a:schemeClr val="tx1"/>
                </a:solidFill>
              </a:rPr>
              <a:t>に相当</a:t>
            </a:r>
            <a:endParaRPr kumimoji="1" lang="en-US" altLang="ja-JP" sz="2000" dirty="0">
              <a:solidFill>
                <a:schemeClr val="tx1"/>
              </a:solidFill>
            </a:endParaRPr>
          </a:p>
          <a:p>
            <a:pPr marL="592900" lvl="1" indent="0">
              <a:buNone/>
            </a:pPr>
            <a:endParaRPr kumimoji="1" lang="en-US" altLang="ja-JP" sz="2000" dirty="0">
              <a:solidFill>
                <a:schemeClr val="tx1"/>
              </a:solidFill>
            </a:endParaRPr>
          </a:p>
          <a:p>
            <a:r>
              <a:rPr kumimoji="1" lang="ja-JP" altLang="en-US" sz="2000">
                <a:solidFill>
                  <a:schemeClr val="tx1"/>
                </a:solidFill>
              </a:rPr>
              <a:t>位相ノイズ</a:t>
            </a:r>
            <a:r>
              <a:rPr kumimoji="1" lang="en-US" altLang="ja-JP" sz="2000" dirty="0">
                <a:solidFill>
                  <a:schemeClr val="tx1"/>
                </a:solidFill>
              </a:rPr>
              <a:t>(</a:t>
            </a:r>
            <a:r>
              <a:rPr kumimoji="1" lang="ja-JP" altLang="en-US" sz="2000">
                <a:solidFill>
                  <a:schemeClr val="tx1"/>
                </a:solidFill>
              </a:rPr>
              <a:t>ジッ</a:t>
            </a:r>
            <a:r>
              <a:rPr kumimoji="1" lang="ja-JP" altLang="en-US" sz="2000"/>
              <a:t>タ</a:t>
            </a:r>
            <a:r>
              <a:rPr kumimoji="1" lang="en-US" altLang="ja-JP" sz="2000" dirty="0"/>
              <a:t>)</a:t>
            </a:r>
            <a:r>
              <a:rPr kumimoji="1" lang="ja-JP" altLang="en-US" sz="2000">
                <a:solidFill>
                  <a:schemeClr val="tx1"/>
                </a:solidFill>
              </a:rPr>
              <a:t>の表現方法</a:t>
            </a:r>
            <a:endParaRPr kumimoji="1" lang="en-US" altLang="ja-JP" sz="2000" dirty="0">
              <a:solidFill>
                <a:schemeClr val="tx1"/>
              </a:solidFill>
            </a:endParaRPr>
          </a:p>
          <a:p>
            <a:pPr lvl="1"/>
            <a:r>
              <a:rPr kumimoji="1" lang="en-US" altLang="ja-JP" sz="1663" dirty="0">
                <a:solidFill>
                  <a:schemeClr val="tx1"/>
                </a:solidFill>
              </a:rPr>
              <a:t>j(t)</a:t>
            </a:r>
            <a:r>
              <a:rPr kumimoji="1" lang="ja-JP" altLang="en-US" sz="1663">
                <a:solidFill>
                  <a:schemeClr val="tx1"/>
                </a:solidFill>
              </a:rPr>
              <a:t>では表現しづらいため、一般的には周波数ドメイン</a:t>
            </a:r>
            <a:r>
              <a:rPr kumimoji="1" lang="en-US" altLang="ja-JP" sz="1663" dirty="0">
                <a:solidFill>
                  <a:schemeClr val="tx1"/>
                </a:solidFill>
              </a:rPr>
              <a:t>L(f)</a:t>
            </a:r>
            <a:r>
              <a:rPr kumimoji="1" lang="ja-JP" altLang="en-US" sz="1663">
                <a:solidFill>
                  <a:schemeClr val="tx1"/>
                </a:solidFill>
              </a:rPr>
              <a:t>：パワースペクトル密度で表現する</a:t>
            </a:r>
            <a:endParaRPr kumimoji="1" lang="en-US" altLang="ja-JP" sz="1663" dirty="0">
              <a:solidFill>
                <a:schemeClr val="tx1"/>
              </a:solidFill>
            </a:endParaRPr>
          </a:p>
          <a:p>
            <a:pPr lvl="1"/>
            <a:endParaRPr kumimoji="1" lang="ja-JP" altLang="en-US" sz="1663">
              <a:solidFill>
                <a:schemeClr val="tx1"/>
              </a:solidFill>
            </a:endParaRPr>
          </a:p>
        </p:txBody>
      </p:sp>
      <p:grpSp>
        <p:nvGrpSpPr>
          <p:cNvPr id="52" name="グループ化 51">
            <a:extLst>
              <a:ext uri="{FF2B5EF4-FFF2-40B4-BE49-F238E27FC236}">
                <a16:creationId xmlns:a16="http://schemas.microsoft.com/office/drawing/2014/main" id="{07325878-10B4-AE98-C9B2-C2C361BF47E5}"/>
              </a:ext>
            </a:extLst>
          </p:cNvPr>
          <p:cNvGrpSpPr/>
          <p:nvPr/>
        </p:nvGrpSpPr>
        <p:grpSpPr>
          <a:xfrm>
            <a:off x="151265" y="2905001"/>
            <a:ext cx="8874033" cy="4097608"/>
            <a:chOff x="3985203" y="2194990"/>
            <a:chExt cx="9716719" cy="4407017"/>
          </a:xfrm>
        </p:grpSpPr>
        <p:cxnSp>
          <p:nvCxnSpPr>
            <p:cNvPr id="5" name="直線矢印コネクタ 4">
              <a:extLst>
                <a:ext uri="{FF2B5EF4-FFF2-40B4-BE49-F238E27FC236}">
                  <a16:creationId xmlns:a16="http://schemas.microsoft.com/office/drawing/2014/main" id="{A87CA80D-A93E-9252-315C-1700819B5C47}"/>
                </a:ext>
              </a:extLst>
            </p:cNvPr>
            <p:cNvCxnSpPr>
              <a:cxnSpLocks/>
            </p:cNvCxnSpPr>
            <p:nvPr/>
          </p:nvCxnSpPr>
          <p:spPr>
            <a:xfrm>
              <a:off x="4352494" y="5983207"/>
              <a:ext cx="486850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8" name="円弧 7">
              <a:extLst>
                <a:ext uri="{FF2B5EF4-FFF2-40B4-BE49-F238E27FC236}">
                  <a16:creationId xmlns:a16="http://schemas.microsoft.com/office/drawing/2014/main" id="{01FC4031-D613-075B-3841-A334562CCCDA}"/>
                </a:ext>
              </a:extLst>
            </p:cNvPr>
            <p:cNvSpPr/>
            <p:nvPr/>
          </p:nvSpPr>
          <p:spPr>
            <a:xfrm>
              <a:off x="4811601" y="2194990"/>
              <a:ext cx="8890321" cy="3669790"/>
            </a:xfrm>
            <a:prstGeom prst="arc">
              <a:avLst>
                <a:gd name="adj1" fmla="val 5542347"/>
                <a:gd name="adj2" fmla="val 10819371"/>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26F5EA9-F751-8131-059D-7FAC257771F2}"/>
                </a:ext>
              </a:extLst>
            </p:cNvPr>
            <p:cNvSpPr txBox="1"/>
            <p:nvPr/>
          </p:nvSpPr>
          <p:spPr>
            <a:xfrm>
              <a:off x="3985203" y="6270990"/>
              <a:ext cx="1840676" cy="331017"/>
            </a:xfrm>
            <a:prstGeom prst="rect">
              <a:avLst/>
            </a:prstGeom>
            <a:noFill/>
          </p:spPr>
          <p:txBody>
            <a:bodyPr wrap="square" rtlCol="0">
              <a:spAutoFit/>
            </a:bodyPr>
            <a:lstStyle/>
            <a:p>
              <a:pPr algn="ctr"/>
              <a:endParaRPr kumimoji="1" lang="ja-JP" altLang="en-US"/>
            </a:p>
          </p:txBody>
        </p:sp>
        <p:cxnSp>
          <p:nvCxnSpPr>
            <p:cNvPr id="13" name="直線コネクタ 12">
              <a:extLst>
                <a:ext uri="{FF2B5EF4-FFF2-40B4-BE49-F238E27FC236}">
                  <a16:creationId xmlns:a16="http://schemas.microsoft.com/office/drawing/2014/main" id="{03BA5A30-61DE-78DC-B0E6-C852F6186F6B}"/>
                </a:ext>
              </a:extLst>
            </p:cNvPr>
            <p:cNvCxnSpPr>
              <a:cxnSpLocks/>
            </p:cNvCxnSpPr>
            <p:nvPr/>
          </p:nvCxnSpPr>
          <p:spPr>
            <a:xfrm>
              <a:off x="5437676" y="4948132"/>
              <a:ext cx="0" cy="1035075"/>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F3D42A21-E820-0CB2-DC28-98D43D99AA4A}"/>
                </a:ext>
              </a:extLst>
            </p:cNvPr>
            <p:cNvCxnSpPr>
              <a:cxnSpLocks/>
            </p:cNvCxnSpPr>
            <p:nvPr/>
          </p:nvCxnSpPr>
          <p:spPr>
            <a:xfrm>
              <a:off x="6599479" y="5506902"/>
              <a:ext cx="0" cy="476305"/>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8" name="テキスト ボックス 17">
              <a:extLst>
                <a:ext uri="{FF2B5EF4-FFF2-40B4-BE49-F238E27FC236}">
                  <a16:creationId xmlns:a16="http://schemas.microsoft.com/office/drawing/2014/main" id="{5478CD42-AEE4-D8DC-47D7-31DC988AAE8B}"/>
                </a:ext>
              </a:extLst>
            </p:cNvPr>
            <p:cNvSpPr txBox="1"/>
            <p:nvPr/>
          </p:nvSpPr>
          <p:spPr>
            <a:xfrm>
              <a:off x="8077343" y="6001760"/>
              <a:ext cx="1418385" cy="307777"/>
            </a:xfrm>
            <a:prstGeom prst="rect">
              <a:avLst/>
            </a:prstGeom>
            <a:noFill/>
          </p:spPr>
          <p:txBody>
            <a:bodyPr wrap="square" rtlCol="0">
              <a:spAutoFit/>
            </a:bodyPr>
            <a:lstStyle/>
            <a:p>
              <a:pPr algn="ctr"/>
              <a:r>
                <a:rPr kumimoji="1" lang="en-US" altLang="ja-JP" dirty="0"/>
                <a:t>Offset</a:t>
              </a:r>
              <a:r>
                <a:rPr kumimoji="1" lang="ja-JP" altLang="en-US"/>
                <a:t>周波数</a:t>
              </a:r>
            </a:p>
          </p:txBody>
        </p:sp>
        <p:sp>
          <p:nvSpPr>
            <p:cNvPr id="19" name="テキスト ボックス 18">
              <a:extLst>
                <a:ext uri="{FF2B5EF4-FFF2-40B4-BE49-F238E27FC236}">
                  <a16:creationId xmlns:a16="http://schemas.microsoft.com/office/drawing/2014/main" id="{4C93D636-95A6-7751-33E6-ED856E456386}"/>
                </a:ext>
              </a:extLst>
            </p:cNvPr>
            <p:cNvSpPr txBox="1"/>
            <p:nvPr/>
          </p:nvSpPr>
          <p:spPr>
            <a:xfrm>
              <a:off x="5039712" y="5986381"/>
              <a:ext cx="801513" cy="307777"/>
            </a:xfrm>
            <a:prstGeom prst="rect">
              <a:avLst/>
            </a:prstGeom>
            <a:noFill/>
          </p:spPr>
          <p:txBody>
            <a:bodyPr wrap="square" rtlCol="0">
              <a:spAutoFit/>
            </a:bodyPr>
            <a:lstStyle/>
            <a:p>
              <a:pPr algn="ctr"/>
              <a:r>
                <a:rPr kumimoji="1" lang="en-US" altLang="ja-JP" dirty="0"/>
                <a:t>f1</a:t>
              </a:r>
              <a:endParaRPr kumimoji="1" lang="ja-JP" altLang="en-US"/>
            </a:p>
          </p:txBody>
        </p:sp>
        <p:sp>
          <p:nvSpPr>
            <p:cNvPr id="24" name="テキスト ボックス 23">
              <a:extLst>
                <a:ext uri="{FF2B5EF4-FFF2-40B4-BE49-F238E27FC236}">
                  <a16:creationId xmlns:a16="http://schemas.microsoft.com/office/drawing/2014/main" id="{9E090944-7D41-859F-A440-D62C5EE93056}"/>
                </a:ext>
              </a:extLst>
            </p:cNvPr>
            <p:cNvSpPr txBox="1"/>
            <p:nvPr/>
          </p:nvSpPr>
          <p:spPr>
            <a:xfrm>
              <a:off x="6197595" y="5988636"/>
              <a:ext cx="801513" cy="307777"/>
            </a:xfrm>
            <a:prstGeom prst="rect">
              <a:avLst/>
            </a:prstGeom>
            <a:noFill/>
          </p:spPr>
          <p:txBody>
            <a:bodyPr wrap="square" rtlCol="0">
              <a:spAutoFit/>
            </a:bodyPr>
            <a:lstStyle/>
            <a:p>
              <a:pPr algn="ctr"/>
              <a:r>
                <a:rPr kumimoji="1" lang="en-US" altLang="ja-JP" dirty="0"/>
                <a:t>f2</a:t>
              </a:r>
              <a:endParaRPr kumimoji="1" lang="ja-JP" altLang="en-US"/>
            </a:p>
          </p:txBody>
        </p:sp>
        <p:cxnSp>
          <p:nvCxnSpPr>
            <p:cNvPr id="26" name="直線矢印コネクタ 25">
              <a:extLst>
                <a:ext uri="{FF2B5EF4-FFF2-40B4-BE49-F238E27FC236}">
                  <a16:creationId xmlns:a16="http://schemas.microsoft.com/office/drawing/2014/main" id="{53B8278C-4A35-4C41-EFA9-72EF926E504E}"/>
                </a:ext>
              </a:extLst>
            </p:cNvPr>
            <p:cNvCxnSpPr>
              <a:cxnSpLocks/>
            </p:cNvCxnSpPr>
            <p:nvPr/>
          </p:nvCxnSpPr>
          <p:spPr>
            <a:xfrm>
              <a:off x="4777147" y="5405530"/>
              <a:ext cx="660529" cy="0"/>
            </a:xfrm>
            <a:prstGeom prst="straightConnector1">
              <a:avLst/>
            </a:prstGeom>
            <a:ln w="127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5183B514-577F-87A9-ACB0-3F7B38449AE3}"/>
                </a:ext>
              </a:extLst>
            </p:cNvPr>
            <p:cNvCxnSpPr>
              <a:cxnSpLocks/>
            </p:cNvCxnSpPr>
            <p:nvPr/>
          </p:nvCxnSpPr>
          <p:spPr>
            <a:xfrm flipH="1">
              <a:off x="5957775" y="5044849"/>
              <a:ext cx="903372" cy="451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8580A410-4EF3-729A-0557-0B85C2D17955}"/>
                </a:ext>
              </a:extLst>
            </p:cNvPr>
            <p:cNvCxnSpPr>
              <a:cxnSpLocks/>
            </p:cNvCxnSpPr>
            <p:nvPr/>
          </p:nvCxnSpPr>
          <p:spPr>
            <a:xfrm>
              <a:off x="4777147" y="5781315"/>
              <a:ext cx="1821204" cy="0"/>
            </a:xfrm>
            <a:prstGeom prst="straightConnector1">
              <a:avLst/>
            </a:prstGeom>
            <a:ln w="127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29E27914-B388-4161-65A9-A7BFCDFE4D56}"/>
                </a:ext>
              </a:extLst>
            </p:cNvPr>
            <p:cNvCxnSpPr/>
            <p:nvPr/>
          </p:nvCxnSpPr>
          <p:spPr>
            <a:xfrm flipV="1">
              <a:off x="4777147" y="3632200"/>
              <a:ext cx="0" cy="261511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0" name="テキスト ボックス 49">
              <a:extLst>
                <a:ext uri="{FF2B5EF4-FFF2-40B4-BE49-F238E27FC236}">
                  <a16:creationId xmlns:a16="http://schemas.microsoft.com/office/drawing/2014/main" id="{6EB72B0E-690E-3433-5339-14EA1CE4F3BB}"/>
                </a:ext>
              </a:extLst>
            </p:cNvPr>
            <p:cNvSpPr txBox="1"/>
            <p:nvPr/>
          </p:nvSpPr>
          <p:spPr>
            <a:xfrm>
              <a:off x="4837056" y="3478311"/>
              <a:ext cx="863775" cy="523220"/>
            </a:xfrm>
            <a:prstGeom prst="rect">
              <a:avLst/>
            </a:prstGeom>
            <a:noFill/>
          </p:spPr>
          <p:txBody>
            <a:bodyPr wrap="square" rtlCol="0">
              <a:spAutoFit/>
            </a:bodyPr>
            <a:lstStyle/>
            <a:p>
              <a:r>
                <a:rPr kumimoji="1" lang="en-US" altLang="ja-JP" dirty="0"/>
                <a:t>L(f) </a:t>
              </a:r>
              <a:r>
                <a:rPr kumimoji="1" lang="en-US" altLang="ja-JP" dirty="0" err="1"/>
                <a:t>dBc</a:t>
              </a:r>
              <a:r>
                <a:rPr kumimoji="1" lang="en-US" altLang="ja-JP" dirty="0"/>
                <a:t>/Hz</a:t>
              </a:r>
              <a:endParaRPr kumimoji="1" lang="ja-JP" altLang="en-US"/>
            </a:p>
          </p:txBody>
        </p:sp>
      </p:grpSp>
      <p:pic>
        <p:nvPicPr>
          <p:cNvPr id="62" name="図 61">
            <a:extLst>
              <a:ext uri="{FF2B5EF4-FFF2-40B4-BE49-F238E27FC236}">
                <a16:creationId xmlns:a16="http://schemas.microsoft.com/office/drawing/2014/main" id="{916ED799-CAF8-F4B3-828F-59176BCF743A}"/>
              </a:ext>
            </a:extLst>
          </p:cNvPr>
          <p:cNvPicPr>
            <a:picLocks noChangeAspect="1"/>
          </p:cNvPicPr>
          <p:nvPr/>
        </p:nvPicPr>
        <p:blipFill>
          <a:blip r:embed="rId4"/>
          <a:stretch>
            <a:fillRect/>
          </a:stretch>
        </p:blipFill>
        <p:spPr>
          <a:xfrm>
            <a:off x="5425620" y="3904365"/>
            <a:ext cx="4278405" cy="220168"/>
          </a:xfrm>
          <a:prstGeom prst="rect">
            <a:avLst/>
          </a:prstGeom>
        </p:spPr>
      </p:pic>
      <p:pic>
        <p:nvPicPr>
          <p:cNvPr id="63" name="図 62">
            <a:extLst>
              <a:ext uri="{FF2B5EF4-FFF2-40B4-BE49-F238E27FC236}">
                <a16:creationId xmlns:a16="http://schemas.microsoft.com/office/drawing/2014/main" id="{86061A11-EC5A-FDCC-D25A-4038E87F2A68}"/>
              </a:ext>
            </a:extLst>
          </p:cNvPr>
          <p:cNvPicPr>
            <a:picLocks noChangeAspect="1"/>
          </p:cNvPicPr>
          <p:nvPr/>
        </p:nvPicPr>
        <p:blipFill>
          <a:blip r:embed="rId5"/>
          <a:stretch>
            <a:fillRect/>
          </a:stretch>
        </p:blipFill>
        <p:spPr>
          <a:xfrm>
            <a:off x="5714530" y="4151219"/>
            <a:ext cx="1814277" cy="414403"/>
          </a:xfrm>
          <a:prstGeom prst="rect">
            <a:avLst/>
          </a:prstGeom>
        </p:spPr>
      </p:pic>
      <p:pic>
        <p:nvPicPr>
          <p:cNvPr id="64" name="図 63">
            <a:extLst>
              <a:ext uri="{FF2B5EF4-FFF2-40B4-BE49-F238E27FC236}">
                <a16:creationId xmlns:a16="http://schemas.microsoft.com/office/drawing/2014/main" id="{79100334-29CB-0FFD-DBA3-CE530FD52CE2}"/>
              </a:ext>
            </a:extLst>
          </p:cNvPr>
          <p:cNvPicPr>
            <a:picLocks noChangeAspect="1"/>
          </p:cNvPicPr>
          <p:nvPr/>
        </p:nvPicPr>
        <p:blipFill>
          <a:blip r:embed="rId6"/>
          <a:stretch>
            <a:fillRect/>
          </a:stretch>
        </p:blipFill>
        <p:spPr>
          <a:xfrm>
            <a:off x="5714530" y="4571147"/>
            <a:ext cx="3531164" cy="449620"/>
          </a:xfrm>
          <a:prstGeom prst="rect">
            <a:avLst/>
          </a:prstGeom>
        </p:spPr>
      </p:pic>
      <p:sp>
        <p:nvSpPr>
          <p:cNvPr id="67" name="テキスト ボックス 66">
            <a:extLst>
              <a:ext uri="{FF2B5EF4-FFF2-40B4-BE49-F238E27FC236}">
                <a16:creationId xmlns:a16="http://schemas.microsoft.com/office/drawing/2014/main" id="{4AC923F3-F872-D659-BA62-7C910AEBF082}"/>
              </a:ext>
            </a:extLst>
          </p:cNvPr>
          <p:cNvSpPr txBox="1"/>
          <p:nvPr/>
        </p:nvSpPr>
        <p:spPr>
          <a:xfrm>
            <a:off x="5181393" y="5186614"/>
            <a:ext cx="4536374" cy="523220"/>
          </a:xfrm>
          <a:prstGeom prst="rect">
            <a:avLst/>
          </a:prstGeom>
          <a:noFill/>
        </p:spPr>
        <p:txBody>
          <a:bodyPr wrap="square" rtlCol="0">
            <a:spAutoFit/>
          </a:bodyPr>
          <a:lstStyle/>
          <a:p>
            <a:r>
              <a:rPr kumimoji="1" lang="en-US" altLang="ja-JP" dirty="0" err="1"/>
              <a:t>Offeset</a:t>
            </a:r>
            <a:r>
              <a:rPr kumimoji="1" lang="ja-JP" altLang="en-US"/>
              <a:t>周波数が</a:t>
            </a:r>
            <a:r>
              <a:rPr kumimoji="1" lang="en-US" altLang="ja-JP" dirty="0"/>
              <a:t>f1~f2</a:t>
            </a:r>
            <a:r>
              <a:rPr kumimoji="1" lang="ja-JP" altLang="en-US"/>
              <a:t>の区間の位相ノイズ</a:t>
            </a:r>
            <a:r>
              <a:rPr kumimoji="1" lang="en-US" altLang="ja-JP" dirty="0"/>
              <a:t>(</a:t>
            </a:r>
            <a:r>
              <a:rPr kumimoji="1" lang="ja-JP" altLang="en-US"/>
              <a:t>ジッタ</a:t>
            </a:r>
            <a:r>
              <a:rPr kumimoji="1" lang="en-US" altLang="ja-JP" dirty="0"/>
              <a:t>)</a:t>
            </a:r>
            <a:r>
              <a:rPr kumimoji="1" lang="ja-JP" altLang="en-US"/>
              <a:t>の</a:t>
            </a:r>
            <a:r>
              <a:rPr kumimoji="1" lang="en-US" altLang="ja-JP" dirty="0"/>
              <a:t>RMS</a:t>
            </a:r>
            <a:r>
              <a:rPr kumimoji="1" lang="ja-JP" altLang="en-US"/>
              <a:t>は</a:t>
            </a:r>
          </a:p>
        </p:txBody>
      </p:sp>
      <p:sp>
        <p:nvSpPr>
          <p:cNvPr id="68" name="テキスト ボックス 67">
            <a:extLst>
              <a:ext uri="{FF2B5EF4-FFF2-40B4-BE49-F238E27FC236}">
                <a16:creationId xmlns:a16="http://schemas.microsoft.com/office/drawing/2014/main" id="{F735FEB5-A6C1-E808-6317-94EF27DFF27B}"/>
              </a:ext>
            </a:extLst>
          </p:cNvPr>
          <p:cNvSpPr txBox="1"/>
          <p:nvPr/>
        </p:nvSpPr>
        <p:spPr>
          <a:xfrm>
            <a:off x="5167651" y="3523080"/>
            <a:ext cx="4536374" cy="307777"/>
          </a:xfrm>
          <a:prstGeom prst="rect">
            <a:avLst/>
          </a:prstGeom>
          <a:noFill/>
        </p:spPr>
        <p:txBody>
          <a:bodyPr wrap="square" rtlCol="0">
            <a:spAutoFit/>
          </a:bodyPr>
          <a:lstStyle/>
          <a:p>
            <a:r>
              <a:rPr kumimoji="1" lang="ja-JP" altLang="en-US"/>
              <a:t>位相ノイズが存在する信号に対して</a:t>
            </a:r>
          </a:p>
        </p:txBody>
      </p:sp>
      <p:grpSp>
        <p:nvGrpSpPr>
          <p:cNvPr id="70" name="グループ化 69">
            <a:extLst>
              <a:ext uri="{FF2B5EF4-FFF2-40B4-BE49-F238E27FC236}">
                <a16:creationId xmlns:a16="http://schemas.microsoft.com/office/drawing/2014/main" id="{4966CD35-22E0-3AA2-E340-750964D9B5FA}"/>
              </a:ext>
            </a:extLst>
          </p:cNvPr>
          <p:cNvGrpSpPr/>
          <p:nvPr/>
        </p:nvGrpSpPr>
        <p:grpSpPr>
          <a:xfrm>
            <a:off x="5620477" y="5758114"/>
            <a:ext cx="3919641" cy="868917"/>
            <a:chOff x="5669798" y="5316066"/>
            <a:chExt cx="3919641" cy="868917"/>
          </a:xfrm>
        </p:grpSpPr>
        <p:pic>
          <p:nvPicPr>
            <p:cNvPr id="66" name="図 65">
              <a:extLst>
                <a:ext uri="{FF2B5EF4-FFF2-40B4-BE49-F238E27FC236}">
                  <a16:creationId xmlns:a16="http://schemas.microsoft.com/office/drawing/2014/main" id="{299064D2-5B71-6CAE-8C8C-3423B95B475C}"/>
                </a:ext>
              </a:extLst>
            </p:cNvPr>
            <p:cNvPicPr>
              <a:picLocks noChangeAspect="1"/>
            </p:cNvPicPr>
            <p:nvPr/>
          </p:nvPicPr>
          <p:blipFill>
            <a:blip r:embed="rId7"/>
            <a:stretch>
              <a:fillRect/>
            </a:stretch>
          </p:blipFill>
          <p:spPr>
            <a:xfrm>
              <a:off x="5834814" y="5405783"/>
              <a:ext cx="3608918" cy="689483"/>
            </a:xfrm>
            <a:prstGeom prst="rect">
              <a:avLst/>
            </a:prstGeom>
          </p:spPr>
        </p:pic>
        <p:sp>
          <p:nvSpPr>
            <p:cNvPr id="69" name="正方形/長方形 68">
              <a:extLst>
                <a:ext uri="{FF2B5EF4-FFF2-40B4-BE49-F238E27FC236}">
                  <a16:creationId xmlns:a16="http://schemas.microsoft.com/office/drawing/2014/main" id="{B2BA677E-F75E-C29F-40AE-9511BE7542A9}"/>
                </a:ext>
              </a:extLst>
            </p:cNvPr>
            <p:cNvSpPr/>
            <p:nvPr/>
          </p:nvSpPr>
          <p:spPr>
            <a:xfrm>
              <a:off x="5669798" y="5316066"/>
              <a:ext cx="3919641" cy="868917"/>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
        <p:nvSpPr>
          <p:cNvPr id="101" name="テキスト ボックス 100">
            <a:extLst>
              <a:ext uri="{FF2B5EF4-FFF2-40B4-BE49-F238E27FC236}">
                <a16:creationId xmlns:a16="http://schemas.microsoft.com/office/drawing/2014/main" id="{CA2EF888-AF51-42BD-DD14-33F5E4212068}"/>
              </a:ext>
            </a:extLst>
          </p:cNvPr>
          <p:cNvSpPr txBox="1"/>
          <p:nvPr/>
        </p:nvSpPr>
        <p:spPr>
          <a:xfrm>
            <a:off x="2851026" y="5095518"/>
            <a:ext cx="1661592" cy="738664"/>
          </a:xfrm>
          <a:prstGeom prst="rect">
            <a:avLst/>
          </a:prstGeom>
          <a:noFill/>
        </p:spPr>
        <p:txBody>
          <a:bodyPr wrap="square" rtlCol="0">
            <a:spAutoFit/>
          </a:bodyPr>
          <a:lstStyle/>
          <a:p>
            <a:r>
              <a:rPr kumimoji="1" lang="ja-JP" altLang="en-US"/>
              <a:t>この面積が</a:t>
            </a:r>
            <a:endParaRPr kumimoji="1" lang="en-US" altLang="ja-JP" dirty="0"/>
          </a:p>
          <a:p>
            <a:r>
              <a:rPr kumimoji="1" lang="en-US" altLang="ja-JP" dirty="0"/>
              <a:t>f1~f2(Hz)</a:t>
            </a:r>
            <a:r>
              <a:rPr kumimoji="1" lang="ja-JP" altLang="en-US"/>
              <a:t>における位相ノイズの</a:t>
            </a:r>
            <a:r>
              <a:rPr kumimoji="1" lang="en-US" altLang="ja-JP" dirty="0"/>
              <a:t>RMS</a:t>
            </a:r>
            <a:endParaRPr kumimoji="1" lang="ja-JP" altLang="en-US"/>
          </a:p>
        </p:txBody>
      </p:sp>
      <p:pic>
        <p:nvPicPr>
          <p:cNvPr id="4" name="図 3">
            <a:extLst>
              <a:ext uri="{FF2B5EF4-FFF2-40B4-BE49-F238E27FC236}">
                <a16:creationId xmlns:a16="http://schemas.microsoft.com/office/drawing/2014/main" id="{9C195C08-8BEE-1A31-ED96-7CE559B150E4}"/>
              </a:ext>
            </a:extLst>
          </p:cNvPr>
          <p:cNvPicPr>
            <a:picLocks noChangeAspect="1"/>
          </p:cNvPicPr>
          <p:nvPr/>
        </p:nvPicPr>
        <p:blipFill>
          <a:blip r:embed="rId8"/>
          <a:stretch>
            <a:fillRect/>
          </a:stretch>
        </p:blipFill>
        <p:spPr>
          <a:xfrm>
            <a:off x="578826" y="3485080"/>
            <a:ext cx="4282985" cy="467447"/>
          </a:xfrm>
          <a:prstGeom prst="rect">
            <a:avLst/>
          </a:prstGeom>
        </p:spPr>
      </p:pic>
    </p:spTree>
    <p:extLst>
      <p:ext uri="{BB962C8B-B14F-4D97-AF65-F5344CB8AC3E}">
        <p14:creationId xmlns:p14="http://schemas.microsoft.com/office/powerpoint/2010/main" val="4737610"/>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図 21">
            <a:extLst>
              <a:ext uri="{FF2B5EF4-FFF2-40B4-BE49-F238E27FC236}">
                <a16:creationId xmlns:a16="http://schemas.microsoft.com/office/drawing/2014/main" id="{D980A1AB-3658-3153-E902-0F9CEB13C53A}"/>
              </a:ext>
            </a:extLst>
          </p:cNvPr>
          <p:cNvPicPr>
            <a:picLocks noChangeAspect="1"/>
          </p:cNvPicPr>
          <p:nvPr/>
        </p:nvPicPr>
        <p:blipFill>
          <a:blip r:embed="rId4"/>
          <a:stretch>
            <a:fillRect/>
          </a:stretch>
        </p:blipFill>
        <p:spPr>
          <a:xfrm>
            <a:off x="295140" y="-1636156"/>
            <a:ext cx="9340770" cy="12088055"/>
          </a:xfrm>
          <a:prstGeom prst="rect">
            <a:avLst/>
          </a:prstGeom>
        </p:spPr>
      </p:pic>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t>01.</a:t>
            </a:r>
            <a:r>
              <a:rPr kumimoji="1" lang="ja-JP" altLang="en-US" sz="1400" b="1"/>
              <a:t>研究背景</a:t>
            </a:r>
            <a:br>
              <a:rPr kumimoji="1" lang="en-US" altLang="ja-JP" b="1" dirty="0"/>
            </a:br>
            <a:r>
              <a:rPr kumimoji="1" lang="en-US" altLang="ja-JP" b="1" dirty="0"/>
              <a:t>1-2.TCXO</a:t>
            </a:r>
            <a:r>
              <a:rPr kumimoji="1" lang="ja-JP" altLang="en-US" b="1"/>
              <a:t>文献値による位相ノイズ</a:t>
            </a:r>
            <a:r>
              <a:rPr kumimoji="1" lang="en-US" altLang="ja-JP" b="1" dirty="0"/>
              <a:t>(</a:t>
            </a:r>
            <a:r>
              <a:rPr kumimoji="1" lang="ja-JP" altLang="en-US" b="1"/>
              <a:t>ジッタ</a:t>
            </a:r>
            <a:r>
              <a:rPr kumimoji="1" lang="en-US" altLang="ja-JP" b="1" dirty="0"/>
              <a:t>)</a:t>
            </a:r>
            <a:r>
              <a:rPr kumimoji="1" lang="ja-JP" altLang="en-US" b="1"/>
              <a:t>の計算</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4" y="906115"/>
            <a:ext cx="9127246" cy="1195818"/>
          </a:xfrm>
        </p:spPr>
        <p:txBody>
          <a:bodyPr/>
          <a:lstStyle/>
          <a:p>
            <a:r>
              <a:rPr kumimoji="1" lang="en-US" altLang="ja-JP" sz="2000" dirty="0">
                <a:solidFill>
                  <a:schemeClr val="tx1"/>
                </a:solidFill>
              </a:rPr>
              <a:t>TCXO</a:t>
            </a:r>
            <a:r>
              <a:rPr kumimoji="1" lang="ja-JP" altLang="en-US" sz="2000">
                <a:solidFill>
                  <a:schemeClr val="tx1"/>
                </a:solidFill>
              </a:rPr>
              <a:t>の測定値を用いて、</a:t>
            </a:r>
            <a:r>
              <a:rPr kumimoji="1" lang="en-US" altLang="ja-JP" sz="2000" dirty="0">
                <a:solidFill>
                  <a:schemeClr val="tx1"/>
                </a:solidFill>
              </a:rPr>
              <a:t>10^n~10^(n+1)Hz</a:t>
            </a:r>
            <a:r>
              <a:rPr kumimoji="1" lang="ja-JP" altLang="en-US" sz="2000">
                <a:solidFill>
                  <a:schemeClr val="tx1"/>
                </a:solidFill>
              </a:rPr>
              <a:t>で算出した位相ノイズ</a:t>
            </a:r>
            <a:r>
              <a:rPr kumimoji="1" lang="en-US" altLang="ja-JP" sz="2000" dirty="0">
                <a:solidFill>
                  <a:schemeClr val="tx1"/>
                </a:solidFill>
              </a:rPr>
              <a:t>(</a:t>
            </a:r>
            <a:r>
              <a:rPr kumimoji="1" lang="ja-JP" altLang="en-US" sz="2000">
                <a:solidFill>
                  <a:schemeClr val="tx1"/>
                </a:solidFill>
              </a:rPr>
              <a:t>ジッタ</a:t>
            </a:r>
            <a:r>
              <a:rPr kumimoji="1" lang="en-US" altLang="ja-JP" sz="2000" dirty="0">
                <a:solidFill>
                  <a:schemeClr val="tx1"/>
                </a:solidFill>
              </a:rPr>
              <a:t>)</a:t>
            </a:r>
            <a:r>
              <a:rPr kumimoji="1" lang="ja-JP" altLang="en-US" sz="2000">
                <a:solidFill>
                  <a:schemeClr val="tx1"/>
                </a:solidFill>
              </a:rPr>
              <a:t>はぞれぞれ以下の通り。</a:t>
            </a:r>
            <a:endParaRPr kumimoji="1" lang="en-US" altLang="ja-JP" sz="2000" dirty="0">
              <a:solidFill>
                <a:schemeClr val="tx1"/>
              </a:solidFill>
            </a:endParaRPr>
          </a:p>
          <a:p>
            <a:pPr marL="592900" lvl="1" indent="0">
              <a:buNone/>
            </a:pPr>
            <a:endParaRPr kumimoji="1" lang="ja-JP" altLang="en-US" sz="1663">
              <a:solidFill>
                <a:schemeClr val="tx1"/>
              </a:solidFill>
            </a:endParaRPr>
          </a:p>
        </p:txBody>
      </p:sp>
      <p:sp>
        <p:nvSpPr>
          <p:cNvPr id="68" name="テキスト ボックス 67">
            <a:extLst>
              <a:ext uri="{FF2B5EF4-FFF2-40B4-BE49-F238E27FC236}">
                <a16:creationId xmlns:a16="http://schemas.microsoft.com/office/drawing/2014/main" id="{F735FEB5-A6C1-E808-6317-94EF27DFF27B}"/>
              </a:ext>
            </a:extLst>
          </p:cNvPr>
          <p:cNvSpPr txBox="1"/>
          <p:nvPr/>
        </p:nvSpPr>
        <p:spPr>
          <a:xfrm>
            <a:off x="6543326" y="8213614"/>
            <a:ext cx="4536374" cy="307777"/>
          </a:xfrm>
          <a:prstGeom prst="rect">
            <a:avLst/>
          </a:prstGeom>
          <a:noFill/>
        </p:spPr>
        <p:txBody>
          <a:bodyPr wrap="square" rtlCol="0">
            <a:spAutoFit/>
          </a:bodyPr>
          <a:lstStyle/>
          <a:p>
            <a:r>
              <a:rPr kumimoji="1" lang="ja-JP" altLang="en-US"/>
              <a:t>位相ノイズが存在する信号に対して</a:t>
            </a:r>
          </a:p>
        </p:txBody>
      </p:sp>
      <p:cxnSp>
        <p:nvCxnSpPr>
          <p:cNvPr id="27" name="直線コネクタ 26">
            <a:extLst>
              <a:ext uri="{FF2B5EF4-FFF2-40B4-BE49-F238E27FC236}">
                <a16:creationId xmlns:a16="http://schemas.microsoft.com/office/drawing/2014/main" id="{02E06A58-0746-14EE-D902-0C299649B9CF}"/>
              </a:ext>
            </a:extLst>
          </p:cNvPr>
          <p:cNvCxnSpPr>
            <a:cxnSpLocks/>
          </p:cNvCxnSpPr>
          <p:nvPr/>
        </p:nvCxnSpPr>
        <p:spPr>
          <a:xfrm>
            <a:off x="3477492" y="1504024"/>
            <a:ext cx="0" cy="5146158"/>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3E7B8D3B-72BE-EAC6-F922-CBDDA24D1DBA}"/>
              </a:ext>
            </a:extLst>
          </p:cNvPr>
          <p:cNvCxnSpPr>
            <a:cxnSpLocks/>
          </p:cNvCxnSpPr>
          <p:nvPr/>
        </p:nvCxnSpPr>
        <p:spPr>
          <a:xfrm>
            <a:off x="4294910" y="1504024"/>
            <a:ext cx="0" cy="5146158"/>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47A6FD2F-ABAD-8F93-4E25-16517DDFAF10}"/>
              </a:ext>
            </a:extLst>
          </p:cNvPr>
          <p:cNvCxnSpPr>
            <a:cxnSpLocks/>
          </p:cNvCxnSpPr>
          <p:nvPr/>
        </p:nvCxnSpPr>
        <p:spPr>
          <a:xfrm>
            <a:off x="5112329" y="1504024"/>
            <a:ext cx="0" cy="5146158"/>
          </a:xfrm>
          <a:prstGeom prst="line">
            <a:avLst/>
          </a:prstGeom>
          <a:ln w="28575"/>
        </p:spPr>
        <p:style>
          <a:lnRef idx="1">
            <a:schemeClr val="dk1"/>
          </a:lnRef>
          <a:fillRef idx="0">
            <a:schemeClr val="dk1"/>
          </a:fillRef>
          <a:effectRef idx="0">
            <a:schemeClr val="dk1"/>
          </a:effectRef>
          <a:fontRef idx="minor">
            <a:schemeClr val="tx1"/>
          </a:fontRef>
        </p:style>
      </p:cxnSp>
      <p:cxnSp>
        <p:nvCxnSpPr>
          <p:cNvPr id="33" name="直線コネクタ 32">
            <a:extLst>
              <a:ext uri="{FF2B5EF4-FFF2-40B4-BE49-F238E27FC236}">
                <a16:creationId xmlns:a16="http://schemas.microsoft.com/office/drawing/2014/main" id="{81CC3837-5199-82D0-25E7-37BC7ABF1BFF}"/>
              </a:ext>
            </a:extLst>
          </p:cNvPr>
          <p:cNvCxnSpPr>
            <a:cxnSpLocks/>
          </p:cNvCxnSpPr>
          <p:nvPr/>
        </p:nvCxnSpPr>
        <p:spPr>
          <a:xfrm>
            <a:off x="5929747" y="1504024"/>
            <a:ext cx="0" cy="5146158"/>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BA402188-6D5B-0E31-4FAF-E4C0885BD0E9}"/>
              </a:ext>
            </a:extLst>
          </p:cNvPr>
          <p:cNvCxnSpPr>
            <a:cxnSpLocks/>
          </p:cNvCxnSpPr>
          <p:nvPr/>
        </p:nvCxnSpPr>
        <p:spPr>
          <a:xfrm>
            <a:off x="6747165" y="1504024"/>
            <a:ext cx="0" cy="5146158"/>
          </a:xfrm>
          <a:prstGeom prst="line">
            <a:avLst/>
          </a:prstGeom>
          <a:ln w="28575"/>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21E049D5-CBA1-731C-3925-40E00304710C}"/>
              </a:ext>
            </a:extLst>
          </p:cNvPr>
          <p:cNvCxnSpPr/>
          <p:nvPr/>
        </p:nvCxnSpPr>
        <p:spPr>
          <a:xfrm>
            <a:off x="3477492" y="1837678"/>
            <a:ext cx="817418"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1DF8EFA2-0CF3-9DD5-2F55-D0C567FE54E6}"/>
              </a:ext>
            </a:extLst>
          </p:cNvPr>
          <p:cNvCxnSpPr/>
          <p:nvPr/>
        </p:nvCxnSpPr>
        <p:spPr>
          <a:xfrm>
            <a:off x="4294910" y="1837678"/>
            <a:ext cx="817418"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線矢印コネクタ 37">
            <a:extLst>
              <a:ext uri="{FF2B5EF4-FFF2-40B4-BE49-F238E27FC236}">
                <a16:creationId xmlns:a16="http://schemas.microsoft.com/office/drawing/2014/main" id="{EC2C03BB-B1A1-47C0-252F-54DACC94B588}"/>
              </a:ext>
            </a:extLst>
          </p:cNvPr>
          <p:cNvCxnSpPr/>
          <p:nvPr/>
        </p:nvCxnSpPr>
        <p:spPr>
          <a:xfrm>
            <a:off x="5112328" y="1837678"/>
            <a:ext cx="817418"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7E5B4B0F-0AB0-92B2-4D98-85678D41FB91}"/>
              </a:ext>
            </a:extLst>
          </p:cNvPr>
          <p:cNvCxnSpPr/>
          <p:nvPr/>
        </p:nvCxnSpPr>
        <p:spPr>
          <a:xfrm>
            <a:off x="5929747" y="1837678"/>
            <a:ext cx="817418"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FF0673BB-219F-0202-4328-D5F4797F2575}"/>
              </a:ext>
            </a:extLst>
          </p:cNvPr>
          <p:cNvSpPr txBox="1"/>
          <p:nvPr/>
        </p:nvSpPr>
        <p:spPr>
          <a:xfrm>
            <a:off x="3511551" y="1504024"/>
            <a:ext cx="749299" cy="307777"/>
          </a:xfrm>
          <a:prstGeom prst="rect">
            <a:avLst/>
          </a:prstGeom>
          <a:noFill/>
        </p:spPr>
        <p:txBody>
          <a:bodyPr wrap="square" rtlCol="0">
            <a:spAutoFit/>
          </a:bodyPr>
          <a:lstStyle/>
          <a:p>
            <a:pPr algn="ctr"/>
            <a:r>
              <a:rPr kumimoji="1" lang="en-US" altLang="ja-JP" dirty="0"/>
              <a:t>4.5ps</a:t>
            </a:r>
            <a:endParaRPr kumimoji="1" lang="ja-JP" altLang="en-US"/>
          </a:p>
        </p:txBody>
      </p:sp>
      <p:sp>
        <p:nvSpPr>
          <p:cNvPr id="41" name="テキスト ボックス 40">
            <a:extLst>
              <a:ext uri="{FF2B5EF4-FFF2-40B4-BE49-F238E27FC236}">
                <a16:creationId xmlns:a16="http://schemas.microsoft.com/office/drawing/2014/main" id="{C1922765-E40D-BC87-4170-7A3E0DEC7254}"/>
              </a:ext>
            </a:extLst>
          </p:cNvPr>
          <p:cNvSpPr txBox="1"/>
          <p:nvPr/>
        </p:nvSpPr>
        <p:spPr>
          <a:xfrm>
            <a:off x="4328965" y="1504024"/>
            <a:ext cx="749299" cy="307777"/>
          </a:xfrm>
          <a:prstGeom prst="rect">
            <a:avLst/>
          </a:prstGeom>
          <a:noFill/>
        </p:spPr>
        <p:txBody>
          <a:bodyPr wrap="square" rtlCol="0">
            <a:spAutoFit/>
          </a:bodyPr>
          <a:lstStyle/>
          <a:p>
            <a:pPr algn="ctr"/>
            <a:r>
              <a:rPr kumimoji="1" lang="en-US" altLang="ja-JP" dirty="0"/>
              <a:t>0.54ps</a:t>
            </a:r>
            <a:endParaRPr kumimoji="1" lang="ja-JP" altLang="en-US"/>
          </a:p>
        </p:txBody>
      </p:sp>
      <p:sp>
        <p:nvSpPr>
          <p:cNvPr id="42" name="テキスト ボックス 41">
            <a:extLst>
              <a:ext uri="{FF2B5EF4-FFF2-40B4-BE49-F238E27FC236}">
                <a16:creationId xmlns:a16="http://schemas.microsoft.com/office/drawing/2014/main" id="{2949557C-7004-DCCF-000D-2D5FCDA0A187}"/>
              </a:ext>
            </a:extLst>
          </p:cNvPr>
          <p:cNvSpPr txBox="1"/>
          <p:nvPr/>
        </p:nvSpPr>
        <p:spPr>
          <a:xfrm>
            <a:off x="5146379" y="1504024"/>
            <a:ext cx="749299" cy="307777"/>
          </a:xfrm>
          <a:prstGeom prst="rect">
            <a:avLst/>
          </a:prstGeom>
          <a:noFill/>
        </p:spPr>
        <p:txBody>
          <a:bodyPr wrap="square" rtlCol="0">
            <a:spAutoFit/>
          </a:bodyPr>
          <a:lstStyle/>
          <a:p>
            <a:pPr algn="ctr"/>
            <a:r>
              <a:rPr kumimoji="1" lang="en-US" altLang="ja-JP" dirty="0"/>
              <a:t>98fs</a:t>
            </a:r>
            <a:endParaRPr kumimoji="1" lang="ja-JP" altLang="en-US"/>
          </a:p>
        </p:txBody>
      </p:sp>
      <p:sp>
        <p:nvSpPr>
          <p:cNvPr id="43" name="テキスト ボックス 42">
            <a:extLst>
              <a:ext uri="{FF2B5EF4-FFF2-40B4-BE49-F238E27FC236}">
                <a16:creationId xmlns:a16="http://schemas.microsoft.com/office/drawing/2014/main" id="{82D5FADC-DA02-6094-E9C0-7B45C35C9762}"/>
              </a:ext>
            </a:extLst>
          </p:cNvPr>
          <p:cNvSpPr txBox="1"/>
          <p:nvPr/>
        </p:nvSpPr>
        <p:spPr>
          <a:xfrm>
            <a:off x="5963806" y="1504024"/>
            <a:ext cx="749299" cy="307777"/>
          </a:xfrm>
          <a:prstGeom prst="rect">
            <a:avLst/>
          </a:prstGeom>
          <a:noFill/>
        </p:spPr>
        <p:txBody>
          <a:bodyPr wrap="square" rtlCol="0">
            <a:spAutoFit/>
          </a:bodyPr>
          <a:lstStyle/>
          <a:p>
            <a:pPr algn="ctr"/>
            <a:r>
              <a:rPr kumimoji="1" lang="en-US" altLang="ja-JP" dirty="0"/>
              <a:t>34fs</a:t>
            </a:r>
            <a:endParaRPr kumimoji="1" lang="ja-JP" altLang="en-US"/>
          </a:p>
        </p:txBody>
      </p:sp>
      <p:cxnSp>
        <p:nvCxnSpPr>
          <p:cNvPr id="45" name="直線コネクタ 44">
            <a:extLst>
              <a:ext uri="{FF2B5EF4-FFF2-40B4-BE49-F238E27FC236}">
                <a16:creationId xmlns:a16="http://schemas.microsoft.com/office/drawing/2014/main" id="{A48DCE99-6CAB-5A1A-BA9C-A150D148758A}"/>
              </a:ext>
            </a:extLst>
          </p:cNvPr>
          <p:cNvCxnSpPr>
            <a:cxnSpLocks/>
          </p:cNvCxnSpPr>
          <p:nvPr/>
        </p:nvCxnSpPr>
        <p:spPr>
          <a:xfrm>
            <a:off x="2677103" y="2782956"/>
            <a:ext cx="766331" cy="571500"/>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48" name="テキスト ボックス 47">
            <a:extLst>
              <a:ext uri="{FF2B5EF4-FFF2-40B4-BE49-F238E27FC236}">
                <a16:creationId xmlns:a16="http://schemas.microsoft.com/office/drawing/2014/main" id="{B228C741-8B86-3A93-06E4-39C3AD17270D}"/>
              </a:ext>
            </a:extLst>
          </p:cNvPr>
          <p:cNvSpPr txBox="1"/>
          <p:nvPr/>
        </p:nvSpPr>
        <p:spPr>
          <a:xfrm>
            <a:off x="2652653" y="1504023"/>
            <a:ext cx="749299" cy="307777"/>
          </a:xfrm>
          <a:prstGeom prst="rect">
            <a:avLst/>
          </a:prstGeom>
          <a:noFill/>
        </p:spPr>
        <p:txBody>
          <a:bodyPr wrap="square" rtlCol="0">
            <a:spAutoFit/>
          </a:bodyPr>
          <a:lstStyle/>
          <a:p>
            <a:pPr algn="ctr"/>
            <a:r>
              <a:rPr kumimoji="1" lang="en-US" altLang="ja-JP" dirty="0">
                <a:solidFill>
                  <a:schemeClr val="accent2"/>
                </a:solidFill>
              </a:rPr>
              <a:t>45ps</a:t>
            </a:r>
            <a:endParaRPr kumimoji="1" lang="ja-JP" altLang="en-US">
              <a:solidFill>
                <a:schemeClr val="accent2"/>
              </a:solidFill>
            </a:endParaRPr>
          </a:p>
        </p:txBody>
      </p:sp>
      <p:cxnSp>
        <p:nvCxnSpPr>
          <p:cNvPr id="51" name="直線矢印コネクタ 50">
            <a:extLst>
              <a:ext uri="{FF2B5EF4-FFF2-40B4-BE49-F238E27FC236}">
                <a16:creationId xmlns:a16="http://schemas.microsoft.com/office/drawing/2014/main" id="{DE093610-3467-1475-69DF-6882DC4D7E25}"/>
              </a:ext>
            </a:extLst>
          </p:cNvPr>
          <p:cNvCxnSpPr/>
          <p:nvPr/>
        </p:nvCxnSpPr>
        <p:spPr>
          <a:xfrm>
            <a:off x="2660074" y="1844490"/>
            <a:ext cx="817418" cy="0"/>
          </a:xfrm>
          <a:prstGeom prst="straightConnector1">
            <a:avLst/>
          </a:prstGeom>
          <a:ln w="28575">
            <a:solidFill>
              <a:schemeClr val="accent2"/>
            </a:solidFill>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2170600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t>01.</a:t>
            </a:r>
            <a:r>
              <a:rPr kumimoji="1" lang="ja-JP" altLang="en-US" sz="1400" b="1"/>
              <a:t>研究背景</a:t>
            </a:r>
            <a:br>
              <a:rPr kumimoji="1" lang="en-US" altLang="ja-JP" b="1" dirty="0"/>
            </a:br>
            <a:r>
              <a:rPr kumimoji="1" lang="en-US" altLang="ja-JP" b="1" dirty="0"/>
              <a:t>1-3.</a:t>
            </a:r>
            <a:r>
              <a:rPr kumimoji="1" lang="ja-JP" altLang="en-US" b="1"/>
              <a:t>先行研究</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5" y="906115"/>
            <a:ext cx="9284779" cy="628322"/>
          </a:xfrm>
        </p:spPr>
        <p:txBody>
          <a:bodyPr/>
          <a:lstStyle/>
          <a:p>
            <a:r>
              <a:rPr kumimoji="1" lang="ja-JP" altLang="en-US" sz="1800">
                <a:solidFill>
                  <a:schemeClr val="tx1"/>
                </a:solidFill>
              </a:rPr>
              <a:t>従来不可能であった、キャリア周波数がオーディオ領域の位相ノイズ</a:t>
            </a:r>
            <a:r>
              <a:rPr kumimoji="1" lang="en-US" altLang="ja-JP" sz="1800" dirty="0">
                <a:solidFill>
                  <a:schemeClr val="tx1"/>
                </a:solidFill>
              </a:rPr>
              <a:t>(</a:t>
            </a:r>
            <a:r>
              <a:rPr kumimoji="1" lang="ja-JP" altLang="en-US" sz="1800">
                <a:solidFill>
                  <a:schemeClr val="tx1"/>
                </a:solidFill>
              </a:rPr>
              <a:t>ジッタ</a:t>
            </a:r>
            <a:r>
              <a:rPr kumimoji="1" lang="en-US" altLang="ja-JP" sz="1800" dirty="0">
                <a:solidFill>
                  <a:schemeClr val="tx1"/>
                </a:solidFill>
              </a:rPr>
              <a:t>)</a:t>
            </a:r>
            <a:r>
              <a:rPr kumimoji="1" lang="ja-JP" altLang="en-US" sz="1800">
                <a:solidFill>
                  <a:schemeClr val="tx1"/>
                </a:solidFill>
              </a:rPr>
              <a:t>測定が、最近所属研究室で開発された手法により可能になった。</a:t>
            </a:r>
          </a:p>
        </p:txBody>
      </p:sp>
      <p:sp>
        <p:nvSpPr>
          <p:cNvPr id="4" name="正方形/長方形 3">
            <a:extLst>
              <a:ext uri="{FF2B5EF4-FFF2-40B4-BE49-F238E27FC236}">
                <a16:creationId xmlns:a16="http://schemas.microsoft.com/office/drawing/2014/main" id="{EF102A7D-1946-E77D-5089-D2E5563E6B12}"/>
              </a:ext>
            </a:extLst>
          </p:cNvPr>
          <p:cNvSpPr/>
          <p:nvPr/>
        </p:nvSpPr>
        <p:spPr>
          <a:xfrm>
            <a:off x="392877" y="4018329"/>
            <a:ext cx="2095479" cy="628322"/>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en-US" altLang="ja-JP" sz="1600" dirty="0"/>
              <a:t>ZCA</a:t>
            </a:r>
          </a:p>
          <a:p>
            <a:pPr algn="ctr"/>
            <a:r>
              <a:rPr kumimoji="1" lang="en-US" altLang="ja-JP" dirty="0"/>
              <a:t>(Zero Cross Analysis)</a:t>
            </a:r>
          </a:p>
        </p:txBody>
      </p:sp>
      <p:sp>
        <p:nvSpPr>
          <p:cNvPr id="5" name="正方形/長方形 4">
            <a:extLst>
              <a:ext uri="{FF2B5EF4-FFF2-40B4-BE49-F238E27FC236}">
                <a16:creationId xmlns:a16="http://schemas.microsoft.com/office/drawing/2014/main" id="{0585DAD6-A6D4-5D44-ABC5-A97F261D2992}"/>
              </a:ext>
            </a:extLst>
          </p:cNvPr>
          <p:cNvSpPr/>
          <p:nvPr/>
        </p:nvSpPr>
        <p:spPr>
          <a:xfrm>
            <a:off x="392877" y="4741288"/>
            <a:ext cx="2095479" cy="628322"/>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en-US" altLang="ja-JP" sz="1600" dirty="0"/>
              <a:t>Audio</a:t>
            </a:r>
          </a:p>
          <a:p>
            <a:pPr algn="ctr"/>
            <a:r>
              <a:rPr kumimoji="1" lang="en-US" altLang="ja-JP" sz="1600" dirty="0"/>
              <a:t>Recorder</a:t>
            </a:r>
            <a:endParaRPr kumimoji="1" lang="ja-JP" altLang="en-US" sz="1600"/>
          </a:p>
        </p:txBody>
      </p:sp>
      <p:sp>
        <p:nvSpPr>
          <p:cNvPr id="6" name="正方形/長方形 5">
            <a:extLst>
              <a:ext uri="{FF2B5EF4-FFF2-40B4-BE49-F238E27FC236}">
                <a16:creationId xmlns:a16="http://schemas.microsoft.com/office/drawing/2014/main" id="{8557174B-9E49-D81E-7025-C8DB4761ABB1}"/>
              </a:ext>
            </a:extLst>
          </p:cNvPr>
          <p:cNvSpPr/>
          <p:nvPr/>
        </p:nvSpPr>
        <p:spPr>
          <a:xfrm>
            <a:off x="392877" y="5462882"/>
            <a:ext cx="2095479" cy="624701"/>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en-US" altLang="ja-JP" sz="1600" dirty="0"/>
              <a:t>DRS</a:t>
            </a:r>
          </a:p>
          <a:p>
            <a:pPr algn="ctr"/>
            <a:r>
              <a:rPr kumimoji="1" lang="en-US" altLang="ja-JP" sz="1200" dirty="0"/>
              <a:t>(Double Recorder Setup)</a:t>
            </a:r>
          </a:p>
        </p:txBody>
      </p:sp>
      <p:sp>
        <p:nvSpPr>
          <p:cNvPr id="7" name="正方形/長方形 6">
            <a:extLst>
              <a:ext uri="{FF2B5EF4-FFF2-40B4-BE49-F238E27FC236}">
                <a16:creationId xmlns:a16="http://schemas.microsoft.com/office/drawing/2014/main" id="{3D74B8EE-E928-B3F9-FE36-313146646391}"/>
              </a:ext>
            </a:extLst>
          </p:cNvPr>
          <p:cNvSpPr/>
          <p:nvPr/>
        </p:nvSpPr>
        <p:spPr>
          <a:xfrm>
            <a:off x="2883645" y="4023615"/>
            <a:ext cx="2490937" cy="642325"/>
          </a:xfrm>
          <a:prstGeom prst="rect">
            <a:avLst/>
          </a:prstGeom>
          <a:solidFill>
            <a:schemeClr val="bg1">
              <a:lumMod val="95000"/>
            </a:schemeClr>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FDA</a:t>
            </a:r>
            <a:r>
              <a:rPr kumimoji="1" lang="ja-JP" altLang="en-US" sz="1600">
                <a:solidFill>
                  <a:schemeClr val="tx1"/>
                </a:solidFill>
              </a:rPr>
              <a:t>では困難な</a:t>
            </a:r>
            <a:endParaRPr kumimoji="1" lang="en-US" altLang="ja-JP" sz="1600" dirty="0">
              <a:solidFill>
                <a:schemeClr val="tx1"/>
              </a:solidFill>
            </a:endParaRPr>
          </a:p>
          <a:p>
            <a:pPr algn="ctr"/>
            <a:r>
              <a:rPr kumimoji="1" lang="ja-JP" altLang="en-US" sz="1600">
                <a:solidFill>
                  <a:schemeClr val="tx1"/>
                </a:solidFill>
              </a:rPr>
              <a:t>時間軸上の</a:t>
            </a:r>
            <a:endParaRPr kumimoji="1" lang="en-US" altLang="ja-JP" sz="1600" dirty="0">
              <a:solidFill>
                <a:schemeClr val="tx1"/>
              </a:solidFill>
            </a:endParaRPr>
          </a:p>
          <a:p>
            <a:pPr algn="ctr"/>
            <a:r>
              <a:rPr kumimoji="1" lang="ja-JP" altLang="en-US" sz="1600">
                <a:solidFill>
                  <a:schemeClr val="tx1"/>
                </a:solidFill>
              </a:rPr>
              <a:t>位相ノイズ測定が可能</a:t>
            </a:r>
            <a:endParaRPr kumimoji="1" lang="en-US" altLang="ja-JP" sz="1600" dirty="0">
              <a:solidFill>
                <a:schemeClr val="tx1"/>
              </a:solidFill>
            </a:endParaRPr>
          </a:p>
        </p:txBody>
      </p:sp>
      <p:sp>
        <p:nvSpPr>
          <p:cNvPr id="14" name="正方形/長方形 13">
            <a:extLst>
              <a:ext uri="{FF2B5EF4-FFF2-40B4-BE49-F238E27FC236}">
                <a16:creationId xmlns:a16="http://schemas.microsoft.com/office/drawing/2014/main" id="{D97DD216-8870-3BD1-FCF6-4992D20BCE2D}"/>
              </a:ext>
            </a:extLst>
          </p:cNvPr>
          <p:cNvSpPr/>
          <p:nvPr/>
        </p:nvSpPr>
        <p:spPr>
          <a:xfrm>
            <a:off x="12385659" y="7612001"/>
            <a:ext cx="783067" cy="461665"/>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ja-JP" altLang="en-US">
              <a:solidFill>
                <a:schemeClr val="tx1"/>
              </a:solidFill>
              <a:latin typeface="+mj-lt"/>
            </a:endParaRPr>
          </a:p>
        </p:txBody>
      </p:sp>
      <p:grpSp>
        <p:nvGrpSpPr>
          <p:cNvPr id="42" name="グループ化 41">
            <a:extLst>
              <a:ext uri="{FF2B5EF4-FFF2-40B4-BE49-F238E27FC236}">
                <a16:creationId xmlns:a16="http://schemas.microsoft.com/office/drawing/2014/main" id="{D9A00A9A-B138-E6D9-A541-D8F9C534C72E}"/>
              </a:ext>
            </a:extLst>
          </p:cNvPr>
          <p:cNvGrpSpPr/>
          <p:nvPr/>
        </p:nvGrpSpPr>
        <p:grpSpPr>
          <a:xfrm>
            <a:off x="9982559" y="8110161"/>
            <a:ext cx="620640" cy="629471"/>
            <a:chOff x="5104655" y="3573559"/>
            <a:chExt cx="620640" cy="629471"/>
          </a:xfrm>
        </p:grpSpPr>
        <p:sp>
          <p:nvSpPr>
            <p:cNvPr id="20" name="円/楕円 19">
              <a:extLst>
                <a:ext uri="{FF2B5EF4-FFF2-40B4-BE49-F238E27FC236}">
                  <a16:creationId xmlns:a16="http://schemas.microsoft.com/office/drawing/2014/main" id="{27F53A49-FB2D-7793-8EB3-D6FB29E77A76}"/>
                </a:ext>
              </a:extLst>
            </p:cNvPr>
            <p:cNvSpPr/>
            <p:nvPr/>
          </p:nvSpPr>
          <p:spPr>
            <a:xfrm>
              <a:off x="5104655" y="3573559"/>
              <a:ext cx="620640" cy="62947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リーフォーム 21">
              <a:extLst>
                <a:ext uri="{FF2B5EF4-FFF2-40B4-BE49-F238E27FC236}">
                  <a16:creationId xmlns:a16="http://schemas.microsoft.com/office/drawing/2014/main" id="{B09CBF90-108B-C678-26C3-ADEC0E652EED}"/>
                </a:ext>
              </a:extLst>
            </p:cNvPr>
            <p:cNvSpPr/>
            <p:nvPr/>
          </p:nvSpPr>
          <p:spPr>
            <a:xfrm>
              <a:off x="5243038" y="3696499"/>
              <a:ext cx="343875" cy="383590"/>
            </a:xfrm>
            <a:custGeom>
              <a:avLst/>
              <a:gdLst>
                <a:gd name="connsiteX0" fmla="*/ 0 w 396240"/>
                <a:gd name="connsiteY0" fmla="*/ 213403 h 442003"/>
                <a:gd name="connsiteX1" fmla="*/ 76200 w 396240"/>
                <a:gd name="connsiteY1" fmla="*/ 43 h 442003"/>
                <a:gd name="connsiteX2" fmla="*/ 167640 w 396240"/>
                <a:gd name="connsiteY2" fmla="*/ 228643 h 442003"/>
                <a:gd name="connsiteX3" fmla="*/ 289560 w 396240"/>
                <a:gd name="connsiteY3" fmla="*/ 442003 h 442003"/>
                <a:gd name="connsiteX4" fmla="*/ 396240 w 396240"/>
                <a:gd name="connsiteY4" fmla="*/ 228643 h 442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 h="442003">
                  <a:moveTo>
                    <a:pt x="0" y="213403"/>
                  </a:moveTo>
                  <a:cubicBezTo>
                    <a:pt x="24130" y="105453"/>
                    <a:pt x="48260" y="-2497"/>
                    <a:pt x="76200" y="43"/>
                  </a:cubicBezTo>
                  <a:cubicBezTo>
                    <a:pt x="104140" y="2583"/>
                    <a:pt x="132080" y="154983"/>
                    <a:pt x="167640" y="228643"/>
                  </a:cubicBezTo>
                  <a:cubicBezTo>
                    <a:pt x="203200" y="302303"/>
                    <a:pt x="251460" y="442003"/>
                    <a:pt x="289560" y="442003"/>
                  </a:cubicBezTo>
                  <a:cubicBezTo>
                    <a:pt x="327660" y="442003"/>
                    <a:pt x="386080" y="243883"/>
                    <a:pt x="396240" y="2286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三角形 10">
            <a:extLst>
              <a:ext uri="{FF2B5EF4-FFF2-40B4-BE49-F238E27FC236}">
                <a16:creationId xmlns:a16="http://schemas.microsoft.com/office/drawing/2014/main" id="{D60293CD-B28A-0A43-A02F-D51BF8112049}"/>
              </a:ext>
            </a:extLst>
          </p:cNvPr>
          <p:cNvSpPr/>
          <p:nvPr/>
        </p:nvSpPr>
        <p:spPr>
          <a:xfrm rot="5400000">
            <a:off x="2372164" y="4232636"/>
            <a:ext cx="629200" cy="2005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5350AA8-4B3A-7A71-1D6D-73B3AC76E9BA}"/>
              </a:ext>
            </a:extLst>
          </p:cNvPr>
          <p:cNvSpPr/>
          <p:nvPr/>
        </p:nvSpPr>
        <p:spPr>
          <a:xfrm>
            <a:off x="2861427" y="4741288"/>
            <a:ext cx="2513155" cy="628322"/>
          </a:xfrm>
          <a:prstGeom prst="rect">
            <a:avLst/>
          </a:prstGeom>
          <a:solidFill>
            <a:schemeClr val="bg1">
              <a:lumMod val="95000"/>
            </a:schemeClr>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rPr>
              <a:t>下限</a:t>
            </a:r>
            <a:r>
              <a:rPr kumimoji="1" lang="en-US" altLang="ja-JP" sz="1600" dirty="0">
                <a:solidFill>
                  <a:schemeClr val="tx1"/>
                </a:solidFill>
              </a:rPr>
              <a:t>1Hz</a:t>
            </a:r>
            <a:r>
              <a:rPr kumimoji="1" lang="ja-JP" altLang="en-US" sz="1600">
                <a:solidFill>
                  <a:schemeClr val="tx1"/>
                </a:solidFill>
              </a:rPr>
              <a:t>以下での</a:t>
            </a:r>
            <a:endParaRPr kumimoji="1" lang="en-US" altLang="ja-JP" sz="1600" dirty="0">
              <a:solidFill>
                <a:schemeClr val="tx1"/>
              </a:solidFill>
            </a:endParaRPr>
          </a:p>
          <a:p>
            <a:pPr algn="ctr"/>
            <a:r>
              <a:rPr kumimoji="1" lang="ja-JP" altLang="en-US" sz="1600">
                <a:solidFill>
                  <a:schemeClr val="tx1"/>
                </a:solidFill>
              </a:rPr>
              <a:t>測定が可能</a:t>
            </a:r>
            <a:endParaRPr kumimoji="1" lang="en-US" altLang="ja-JP" sz="1600" dirty="0">
              <a:solidFill>
                <a:schemeClr val="tx1"/>
              </a:solidFill>
            </a:endParaRPr>
          </a:p>
        </p:txBody>
      </p:sp>
      <p:sp>
        <p:nvSpPr>
          <p:cNvPr id="15" name="正方形/長方形 14">
            <a:extLst>
              <a:ext uri="{FF2B5EF4-FFF2-40B4-BE49-F238E27FC236}">
                <a16:creationId xmlns:a16="http://schemas.microsoft.com/office/drawing/2014/main" id="{BA1B12E4-76A5-502F-8CF3-F0673925AD2F}"/>
              </a:ext>
            </a:extLst>
          </p:cNvPr>
          <p:cNvSpPr/>
          <p:nvPr/>
        </p:nvSpPr>
        <p:spPr>
          <a:xfrm>
            <a:off x="2861427" y="5466196"/>
            <a:ext cx="2513155" cy="621387"/>
          </a:xfrm>
          <a:prstGeom prst="rect">
            <a:avLst/>
          </a:prstGeom>
          <a:solidFill>
            <a:schemeClr val="bg1">
              <a:lumMod val="95000"/>
            </a:schemeClr>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Player</a:t>
            </a:r>
            <a:r>
              <a:rPr kumimoji="1" lang="ja-JP" altLang="en-US" sz="1600">
                <a:solidFill>
                  <a:schemeClr val="tx1"/>
                </a:solidFill>
              </a:rPr>
              <a:t>と</a:t>
            </a:r>
            <a:r>
              <a:rPr kumimoji="1" lang="en-US" altLang="ja-JP" sz="1600" dirty="0">
                <a:solidFill>
                  <a:schemeClr val="tx1"/>
                </a:solidFill>
              </a:rPr>
              <a:t>Recorder</a:t>
            </a:r>
            <a:r>
              <a:rPr kumimoji="1" lang="ja-JP" altLang="en-US" sz="1600">
                <a:solidFill>
                  <a:schemeClr val="tx1"/>
                </a:solidFill>
              </a:rPr>
              <a:t>の</a:t>
            </a:r>
            <a:endParaRPr kumimoji="1" lang="en-US" altLang="ja-JP" sz="1600" dirty="0">
              <a:solidFill>
                <a:schemeClr val="tx1"/>
              </a:solidFill>
            </a:endParaRPr>
          </a:p>
          <a:p>
            <a:pPr algn="ctr"/>
            <a:r>
              <a:rPr kumimoji="1" lang="ja-JP" altLang="en-US" sz="1600">
                <a:solidFill>
                  <a:schemeClr val="tx1"/>
                </a:solidFill>
              </a:rPr>
              <a:t>ジッタを分離可能</a:t>
            </a:r>
            <a:endParaRPr kumimoji="1" lang="en-US" altLang="ja-JP" sz="1600" dirty="0">
              <a:solidFill>
                <a:schemeClr val="tx1"/>
              </a:solidFill>
            </a:endParaRPr>
          </a:p>
        </p:txBody>
      </p:sp>
      <p:grpSp>
        <p:nvGrpSpPr>
          <p:cNvPr id="23" name="グループ化 22">
            <a:extLst>
              <a:ext uri="{FF2B5EF4-FFF2-40B4-BE49-F238E27FC236}">
                <a16:creationId xmlns:a16="http://schemas.microsoft.com/office/drawing/2014/main" id="{DA6E9876-2874-09BC-A58E-8270EF485D9D}"/>
              </a:ext>
            </a:extLst>
          </p:cNvPr>
          <p:cNvGrpSpPr/>
          <p:nvPr/>
        </p:nvGrpSpPr>
        <p:grpSpPr>
          <a:xfrm>
            <a:off x="11096573" y="7612011"/>
            <a:ext cx="863280" cy="461655"/>
            <a:chOff x="7028781" y="3657462"/>
            <a:chExt cx="863280" cy="461655"/>
          </a:xfrm>
        </p:grpSpPr>
        <p:sp>
          <p:nvSpPr>
            <p:cNvPr id="18" name="ホームベース 17">
              <a:extLst>
                <a:ext uri="{FF2B5EF4-FFF2-40B4-BE49-F238E27FC236}">
                  <a16:creationId xmlns:a16="http://schemas.microsoft.com/office/drawing/2014/main" id="{221D71DD-FB57-22B4-1055-B85C3F603C71}"/>
                </a:ext>
              </a:extLst>
            </p:cNvPr>
            <p:cNvSpPr/>
            <p:nvPr/>
          </p:nvSpPr>
          <p:spPr>
            <a:xfrm rot="10800000">
              <a:off x="7028781" y="3657462"/>
              <a:ext cx="863280" cy="461655"/>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21" name="テキスト ボックス 20">
              <a:extLst>
                <a:ext uri="{FF2B5EF4-FFF2-40B4-BE49-F238E27FC236}">
                  <a16:creationId xmlns:a16="http://schemas.microsoft.com/office/drawing/2014/main" id="{08ACACA0-6197-1EB3-84BF-546EBBC450CF}"/>
                </a:ext>
              </a:extLst>
            </p:cNvPr>
            <p:cNvSpPr txBox="1"/>
            <p:nvPr/>
          </p:nvSpPr>
          <p:spPr>
            <a:xfrm>
              <a:off x="7236788" y="3741312"/>
              <a:ext cx="564578" cy="307777"/>
            </a:xfrm>
            <a:prstGeom prst="rect">
              <a:avLst/>
            </a:prstGeom>
            <a:noFill/>
          </p:spPr>
          <p:txBody>
            <a:bodyPr wrap="none" rtlCol="0">
              <a:spAutoFit/>
            </a:bodyPr>
            <a:lstStyle/>
            <a:p>
              <a:r>
                <a:rPr kumimoji="1" lang="en-US" altLang="ja-JP" dirty="0"/>
                <a:t>ADC</a:t>
              </a:r>
              <a:endParaRPr kumimoji="1" lang="ja-JP" altLang="en-US"/>
            </a:p>
          </p:txBody>
        </p:sp>
      </p:grpSp>
      <p:sp>
        <p:nvSpPr>
          <p:cNvPr id="25" name="正方形/長方形 24">
            <a:extLst>
              <a:ext uri="{FF2B5EF4-FFF2-40B4-BE49-F238E27FC236}">
                <a16:creationId xmlns:a16="http://schemas.microsoft.com/office/drawing/2014/main" id="{C42D62E2-4AEE-7DB3-4D4C-C9B475620739}"/>
              </a:ext>
            </a:extLst>
          </p:cNvPr>
          <p:cNvSpPr/>
          <p:nvPr/>
        </p:nvSpPr>
        <p:spPr>
          <a:xfrm>
            <a:off x="13593141" y="7612001"/>
            <a:ext cx="783067" cy="1635459"/>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en-US" altLang="ja-JP" dirty="0">
              <a:solidFill>
                <a:schemeClr val="tx1"/>
              </a:solidFill>
              <a:latin typeface="+mj-lt"/>
            </a:endParaRPr>
          </a:p>
          <a:p>
            <a:pPr algn="ctr"/>
            <a:r>
              <a:rPr kumimoji="1" lang="en-US" altLang="ja-JP" dirty="0">
                <a:solidFill>
                  <a:schemeClr val="tx1"/>
                </a:solidFill>
                <a:latin typeface="+mj-lt"/>
              </a:rPr>
              <a:t>with</a:t>
            </a:r>
          </a:p>
          <a:p>
            <a:pPr algn="ctr"/>
            <a:r>
              <a:rPr kumimoji="1" lang="en-US" altLang="ja-JP" dirty="0">
                <a:solidFill>
                  <a:schemeClr val="tx1"/>
                </a:solidFill>
                <a:latin typeface="+mj-lt"/>
              </a:rPr>
              <a:t>DRS</a:t>
            </a:r>
          </a:p>
        </p:txBody>
      </p:sp>
      <p:grpSp>
        <p:nvGrpSpPr>
          <p:cNvPr id="26" name="グループ化 25">
            <a:extLst>
              <a:ext uri="{FF2B5EF4-FFF2-40B4-BE49-F238E27FC236}">
                <a16:creationId xmlns:a16="http://schemas.microsoft.com/office/drawing/2014/main" id="{1300B619-7A32-F823-5591-688B724D2D2E}"/>
              </a:ext>
            </a:extLst>
          </p:cNvPr>
          <p:cNvGrpSpPr/>
          <p:nvPr/>
        </p:nvGrpSpPr>
        <p:grpSpPr>
          <a:xfrm>
            <a:off x="11096574" y="8785820"/>
            <a:ext cx="863280" cy="461655"/>
            <a:chOff x="7028781" y="3657462"/>
            <a:chExt cx="863280" cy="461655"/>
          </a:xfrm>
        </p:grpSpPr>
        <p:sp>
          <p:nvSpPr>
            <p:cNvPr id="27" name="ホームベース 26">
              <a:extLst>
                <a:ext uri="{FF2B5EF4-FFF2-40B4-BE49-F238E27FC236}">
                  <a16:creationId xmlns:a16="http://schemas.microsoft.com/office/drawing/2014/main" id="{A7CE8326-2268-26FC-CE2D-4A55D498D011}"/>
                </a:ext>
              </a:extLst>
            </p:cNvPr>
            <p:cNvSpPr/>
            <p:nvPr/>
          </p:nvSpPr>
          <p:spPr>
            <a:xfrm rot="10800000">
              <a:off x="7028781" y="3657462"/>
              <a:ext cx="863280" cy="461655"/>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28" name="テキスト ボックス 27">
              <a:extLst>
                <a:ext uri="{FF2B5EF4-FFF2-40B4-BE49-F238E27FC236}">
                  <a16:creationId xmlns:a16="http://schemas.microsoft.com/office/drawing/2014/main" id="{21B247A0-55A4-B689-89F4-A36A504D4B67}"/>
                </a:ext>
              </a:extLst>
            </p:cNvPr>
            <p:cNvSpPr txBox="1"/>
            <p:nvPr/>
          </p:nvSpPr>
          <p:spPr>
            <a:xfrm>
              <a:off x="7236788" y="3741312"/>
              <a:ext cx="564578" cy="307777"/>
            </a:xfrm>
            <a:prstGeom prst="rect">
              <a:avLst/>
            </a:prstGeom>
            <a:noFill/>
          </p:spPr>
          <p:txBody>
            <a:bodyPr wrap="none" rtlCol="0">
              <a:spAutoFit/>
            </a:bodyPr>
            <a:lstStyle/>
            <a:p>
              <a:r>
                <a:rPr kumimoji="1" lang="en-US" altLang="ja-JP" dirty="0"/>
                <a:t>ADC</a:t>
              </a:r>
              <a:endParaRPr kumimoji="1" lang="ja-JP" altLang="en-US"/>
            </a:p>
          </p:txBody>
        </p:sp>
      </p:grpSp>
      <p:sp>
        <p:nvSpPr>
          <p:cNvPr id="29" name="正方形/長方形 28">
            <a:extLst>
              <a:ext uri="{FF2B5EF4-FFF2-40B4-BE49-F238E27FC236}">
                <a16:creationId xmlns:a16="http://schemas.microsoft.com/office/drawing/2014/main" id="{CF1CF730-D1A5-E053-352C-1734A3843EF3}"/>
              </a:ext>
            </a:extLst>
          </p:cNvPr>
          <p:cNvSpPr/>
          <p:nvPr/>
        </p:nvSpPr>
        <p:spPr>
          <a:xfrm>
            <a:off x="12384964" y="8785811"/>
            <a:ext cx="783067" cy="461665"/>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ja-JP" altLang="en-US">
              <a:solidFill>
                <a:schemeClr val="tx1"/>
              </a:solidFill>
              <a:latin typeface="+mj-lt"/>
            </a:endParaRPr>
          </a:p>
        </p:txBody>
      </p:sp>
      <p:cxnSp>
        <p:nvCxnSpPr>
          <p:cNvPr id="35" name="カギ線コネクタ 34">
            <a:extLst>
              <a:ext uri="{FF2B5EF4-FFF2-40B4-BE49-F238E27FC236}">
                <a16:creationId xmlns:a16="http://schemas.microsoft.com/office/drawing/2014/main" id="{C23F1D86-FA58-4E66-8E34-12EDF3AABE6A}"/>
              </a:ext>
            </a:extLst>
          </p:cNvPr>
          <p:cNvCxnSpPr>
            <a:stCxn id="20" idx="6"/>
            <a:endCxn id="27" idx="3"/>
          </p:cNvCxnSpPr>
          <p:nvPr/>
        </p:nvCxnSpPr>
        <p:spPr>
          <a:xfrm>
            <a:off x="10603199" y="8424897"/>
            <a:ext cx="493375" cy="591750"/>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36" name="カギ線コネクタ 35">
            <a:extLst>
              <a:ext uri="{FF2B5EF4-FFF2-40B4-BE49-F238E27FC236}">
                <a16:creationId xmlns:a16="http://schemas.microsoft.com/office/drawing/2014/main" id="{4409A549-765D-97F2-F4A3-BD6767CC604B}"/>
              </a:ext>
            </a:extLst>
          </p:cNvPr>
          <p:cNvCxnSpPr>
            <a:cxnSpLocks/>
            <a:stCxn id="20" idx="6"/>
            <a:endCxn id="18" idx="3"/>
          </p:cNvCxnSpPr>
          <p:nvPr/>
        </p:nvCxnSpPr>
        <p:spPr>
          <a:xfrm flipV="1">
            <a:off x="10603199" y="7842838"/>
            <a:ext cx="493374" cy="582059"/>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0F270021-2977-D4E2-906D-AAC618852F16}"/>
              </a:ext>
            </a:extLst>
          </p:cNvPr>
          <p:cNvCxnSpPr>
            <a:stCxn id="18" idx="1"/>
            <a:endCxn id="14" idx="1"/>
          </p:cNvCxnSpPr>
          <p:nvPr/>
        </p:nvCxnSpPr>
        <p:spPr>
          <a:xfrm flipV="1">
            <a:off x="11959853" y="7842834"/>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5" name="直線矢印コネクタ 44">
            <a:extLst>
              <a:ext uri="{FF2B5EF4-FFF2-40B4-BE49-F238E27FC236}">
                <a16:creationId xmlns:a16="http://schemas.microsoft.com/office/drawing/2014/main" id="{1366FB41-5DAB-7D1C-D726-6B92A71B98F1}"/>
              </a:ext>
            </a:extLst>
          </p:cNvPr>
          <p:cNvCxnSpPr/>
          <p:nvPr/>
        </p:nvCxnSpPr>
        <p:spPr>
          <a:xfrm flipV="1">
            <a:off x="13168726" y="7854516"/>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6" name="直線矢印コネクタ 45">
            <a:extLst>
              <a:ext uri="{FF2B5EF4-FFF2-40B4-BE49-F238E27FC236}">
                <a16:creationId xmlns:a16="http://schemas.microsoft.com/office/drawing/2014/main" id="{3E636D41-5988-AAE2-9BD0-E4E796C93979}"/>
              </a:ext>
            </a:extLst>
          </p:cNvPr>
          <p:cNvCxnSpPr/>
          <p:nvPr/>
        </p:nvCxnSpPr>
        <p:spPr>
          <a:xfrm flipV="1">
            <a:off x="11970112" y="9023558"/>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7" name="直線矢印コネクタ 46">
            <a:extLst>
              <a:ext uri="{FF2B5EF4-FFF2-40B4-BE49-F238E27FC236}">
                <a16:creationId xmlns:a16="http://schemas.microsoft.com/office/drawing/2014/main" id="{D9D168BE-914A-1EE5-A3E2-F88A7719F23F}"/>
              </a:ext>
            </a:extLst>
          </p:cNvPr>
          <p:cNvCxnSpPr/>
          <p:nvPr/>
        </p:nvCxnSpPr>
        <p:spPr>
          <a:xfrm flipV="1">
            <a:off x="13167335" y="9023558"/>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752B0E6B-C709-D230-339A-BC812FAF2AD7}"/>
              </a:ext>
            </a:extLst>
          </p:cNvPr>
          <p:cNvCxnSpPr>
            <a:cxnSpLocks/>
          </p:cNvCxnSpPr>
          <p:nvPr/>
        </p:nvCxnSpPr>
        <p:spPr>
          <a:xfrm>
            <a:off x="9810460" y="7082471"/>
            <a:ext cx="0" cy="4632956"/>
          </a:xfrm>
          <a:prstGeom prst="line">
            <a:avLst/>
          </a:prstGeom>
        </p:spPr>
        <p:style>
          <a:lnRef idx="1">
            <a:schemeClr val="accent1"/>
          </a:lnRef>
          <a:fillRef idx="0">
            <a:schemeClr val="accent1"/>
          </a:fillRef>
          <a:effectRef idx="0">
            <a:schemeClr val="accent1"/>
          </a:effectRef>
          <a:fontRef idx="minor">
            <a:schemeClr val="tx1"/>
          </a:fontRef>
        </p:style>
      </p:cxnSp>
      <p:sp>
        <p:nvSpPr>
          <p:cNvPr id="54" name="円弧 53">
            <a:extLst>
              <a:ext uri="{FF2B5EF4-FFF2-40B4-BE49-F238E27FC236}">
                <a16:creationId xmlns:a16="http://schemas.microsoft.com/office/drawing/2014/main" id="{8DA33D3E-0AD8-F537-6ECD-19B963236299}"/>
              </a:ext>
            </a:extLst>
          </p:cNvPr>
          <p:cNvSpPr/>
          <p:nvPr/>
        </p:nvSpPr>
        <p:spPr>
          <a:xfrm>
            <a:off x="10228665" y="7483915"/>
            <a:ext cx="1731186" cy="2432804"/>
          </a:xfrm>
          <a:prstGeom prst="arc">
            <a:avLst>
              <a:gd name="adj1" fmla="val 5333527"/>
              <a:gd name="adj2" fmla="val 1035598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55" name="下矢印 54">
            <a:extLst>
              <a:ext uri="{FF2B5EF4-FFF2-40B4-BE49-F238E27FC236}">
                <a16:creationId xmlns:a16="http://schemas.microsoft.com/office/drawing/2014/main" id="{0BB10A09-81A9-0A31-A6EF-8B6ADBA97CC0}"/>
              </a:ext>
            </a:extLst>
          </p:cNvPr>
          <p:cNvSpPr/>
          <p:nvPr/>
        </p:nvSpPr>
        <p:spPr>
          <a:xfrm>
            <a:off x="11895772" y="10204282"/>
            <a:ext cx="1014729" cy="4536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9840644F-378A-DCE0-26F2-2CFDBE5C7736}"/>
              </a:ext>
            </a:extLst>
          </p:cNvPr>
          <p:cNvSpPr/>
          <p:nvPr/>
        </p:nvSpPr>
        <p:spPr>
          <a:xfrm>
            <a:off x="10697977" y="10714337"/>
            <a:ext cx="3373973" cy="899542"/>
          </a:xfrm>
          <a:prstGeom prst="rect">
            <a:avLst/>
          </a:prstGeom>
          <a:solidFill>
            <a:schemeClr val="bg1">
              <a:lumMod val="95000"/>
            </a:schemeClr>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rPr>
              <a:t>10MHz</a:t>
            </a:r>
            <a:r>
              <a:rPr kumimoji="1" lang="ja-JP" altLang="en-US" sz="1600" b="1">
                <a:solidFill>
                  <a:schemeClr val="tx1"/>
                </a:solidFill>
              </a:rPr>
              <a:t>オーダー</a:t>
            </a:r>
            <a:r>
              <a:rPr kumimoji="1" lang="en-US" altLang="ja-JP" sz="1600" b="1" dirty="0">
                <a:solidFill>
                  <a:schemeClr val="tx1"/>
                </a:solidFill>
              </a:rPr>
              <a:t>(TCXO)</a:t>
            </a:r>
            <a:r>
              <a:rPr kumimoji="1" lang="ja-JP" altLang="en-US" sz="1600" b="1">
                <a:solidFill>
                  <a:schemeClr val="tx1"/>
                </a:solidFill>
              </a:rPr>
              <a:t>での</a:t>
            </a:r>
            <a:endParaRPr kumimoji="1" lang="en-US" altLang="ja-JP" sz="1600" b="1" dirty="0">
              <a:solidFill>
                <a:schemeClr val="tx1"/>
              </a:solidFill>
            </a:endParaRPr>
          </a:p>
          <a:p>
            <a:pPr algn="ctr"/>
            <a:r>
              <a:rPr kumimoji="1" lang="ja-JP" altLang="en-US" sz="1600" b="1">
                <a:solidFill>
                  <a:schemeClr val="tx1"/>
                </a:solidFill>
              </a:rPr>
              <a:t>測定実現性が課題</a:t>
            </a:r>
            <a:endParaRPr kumimoji="1" lang="en-US" altLang="ja-JP" sz="1600" b="1" dirty="0">
              <a:solidFill>
                <a:schemeClr val="tx1"/>
              </a:solidFill>
            </a:endParaRPr>
          </a:p>
        </p:txBody>
      </p:sp>
      <p:sp>
        <p:nvSpPr>
          <p:cNvPr id="57" name="テキスト ボックス 56">
            <a:extLst>
              <a:ext uri="{FF2B5EF4-FFF2-40B4-BE49-F238E27FC236}">
                <a16:creationId xmlns:a16="http://schemas.microsoft.com/office/drawing/2014/main" id="{D1A68F17-6C8D-B6A3-FF26-174E4BC8FF56}"/>
              </a:ext>
            </a:extLst>
          </p:cNvPr>
          <p:cNvSpPr txBox="1"/>
          <p:nvPr/>
        </p:nvSpPr>
        <p:spPr>
          <a:xfrm>
            <a:off x="11152295" y="9784557"/>
            <a:ext cx="2680004" cy="307777"/>
          </a:xfrm>
          <a:prstGeom prst="rect">
            <a:avLst/>
          </a:prstGeom>
          <a:noFill/>
        </p:spPr>
        <p:txBody>
          <a:bodyPr wrap="square" rtlCol="0">
            <a:spAutoFit/>
          </a:bodyPr>
          <a:lstStyle/>
          <a:p>
            <a:r>
              <a:rPr kumimoji="1" lang="ja-JP" altLang="en-US"/>
              <a:t>オーディオ領域の出力信号</a:t>
            </a:r>
          </a:p>
        </p:txBody>
      </p:sp>
      <p:cxnSp>
        <p:nvCxnSpPr>
          <p:cNvPr id="8" name="直線コネクタ 7">
            <a:extLst>
              <a:ext uri="{FF2B5EF4-FFF2-40B4-BE49-F238E27FC236}">
                <a16:creationId xmlns:a16="http://schemas.microsoft.com/office/drawing/2014/main" id="{5DD5C459-13AC-465D-BE6F-4000F1D2E345}"/>
              </a:ext>
            </a:extLst>
          </p:cNvPr>
          <p:cNvCxnSpPr>
            <a:cxnSpLocks/>
          </p:cNvCxnSpPr>
          <p:nvPr/>
        </p:nvCxnSpPr>
        <p:spPr>
          <a:xfrm flipH="1">
            <a:off x="333860" y="6362691"/>
            <a:ext cx="9381569" cy="0"/>
          </a:xfrm>
          <a:prstGeom prst="line">
            <a:avLst/>
          </a:prstGeom>
        </p:spPr>
        <p:style>
          <a:lnRef idx="1">
            <a:schemeClr val="dk1"/>
          </a:lnRef>
          <a:fillRef idx="0">
            <a:schemeClr val="dk1"/>
          </a:fillRef>
          <a:effectRef idx="0">
            <a:schemeClr val="dk1"/>
          </a:effectRef>
          <a:fontRef idx="minor">
            <a:schemeClr val="tx1"/>
          </a:fontRef>
        </p:style>
      </p:cxnSp>
      <p:sp>
        <p:nvSpPr>
          <p:cNvPr id="19" name="テキスト ボックス 18">
            <a:extLst>
              <a:ext uri="{FF2B5EF4-FFF2-40B4-BE49-F238E27FC236}">
                <a16:creationId xmlns:a16="http://schemas.microsoft.com/office/drawing/2014/main" id="{F9087310-D3C8-733C-18E2-4232EF817447}"/>
              </a:ext>
            </a:extLst>
          </p:cNvPr>
          <p:cNvSpPr txBox="1"/>
          <p:nvPr/>
        </p:nvSpPr>
        <p:spPr>
          <a:xfrm>
            <a:off x="445032" y="6344411"/>
            <a:ext cx="9258993" cy="523220"/>
          </a:xfrm>
          <a:prstGeom prst="rect">
            <a:avLst/>
          </a:prstGeom>
          <a:noFill/>
        </p:spPr>
        <p:txBody>
          <a:bodyPr wrap="square" rtlCol="0">
            <a:spAutoFit/>
          </a:bodyPr>
          <a:lstStyle/>
          <a:p>
            <a:r>
              <a:rPr lang="en-US" altLang="ja-JP" dirty="0">
                <a:hlinkClick r:id="rId4"/>
              </a:rPr>
              <a:t>Takeuchi, M., &amp; Saito, H. (2023). </a:t>
            </a:r>
            <a:r>
              <a:rPr lang="en-US" altLang="ja-JP" i="1" dirty="0">
                <a:hlinkClick r:id="rId4"/>
              </a:rPr>
              <a:t>Absolute measurement of sampling jitter in audio equipment</a:t>
            </a:r>
            <a:r>
              <a:rPr lang="en-US" altLang="ja-JP" dirty="0">
                <a:hlinkClick r:id="rId4"/>
              </a:rPr>
              <a:t>. Journal of the Acoustical Society of America, 154(4), 443–453</a:t>
            </a:r>
            <a:endParaRPr lang="en-US" altLang="ja-JP" dirty="0"/>
          </a:p>
        </p:txBody>
      </p:sp>
      <p:grpSp>
        <p:nvGrpSpPr>
          <p:cNvPr id="102" name="グループ化 101">
            <a:extLst>
              <a:ext uri="{FF2B5EF4-FFF2-40B4-BE49-F238E27FC236}">
                <a16:creationId xmlns:a16="http://schemas.microsoft.com/office/drawing/2014/main" id="{2B690176-0EB1-692B-0AB0-3E9CF5B60B81}"/>
              </a:ext>
            </a:extLst>
          </p:cNvPr>
          <p:cNvGrpSpPr/>
          <p:nvPr/>
        </p:nvGrpSpPr>
        <p:grpSpPr>
          <a:xfrm>
            <a:off x="557626" y="1935130"/>
            <a:ext cx="8790747" cy="1786143"/>
            <a:chOff x="539233" y="1882568"/>
            <a:chExt cx="8770462" cy="2063226"/>
          </a:xfrm>
        </p:grpSpPr>
        <p:sp>
          <p:nvSpPr>
            <p:cNvPr id="32" name="正方形/長方形 31">
              <a:extLst>
                <a:ext uri="{FF2B5EF4-FFF2-40B4-BE49-F238E27FC236}">
                  <a16:creationId xmlns:a16="http://schemas.microsoft.com/office/drawing/2014/main" id="{973DEAB7-3437-84FD-657F-4821C34300E4}"/>
                </a:ext>
              </a:extLst>
            </p:cNvPr>
            <p:cNvSpPr/>
            <p:nvPr/>
          </p:nvSpPr>
          <p:spPr>
            <a:xfrm>
              <a:off x="5087734" y="1882568"/>
              <a:ext cx="1544886" cy="9369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600" dirty="0"/>
                <a:t>Single-channel</a:t>
              </a:r>
            </a:p>
            <a:p>
              <a:pPr algn="ctr"/>
              <a:r>
                <a:rPr kumimoji="1" lang="en-US" altLang="ja-JP" sz="1600" dirty="0"/>
                <a:t>Recorder</a:t>
              </a:r>
            </a:p>
            <a:p>
              <a:pPr algn="ctr"/>
              <a:r>
                <a:rPr kumimoji="1" lang="en-US" altLang="ja-JP" sz="1600" dirty="0"/>
                <a:t>A</a:t>
              </a:r>
              <a:endParaRPr kumimoji="1" lang="ja-JP" altLang="en-US" sz="1600"/>
            </a:p>
          </p:txBody>
        </p:sp>
        <p:sp>
          <p:nvSpPr>
            <p:cNvPr id="33" name="正方形/長方形 32">
              <a:extLst>
                <a:ext uri="{FF2B5EF4-FFF2-40B4-BE49-F238E27FC236}">
                  <a16:creationId xmlns:a16="http://schemas.microsoft.com/office/drawing/2014/main" id="{062A9481-7FCB-CF23-094A-6F7FA1AD09F9}"/>
                </a:ext>
              </a:extLst>
            </p:cNvPr>
            <p:cNvSpPr/>
            <p:nvPr/>
          </p:nvSpPr>
          <p:spPr>
            <a:xfrm>
              <a:off x="5087734" y="3008850"/>
              <a:ext cx="1544886" cy="9369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600" dirty="0"/>
                <a:t>Single-channel</a:t>
              </a:r>
            </a:p>
            <a:p>
              <a:pPr algn="ctr"/>
              <a:r>
                <a:rPr kumimoji="1" lang="en-US" altLang="ja-JP" sz="1600" dirty="0"/>
                <a:t>Recorder</a:t>
              </a:r>
            </a:p>
            <a:p>
              <a:pPr algn="ctr"/>
              <a:r>
                <a:rPr kumimoji="1" lang="en-US" altLang="ja-JP" sz="1600" dirty="0"/>
                <a:t>B</a:t>
              </a:r>
              <a:endParaRPr kumimoji="1" lang="ja-JP" altLang="en-US" sz="1600"/>
            </a:p>
          </p:txBody>
        </p:sp>
        <p:cxnSp>
          <p:nvCxnSpPr>
            <p:cNvPr id="48" name="直線コネクタ 47">
              <a:extLst>
                <a:ext uri="{FF2B5EF4-FFF2-40B4-BE49-F238E27FC236}">
                  <a16:creationId xmlns:a16="http://schemas.microsoft.com/office/drawing/2014/main" id="{B4A00B66-32EE-1197-0E2C-5463A9966794}"/>
                </a:ext>
              </a:extLst>
            </p:cNvPr>
            <p:cNvCxnSpPr>
              <a:cxnSpLocks/>
            </p:cNvCxnSpPr>
            <p:nvPr/>
          </p:nvCxnSpPr>
          <p:spPr>
            <a:xfrm>
              <a:off x="4775245" y="2658172"/>
              <a:ext cx="312489"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1" name="直線コネクタ 50">
              <a:extLst>
                <a:ext uri="{FF2B5EF4-FFF2-40B4-BE49-F238E27FC236}">
                  <a16:creationId xmlns:a16="http://schemas.microsoft.com/office/drawing/2014/main" id="{A4CBC429-5146-5246-42A9-D47F2BEC558A}"/>
                </a:ext>
              </a:extLst>
            </p:cNvPr>
            <p:cNvCxnSpPr>
              <a:cxnSpLocks/>
            </p:cNvCxnSpPr>
            <p:nvPr/>
          </p:nvCxnSpPr>
          <p:spPr>
            <a:xfrm>
              <a:off x="4775245" y="3734773"/>
              <a:ext cx="312489" cy="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3" name="テキスト ボックス 52">
                  <a:extLst>
                    <a:ext uri="{FF2B5EF4-FFF2-40B4-BE49-F238E27FC236}">
                      <a16:creationId xmlns:a16="http://schemas.microsoft.com/office/drawing/2014/main" id="{C28BC4D0-68E2-5813-D366-8DC347528C06}"/>
                    </a:ext>
                  </a:extLst>
                </p:cNvPr>
                <p:cNvSpPr txBox="1"/>
                <p:nvPr/>
              </p:nvSpPr>
              <p:spPr>
                <a:xfrm>
                  <a:off x="4268247" y="2497094"/>
                  <a:ext cx="506998" cy="232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𝑎</m:t>
                            </m:r>
                          </m:e>
                          <m:sub>
                            <m:r>
                              <a:rPr kumimoji="1" lang="en-US" altLang="ja-JP" b="0" i="1" smtClean="0">
                                <a:latin typeface="Cambria Math" panose="02040503050406030204" pitchFamily="18" charset="0"/>
                              </a:rPr>
                              <m:t>𝑗𝑖𝑡𝑡𝑒𝑟</m:t>
                            </m:r>
                          </m:sub>
                        </m:sSub>
                      </m:oMath>
                    </m:oMathPara>
                  </a14:m>
                  <a:endParaRPr kumimoji="1" lang="en-US" altLang="ja-JP" b="0" dirty="0"/>
                </a:p>
              </p:txBody>
            </p:sp>
          </mc:Choice>
          <mc:Fallback xmlns="">
            <p:sp>
              <p:nvSpPr>
                <p:cNvPr id="53" name="テキスト ボックス 52">
                  <a:extLst>
                    <a:ext uri="{FF2B5EF4-FFF2-40B4-BE49-F238E27FC236}">
                      <a16:creationId xmlns:a16="http://schemas.microsoft.com/office/drawing/2014/main" id="{C28BC4D0-68E2-5813-D366-8DC347528C06}"/>
                    </a:ext>
                  </a:extLst>
                </p:cNvPr>
                <p:cNvSpPr txBox="1">
                  <a:spLocks noRot="1" noChangeAspect="1" noMove="1" noResize="1" noEditPoints="1" noAdjustHandles="1" noChangeArrowheads="1" noChangeShapeType="1" noTextEdit="1"/>
                </p:cNvSpPr>
                <p:nvPr/>
              </p:nvSpPr>
              <p:spPr>
                <a:xfrm>
                  <a:off x="4268247" y="2497094"/>
                  <a:ext cx="506998" cy="232756"/>
                </a:xfrm>
                <a:prstGeom prst="rect">
                  <a:avLst/>
                </a:prstGeom>
                <a:blipFill>
                  <a:blip r:embed="rId6"/>
                  <a:stretch>
                    <a:fillRect l="-4878" r="-2439" b="-3529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76A37923-A7E9-FAF5-FC1C-F45DF0772AF4}"/>
                    </a:ext>
                  </a:extLst>
                </p:cNvPr>
                <p:cNvSpPr txBox="1"/>
                <p:nvPr/>
              </p:nvSpPr>
              <p:spPr>
                <a:xfrm>
                  <a:off x="4272703" y="3618395"/>
                  <a:ext cx="498085" cy="232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𝑏</m:t>
                            </m:r>
                          </m:e>
                          <m:sub>
                            <m:r>
                              <a:rPr kumimoji="1" lang="en-US" altLang="ja-JP" b="0" i="1" smtClean="0">
                                <a:latin typeface="Cambria Math" panose="02040503050406030204" pitchFamily="18" charset="0"/>
                              </a:rPr>
                              <m:t>𝑗𝑖𝑡𝑡𝑒𝑟</m:t>
                            </m:r>
                          </m:sub>
                        </m:sSub>
                      </m:oMath>
                    </m:oMathPara>
                  </a14:m>
                  <a:endParaRPr kumimoji="1" lang="en-US" altLang="ja-JP" b="0" dirty="0"/>
                </a:p>
              </p:txBody>
            </p:sp>
          </mc:Choice>
          <mc:Fallback xmlns="">
            <p:sp>
              <p:nvSpPr>
                <p:cNvPr id="58" name="テキスト ボックス 57">
                  <a:extLst>
                    <a:ext uri="{FF2B5EF4-FFF2-40B4-BE49-F238E27FC236}">
                      <a16:creationId xmlns:a16="http://schemas.microsoft.com/office/drawing/2014/main" id="{76A37923-A7E9-FAF5-FC1C-F45DF0772AF4}"/>
                    </a:ext>
                  </a:extLst>
                </p:cNvPr>
                <p:cNvSpPr txBox="1">
                  <a:spLocks noRot="1" noChangeAspect="1" noMove="1" noResize="1" noEditPoints="1" noAdjustHandles="1" noChangeArrowheads="1" noChangeShapeType="1" noTextEdit="1"/>
                </p:cNvSpPr>
                <p:nvPr/>
              </p:nvSpPr>
              <p:spPr>
                <a:xfrm>
                  <a:off x="4272703" y="3618395"/>
                  <a:ext cx="498085" cy="232756"/>
                </a:xfrm>
                <a:prstGeom prst="rect">
                  <a:avLst/>
                </a:prstGeom>
                <a:blipFill>
                  <a:blip r:embed="rId7"/>
                  <a:stretch>
                    <a:fillRect l="-7500" r="-5000" b="-41176"/>
                  </a:stretch>
                </a:blipFill>
              </p:spPr>
              <p:txBody>
                <a:bodyPr/>
                <a:lstStyle/>
                <a:p>
                  <a:r>
                    <a:rPr lang="ja-JP" altLang="en-US">
                      <a:noFill/>
                    </a:rPr>
                    <a:t> </a:t>
                  </a:r>
                </a:p>
              </p:txBody>
            </p:sp>
          </mc:Fallback>
        </mc:AlternateContent>
        <p:grpSp>
          <p:nvGrpSpPr>
            <p:cNvPr id="95" name="グループ化 94">
              <a:extLst>
                <a:ext uri="{FF2B5EF4-FFF2-40B4-BE49-F238E27FC236}">
                  <a16:creationId xmlns:a16="http://schemas.microsoft.com/office/drawing/2014/main" id="{E59A8C2A-D5E8-C8C1-3C28-30A925E860EC}"/>
                </a:ext>
              </a:extLst>
            </p:cNvPr>
            <p:cNvGrpSpPr/>
            <p:nvPr/>
          </p:nvGrpSpPr>
          <p:grpSpPr>
            <a:xfrm>
              <a:off x="539233" y="2099129"/>
              <a:ext cx="2380361" cy="1635644"/>
              <a:chOff x="825047" y="2611178"/>
              <a:chExt cx="2380361" cy="1635644"/>
            </a:xfrm>
          </p:grpSpPr>
          <p:sp>
            <p:nvSpPr>
              <p:cNvPr id="34" name="正方形/長方形 33">
                <a:extLst>
                  <a:ext uri="{FF2B5EF4-FFF2-40B4-BE49-F238E27FC236}">
                    <a16:creationId xmlns:a16="http://schemas.microsoft.com/office/drawing/2014/main" id="{F7CECF75-8235-37EF-F051-AA18B5DED08D}"/>
                  </a:ext>
                </a:extLst>
              </p:cNvPr>
              <p:cNvSpPr/>
              <p:nvPr/>
            </p:nvSpPr>
            <p:spPr>
              <a:xfrm>
                <a:off x="1660522" y="2611178"/>
                <a:ext cx="1544886" cy="16356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600" dirty="0"/>
                  <a:t>Player</a:t>
                </a:r>
              </a:p>
            </p:txBody>
          </p:sp>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5DCD6E2B-BE56-5EDF-72BD-2D8A6997E842}"/>
                      </a:ext>
                    </a:extLst>
                  </p:cNvPr>
                  <p:cNvSpPr txBox="1"/>
                  <p:nvPr/>
                </p:nvSpPr>
                <p:spPr>
                  <a:xfrm>
                    <a:off x="825047" y="3632025"/>
                    <a:ext cx="510203" cy="232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𝑛</m:t>
                              </m:r>
                            </m:e>
                            <m:sub>
                              <m:r>
                                <a:rPr kumimoji="1" lang="en-US" altLang="ja-JP" b="0" i="1" smtClean="0">
                                  <a:latin typeface="Cambria Math" panose="02040503050406030204" pitchFamily="18" charset="0"/>
                                </a:rPr>
                                <m:t>𝑗𝑖𝑡𝑡𝑒𝑟</m:t>
                              </m:r>
                            </m:sub>
                          </m:sSub>
                        </m:oMath>
                      </m:oMathPara>
                    </a14:m>
                    <a:endParaRPr kumimoji="1" lang="en-US" altLang="ja-JP" b="0" dirty="0"/>
                  </a:p>
                </p:txBody>
              </p:sp>
            </mc:Choice>
            <mc:Fallback xmlns="">
              <p:sp>
                <p:nvSpPr>
                  <p:cNvPr id="59" name="テキスト ボックス 58">
                    <a:extLst>
                      <a:ext uri="{FF2B5EF4-FFF2-40B4-BE49-F238E27FC236}">
                        <a16:creationId xmlns:a16="http://schemas.microsoft.com/office/drawing/2014/main" id="{5DCD6E2B-BE56-5EDF-72BD-2D8A6997E842}"/>
                      </a:ext>
                    </a:extLst>
                  </p:cNvPr>
                  <p:cNvSpPr txBox="1">
                    <a:spLocks noRot="1" noChangeAspect="1" noMove="1" noResize="1" noEditPoints="1" noAdjustHandles="1" noChangeArrowheads="1" noChangeShapeType="1" noTextEdit="1"/>
                  </p:cNvSpPr>
                  <p:nvPr/>
                </p:nvSpPr>
                <p:spPr>
                  <a:xfrm>
                    <a:off x="825047" y="3632025"/>
                    <a:ext cx="510203" cy="232756"/>
                  </a:xfrm>
                  <a:prstGeom prst="rect">
                    <a:avLst/>
                  </a:prstGeom>
                  <a:blipFill>
                    <a:blip r:embed="rId8"/>
                    <a:stretch>
                      <a:fillRect l="-2439" r="-4878" b="-41176"/>
                    </a:stretch>
                  </a:blipFill>
                </p:spPr>
                <p:txBody>
                  <a:bodyPr/>
                  <a:lstStyle/>
                  <a:p>
                    <a:r>
                      <a:rPr lang="ja-JP" altLang="en-US">
                        <a:noFill/>
                      </a:rPr>
                      <a:t> </a:t>
                    </a:r>
                  </a:p>
                </p:txBody>
              </p:sp>
            </mc:Fallback>
          </mc:AlternateContent>
          <p:cxnSp>
            <p:nvCxnSpPr>
              <p:cNvPr id="60" name="直線コネクタ 59">
                <a:extLst>
                  <a:ext uri="{FF2B5EF4-FFF2-40B4-BE49-F238E27FC236}">
                    <a16:creationId xmlns:a16="http://schemas.microsoft.com/office/drawing/2014/main" id="{6DDB1E4D-64A8-566F-ABD5-F29E137C603C}"/>
                  </a:ext>
                </a:extLst>
              </p:cNvPr>
              <p:cNvCxnSpPr>
                <a:cxnSpLocks/>
              </p:cNvCxnSpPr>
              <p:nvPr/>
            </p:nvCxnSpPr>
            <p:spPr>
              <a:xfrm>
                <a:off x="1348033" y="3813954"/>
                <a:ext cx="312489"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直線コネクタ 60">
                <a:extLst>
                  <a:ext uri="{FF2B5EF4-FFF2-40B4-BE49-F238E27FC236}">
                    <a16:creationId xmlns:a16="http://schemas.microsoft.com/office/drawing/2014/main" id="{D1292165-600C-8855-7788-50D757591959}"/>
                  </a:ext>
                </a:extLst>
              </p:cNvPr>
              <p:cNvCxnSpPr>
                <a:cxnSpLocks/>
              </p:cNvCxnSpPr>
              <p:nvPr/>
            </p:nvCxnSpPr>
            <p:spPr>
              <a:xfrm>
                <a:off x="1348033" y="3125521"/>
                <a:ext cx="312489" cy="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2734D40A-0625-36AB-DC68-EEA217D163A5}"/>
                      </a:ext>
                    </a:extLst>
                  </p:cNvPr>
                  <p:cNvSpPr txBox="1"/>
                  <p:nvPr/>
                </p:nvSpPr>
                <p:spPr>
                  <a:xfrm>
                    <a:off x="988516" y="3007255"/>
                    <a:ext cx="33958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𝑣</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m:t>
                          </m:r>
                        </m:oMath>
                      </m:oMathPara>
                    </a14:m>
                    <a:endParaRPr kumimoji="1" lang="en-US" altLang="ja-JP" dirty="0"/>
                  </a:p>
                </p:txBody>
              </p:sp>
            </mc:Choice>
            <mc:Fallback xmlns="">
              <p:sp>
                <p:nvSpPr>
                  <p:cNvPr id="63" name="テキスト ボックス 62">
                    <a:extLst>
                      <a:ext uri="{FF2B5EF4-FFF2-40B4-BE49-F238E27FC236}">
                        <a16:creationId xmlns:a16="http://schemas.microsoft.com/office/drawing/2014/main" id="{2734D40A-0625-36AB-DC68-EEA217D163A5}"/>
                      </a:ext>
                    </a:extLst>
                  </p:cNvPr>
                  <p:cNvSpPr txBox="1">
                    <a:spLocks noRot="1" noChangeAspect="1" noMove="1" noResize="1" noEditPoints="1" noAdjustHandles="1" noChangeArrowheads="1" noChangeShapeType="1" noTextEdit="1"/>
                  </p:cNvSpPr>
                  <p:nvPr/>
                </p:nvSpPr>
                <p:spPr>
                  <a:xfrm>
                    <a:off x="988516" y="3007255"/>
                    <a:ext cx="339580" cy="215444"/>
                  </a:xfrm>
                  <a:prstGeom prst="rect">
                    <a:avLst/>
                  </a:prstGeom>
                  <a:blipFill>
                    <a:blip r:embed="rId9"/>
                    <a:stretch>
                      <a:fillRect l="-3571" r="-17857" b="-56250"/>
                    </a:stretch>
                  </a:blipFill>
                </p:spPr>
                <p:txBody>
                  <a:bodyPr/>
                  <a:lstStyle/>
                  <a:p>
                    <a:r>
                      <a:rPr lang="ja-JP" altLang="en-US">
                        <a:noFill/>
                      </a:rPr>
                      <a:t> </a:t>
                    </a:r>
                  </a:p>
                </p:txBody>
              </p:sp>
            </mc:Fallback>
          </mc:AlternateContent>
        </p:grpSp>
        <p:cxnSp>
          <p:nvCxnSpPr>
            <p:cNvPr id="65" name="カギ線コネクタ 64">
              <a:extLst>
                <a:ext uri="{FF2B5EF4-FFF2-40B4-BE49-F238E27FC236}">
                  <a16:creationId xmlns:a16="http://schemas.microsoft.com/office/drawing/2014/main" id="{62C12EC7-F0F1-35D3-6DF9-DD8493C4231A}"/>
                </a:ext>
              </a:extLst>
            </p:cNvPr>
            <p:cNvCxnSpPr>
              <a:cxnSpLocks/>
              <a:stCxn id="34" idx="3"/>
              <a:endCxn id="33" idx="1"/>
            </p:cNvCxnSpPr>
            <p:nvPr/>
          </p:nvCxnSpPr>
          <p:spPr>
            <a:xfrm>
              <a:off x="2919594" y="2916951"/>
              <a:ext cx="2168140" cy="560371"/>
            </a:xfrm>
            <a:prstGeom prst="bentConnector3">
              <a:avLst>
                <a:gd name="adj1" fmla="val 50000"/>
              </a:avLst>
            </a:prstGeom>
            <a:ln w="19050"/>
          </p:spPr>
          <p:style>
            <a:lnRef idx="1">
              <a:schemeClr val="dk1"/>
            </a:lnRef>
            <a:fillRef idx="0">
              <a:schemeClr val="dk1"/>
            </a:fillRef>
            <a:effectRef idx="0">
              <a:schemeClr val="dk1"/>
            </a:effectRef>
            <a:fontRef idx="minor">
              <a:schemeClr val="tx1"/>
            </a:fontRef>
          </p:style>
        </p:cxnSp>
        <p:cxnSp>
          <p:nvCxnSpPr>
            <p:cNvPr id="68" name="カギ線コネクタ 67">
              <a:extLst>
                <a:ext uri="{FF2B5EF4-FFF2-40B4-BE49-F238E27FC236}">
                  <a16:creationId xmlns:a16="http://schemas.microsoft.com/office/drawing/2014/main" id="{8D77F73A-2A4C-2E84-D116-CAA98E3C7AE5}"/>
                </a:ext>
              </a:extLst>
            </p:cNvPr>
            <p:cNvCxnSpPr>
              <a:cxnSpLocks/>
              <a:stCxn id="34" idx="3"/>
              <a:endCxn id="32" idx="1"/>
            </p:cNvCxnSpPr>
            <p:nvPr/>
          </p:nvCxnSpPr>
          <p:spPr>
            <a:xfrm flipV="1">
              <a:off x="2919594" y="2351040"/>
              <a:ext cx="2168140" cy="565911"/>
            </a:xfrm>
            <a:prstGeom prst="bentConnector3">
              <a:avLst>
                <a:gd name="adj1" fmla="val 50000"/>
              </a:avLst>
            </a:prstGeom>
            <a:ln w="19050"/>
          </p:spPr>
          <p:style>
            <a:lnRef idx="1">
              <a:schemeClr val="dk1"/>
            </a:lnRef>
            <a:fillRef idx="0">
              <a:schemeClr val="dk1"/>
            </a:fillRef>
            <a:effectRef idx="0">
              <a:schemeClr val="dk1"/>
            </a:effectRef>
            <a:fontRef idx="minor">
              <a:schemeClr val="tx1"/>
            </a:fontRef>
          </p:style>
        </p:cxnSp>
        <p:sp>
          <p:nvSpPr>
            <p:cNvPr id="71" name="正方形/長方形 70">
              <a:extLst>
                <a:ext uri="{FF2B5EF4-FFF2-40B4-BE49-F238E27FC236}">
                  <a16:creationId xmlns:a16="http://schemas.microsoft.com/office/drawing/2014/main" id="{F7B9876D-D847-A9AA-BE42-A15941D3D3C5}"/>
                </a:ext>
              </a:extLst>
            </p:cNvPr>
            <p:cNvSpPr/>
            <p:nvPr/>
          </p:nvSpPr>
          <p:spPr>
            <a:xfrm>
              <a:off x="7360444" y="2089430"/>
              <a:ext cx="975398" cy="52322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600" dirty="0"/>
                <a:t>ZCA</a:t>
              </a:r>
              <a:endParaRPr kumimoji="1" lang="ja-JP" altLang="en-US" sz="1600"/>
            </a:p>
          </p:txBody>
        </p:sp>
        <p:sp>
          <p:nvSpPr>
            <p:cNvPr id="72" name="正方形/長方形 71">
              <a:extLst>
                <a:ext uri="{FF2B5EF4-FFF2-40B4-BE49-F238E27FC236}">
                  <a16:creationId xmlns:a16="http://schemas.microsoft.com/office/drawing/2014/main" id="{87B5E454-6505-2F20-5894-BE33D41F3A6F}"/>
                </a:ext>
              </a:extLst>
            </p:cNvPr>
            <p:cNvSpPr/>
            <p:nvPr/>
          </p:nvSpPr>
          <p:spPr>
            <a:xfrm>
              <a:off x="7360444" y="3221253"/>
              <a:ext cx="975398" cy="52322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600" dirty="0"/>
                <a:t>ZCA</a:t>
              </a:r>
              <a:endParaRPr kumimoji="1" lang="ja-JP" altLang="en-US" sz="1600"/>
            </a:p>
          </p:txBody>
        </p:sp>
        <p:cxnSp>
          <p:nvCxnSpPr>
            <p:cNvPr id="73" name="直線コネクタ 72">
              <a:extLst>
                <a:ext uri="{FF2B5EF4-FFF2-40B4-BE49-F238E27FC236}">
                  <a16:creationId xmlns:a16="http://schemas.microsoft.com/office/drawing/2014/main" id="{78C64191-6682-2ECE-F9AE-BF7A82CB61B2}"/>
                </a:ext>
              </a:extLst>
            </p:cNvPr>
            <p:cNvCxnSpPr>
              <a:cxnSpLocks/>
              <a:stCxn id="71" idx="1"/>
              <a:endCxn id="32" idx="3"/>
            </p:cNvCxnSpPr>
            <p:nvPr/>
          </p:nvCxnSpPr>
          <p:spPr>
            <a:xfrm flipH="1">
              <a:off x="6632620" y="2351040"/>
              <a:ext cx="72782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11D5778A-F756-767F-1445-9ACEC8C8CFA5}"/>
                </a:ext>
              </a:extLst>
            </p:cNvPr>
            <p:cNvCxnSpPr>
              <a:cxnSpLocks/>
              <a:stCxn id="72" idx="1"/>
              <a:endCxn id="33" idx="3"/>
            </p:cNvCxnSpPr>
            <p:nvPr/>
          </p:nvCxnSpPr>
          <p:spPr>
            <a:xfrm flipH="1" flipV="1">
              <a:off x="6632620" y="3477322"/>
              <a:ext cx="727824" cy="5541"/>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8CF45ABE-3E3C-A33F-60BD-0264C82DC1E5}"/>
                    </a:ext>
                  </a:extLst>
                </p:cNvPr>
                <p:cNvSpPr txBox="1"/>
                <p:nvPr/>
              </p:nvSpPr>
              <p:spPr>
                <a:xfrm>
                  <a:off x="9063666" y="2229000"/>
                  <a:ext cx="244106" cy="2430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rPr>
                              <m:t>𝑠</m:t>
                            </m:r>
                          </m:e>
                        </m:acc>
                      </m:oMath>
                    </m:oMathPara>
                  </a14:m>
                  <a:endParaRPr kumimoji="1" lang="en-US" altLang="ja-JP" b="0" dirty="0"/>
                </a:p>
              </p:txBody>
            </p:sp>
          </mc:Choice>
          <mc:Fallback xmlns="">
            <p:sp>
              <p:nvSpPr>
                <p:cNvPr id="82" name="テキスト ボックス 81">
                  <a:extLst>
                    <a:ext uri="{FF2B5EF4-FFF2-40B4-BE49-F238E27FC236}">
                      <a16:creationId xmlns:a16="http://schemas.microsoft.com/office/drawing/2014/main" id="{8CF45ABE-3E3C-A33F-60BD-0264C82DC1E5}"/>
                    </a:ext>
                  </a:extLst>
                </p:cNvPr>
                <p:cNvSpPr txBox="1">
                  <a:spLocks noRot="1" noChangeAspect="1" noMove="1" noResize="1" noEditPoints="1" noAdjustHandles="1" noChangeArrowheads="1" noChangeShapeType="1" noTextEdit="1"/>
                </p:cNvSpPr>
                <p:nvPr/>
              </p:nvSpPr>
              <p:spPr>
                <a:xfrm>
                  <a:off x="9063666" y="2229000"/>
                  <a:ext cx="244106" cy="243015"/>
                </a:xfrm>
                <a:prstGeom prst="rect">
                  <a:avLst/>
                </a:prstGeom>
                <a:blipFill>
                  <a:blip r:embed="rId10"/>
                  <a:stretch>
                    <a:fillRect l="-15000" r="-10000" b="-235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59C12A9E-B9A6-F0DC-D5C7-8C7B1922E909}"/>
                    </a:ext>
                  </a:extLst>
                </p:cNvPr>
                <p:cNvSpPr txBox="1"/>
                <p:nvPr/>
              </p:nvSpPr>
              <p:spPr>
                <a:xfrm>
                  <a:off x="9063666" y="3357057"/>
                  <a:ext cx="246029" cy="2430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𝑟</m:t>
                            </m:r>
                          </m:e>
                        </m:acc>
                      </m:oMath>
                    </m:oMathPara>
                  </a14:m>
                  <a:endParaRPr kumimoji="1" lang="en-US" altLang="ja-JP" b="0" dirty="0"/>
                </a:p>
              </p:txBody>
            </p:sp>
          </mc:Choice>
          <mc:Fallback xmlns="">
            <p:sp>
              <p:nvSpPr>
                <p:cNvPr id="83" name="テキスト ボックス 82">
                  <a:extLst>
                    <a:ext uri="{FF2B5EF4-FFF2-40B4-BE49-F238E27FC236}">
                      <a16:creationId xmlns:a16="http://schemas.microsoft.com/office/drawing/2014/main" id="{59C12A9E-B9A6-F0DC-D5C7-8C7B1922E909}"/>
                    </a:ext>
                  </a:extLst>
                </p:cNvPr>
                <p:cNvSpPr txBox="1">
                  <a:spLocks noRot="1" noChangeAspect="1" noMove="1" noResize="1" noEditPoints="1" noAdjustHandles="1" noChangeArrowheads="1" noChangeShapeType="1" noTextEdit="1"/>
                </p:cNvSpPr>
                <p:nvPr/>
              </p:nvSpPr>
              <p:spPr>
                <a:xfrm>
                  <a:off x="9063666" y="3357057"/>
                  <a:ext cx="246029" cy="243015"/>
                </a:xfrm>
                <a:prstGeom prst="rect">
                  <a:avLst/>
                </a:prstGeom>
                <a:blipFill>
                  <a:blip r:embed="rId11"/>
                  <a:stretch>
                    <a:fillRect l="-14286" r="-4762" b="-22222"/>
                  </a:stretch>
                </a:blipFill>
              </p:spPr>
              <p:txBody>
                <a:bodyPr/>
                <a:lstStyle/>
                <a:p>
                  <a:r>
                    <a:rPr lang="ja-JP" altLang="en-US">
                      <a:noFill/>
                    </a:rPr>
                    <a:t> </a:t>
                  </a:r>
                </a:p>
              </p:txBody>
            </p:sp>
          </mc:Fallback>
        </mc:AlternateContent>
        <p:cxnSp>
          <p:nvCxnSpPr>
            <p:cNvPr id="85" name="直線矢印コネクタ 84">
              <a:extLst>
                <a:ext uri="{FF2B5EF4-FFF2-40B4-BE49-F238E27FC236}">
                  <a16:creationId xmlns:a16="http://schemas.microsoft.com/office/drawing/2014/main" id="{2EE6281B-0DC3-6A7A-E7E3-8E6F40B402D8}"/>
                </a:ext>
              </a:extLst>
            </p:cNvPr>
            <p:cNvCxnSpPr>
              <a:cxnSpLocks/>
              <a:stCxn id="71" idx="3"/>
              <a:endCxn id="82" idx="1"/>
            </p:cNvCxnSpPr>
            <p:nvPr/>
          </p:nvCxnSpPr>
          <p:spPr>
            <a:xfrm flipV="1">
              <a:off x="8335842" y="2350508"/>
              <a:ext cx="727824" cy="53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87" name="直線矢印コネクタ 86">
              <a:extLst>
                <a:ext uri="{FF2B5EF4-FFF2-40B4-BE49-F238E27FC236}">
                  <a16:creationId xmlns:a16="http://schemas.microsoft.com/office/drawing/2014/main" id="{C1A1E1C6-0347-6B59-D5C9-B05A392CEF89}"/>
                </a:ext>
              </a:extLst>
            </p:cNvPr>
            <p:cNvCxnSpPr>
              <a:cxnSpLocks/>
              <a:stCxn id="72" idx="3"/>
              <a:endCxn id="83" idx="1"/>
            </p:cNvCxnSpPr>
            <p:nvPr/>
          </p:nvCxnSpPr>
          <p:spPr>
            <a:xfrm flipV="1">
              <a:off x="8335842" y="3478565"/>
              <a:ext cx="727824" cy="429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pic>
        <p:nvPicPr>
          <p:cNvPr id="98" name="図 97">
            <a:extLst>
              <a:ext uri="{FF2B5EF4-FFF2-40B4-BE49-F238E27FC236}">
                <a16:creationId xmlns:a16="http://schemas.microsoft.com/office/drawing/2014/main" id="{2CABBD04-901A-2814-A697-68B15C77FA62}"/>
              </a:ext>
            </a:extLst>
          </p:cNvPr>
          <p:cNvPicPr>
            <a:picLocks noChangeAspect="1"/>
          </p:cNvPicPr>
          <p:nvPr/>
        </p:nvPicPr>
        <p:blipFill>
          <a:blip r:embed="rId12"/>
          <a:stretch>
            <a:fillRect/>
          </a:stretch>
        </p:blipFill>
        <p:spPr>
          <a:xfrm>
            <a:off x="5593778" y="4650390"/>
            <a:ext cx="2457547" cy="273803"/>
          </a:xfrm>
          <a:prstGeom prst="rect">
            <a:avLst/>
          </a:prstGeom>
        </p:spPr>
      </p:pic>
      <p:pic>
        <p:nvPicPr>
          <p:cNvPr id="99" name="図 98">
            <a:extLst>
              <a:ext uri="{FF2B5EF4-FFF2-40B4-BE49-F238E27FC236}">
                <a16:creationId xmlns:a16="http://schemas.microsoft.com/office/drawing/2014/main" id="{4842525D-2976-1DFF-644F-481743B1E583}"/>
              </a:ext>
            </a:extLst>
          </p:cNvPr>
          <p:cNvPicPr>
            <a:picLocks noChangeAspect="1"/>
          </p:cNvPicPr>
          <p:nvPr/>
        </p:nvPicPr>
        <p:blipFill>
          <a:blip r:embed="rId13"/>
          <a:stretch>
            <a:fillRect/>
          </a:stretch>
        </p:blipFill>
        <p:spPr>
          <a:xfrm>
            <a:off x="5593778" y="4290807"/>
            <a:ext cx="2490937" cy="273803"/>
          </a:xfrm>
          <a:prstGeom prst="rect">
            <a:avLst/>
          </a:prstGeom>
        </p:spPr>
      </p:pic>
      <p:pic>
        <p:nvPicPr>
          <p:cNvPr id="100" name="図 99">
            <a:extLst>
              <a:ext uri="{FF2B5EF4-FFF2-40B4-BE49-F238E27FC236}">
                <a16:creationId xmlns:a16="http://schemas.microsoft.com/office/drawing/2014/main" id="{8313E2CF-705C-1C23-2544-DDDD00992C7D}"/>
              </a:ext>
            </a:extLst>
          </p:cNvPr>
          <p:cNvPicPr>
            <a:picLocks noChangeAspect="1"/>
          </p:cNvPicPr>
          <p:nvPr/>
        </p:nvPicPr>
        <p:blipFill>
          <a:blip r:embed="rId14"/>
          <a:stretch>
            <a:fillRect/>
          </a:stretch>
        </p:blipFill>
        <p:spPr>
          <a:xfrm>
            <a:off x="5593778" y="4975516"/>
            <a:ext cx="3230591" cy="278266"/>
          </a:xfrm>
          <a:prstGeom prst="rect">
            <a:avLst/>
          </a:prstGeom>
        </p:spPr>
      </p:pic>
      <p:pic>
        <p:nvPicPr>
          <p:cNvPr id="101" name="図 100">
            <a:extLst>
              <a:ext uri="{FF2B5EF4-FFF2-40B4-BE49-F238E27FC236}">
                <a16:creationId xmlns:a16="http://schemas.microsoft.com/office/drawing/2014/main" id="{014AADD4-2B4D-13A1-BC86-392F35DA3194}"/>
              </a:ext>
            </a:extLst>
          </p:cNvPr>
          <p:cNvPicPr>
            <a:picLocks noChangeAspect="1"/>
          </p:cNvPicPr>
          <p:nvPr/>
        </p:nvPicPr>
        <p:blipFill>
          <a:blip r:embed="rId15"/>
          <a:stretch>
            <a:fillRect/>
          </a:stretch>
        </p:blipFill>
        <p:spPr>
          <a:xfrm>
            <a:off x="5593779" y="5339540"/>
            <a:ext cx="4150101" cy="273559"/>
          </a:xfrm>
          <a:prstGeom prst="rect">
            <a:avLst/>
          </a:prstGeom>
        </p:spPr>
      </p:pic>
      <p:sp>
        <p:nvSpPr>
          <p:cNvPr id="103" name="三角形 102">
            <a:extLst>
              <a:ext uri="{FF2B5EF4-FFF2-40B4-BE49-F238E27FC236}">
                <a16:creationId xmlns:a16="http://schemas.microsoft.com/office/drawing/2014/main" id="{449C6034-9241-4742-E417-AEA8F4252D98}"/>
              </a:ext>
            </a:extLst>
          </p:cNvPr>
          <p:cNvSpPr/>
          <p:nvPr/>
        </p:nvSpPr>
        <p:spPr>
          <a:xfrm rot="5400000">
            <a:off x="2372164" y="4954718"/>
            <a:ext cx="629200" cy="2005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三角形 103">
            <a:extLst>
              <a:ext uri="{FF2B5EF4-FFF2-40B4-BE49-F238E27FC236}">
                <a16:creationId xmlns:a16="http://schemas.microsoft.com/office/drawing/2014/main" id="{B843CD9E-7D76-30A3-4098-EA78C0BBD2EF}"/>
              </a:ext>
            </a:extLst>
          </p:cNvPr>
          <p:cNvSpPr/>
          <p:nvPr/>
        </p:nvSpPr>
        <p:spPr>
          <a:xfrm rot="5400000">
            <a:off x="2372164" y="5675461"/>
            <a:ext cx="629200" cy="2005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8969321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ja-JP" altLang="en-US" sz="1400" b="1">
                <a:solidFill>
                  <a:schemeClr val="bg1"/>
                </a:solidFill>
              </a:rPr>
              <a:t>研究概要</a:t>
            </a:r>
            <a:br>
              <a:rPr kumimoji="1" lang="en-US" altLang="ja-JP" b="1" dirty="0"/>
            </a:br>
            <a:r>
              <a:rPr kumimoji="1" lang="en-US" altLang="ja-JP" b="1" dirty="0"/>
              <a:t>02.</a:t>
            </a:r>
            <a:r>
              <a:rPr kumimoji="1" lang="ja-JP" altLang="en-US" b="1"/>
              <a:t>本研究の目標</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5" y="906113"/>
            <a:ext cx="9049008" cy="1461735"/>
          </a:xfrm>
        </p:spPr>
        <p:txBody>
          <a:bodyPr/>
          <a:lstStyle/>
          <a:p>
            <a:r>
              <a:rPr kumimoji="1" lang="ja-JP" altLang="en-US"/>
              <a:t>課題１</a:t>
            </a:r>
            <a:endParaRPr kumimoji="1" lang="en-US" altLang="ja-JP" sz="1800" dirty="0">
              <a:solidFill>
                <a:schemeClr val="tx1"/>
              </a:solidFill>
            </a:endParaRPr>
          </a:p>
          <a:p>
            <a:pPr lvl="1"/>
            <a:r>
              <a:rPr kumimoji="1" lang="en-US" altLang="ja-JP" sz="1800" dirty="0">
                <a:solidFill>
                  <a:schemeClr val="tx1"/>
                </a:solidFill>
              </a:rPr>
              <a:t>TCXO</a:t>
            </a:r>
            <a:r>
              <a:rPr kumimoji="1" lang="ja-JP" altLang="en-US" sz="1800">
                <a:solidFill>
                  <a:schemeClr val="tx1"/>
                </a:solidFill>
              </a:rPr>
              <a:t>の位相ノイズ</a:t>
            </a:r>
            <a:r>
              <a:rPr kumimoji="1" lang="en-US" altLang="ja-JP" sz="1800" dirty="0">
                <a:solidFill>
                  <a:schemeClr val="tx1"/>
                </a:solidFill>
              </a:rPr>
              <a:t>(</a:t>
            </a:r>
            <a:r>
              <a:rPr kumimoji="1" lang="ja-JP" altLang="en-US" sz="1800">
                <a:solidFill>
                  <a:schemeClr val="tx1"/>
                </a:solidFill>
              </a:rPr>
              <a:t>ジッタ</a:t>
            </a:r>
            <a:r>
              <a:rPr kumimoji="1" lang="en-US" altLang="ja-JP" sz="1800" dirty="0">
                <a:solidFill>
                  <a:schemeClr val="tx1"/>
                </a:solidFill>
              </a:rPr>
              <a:t>)</a:t>
            </a:r>
            <a:r>
              <a:rPr kumimoji="1" lang="ja-JP" altLang="en-US" sz="1800">
                <a:solidFill>
                  <a:schemeClr val="tx1"/>
                </a:solidFill>
              </a:rPr>
              <a:t>測定は、従来下限</a:t>
            </a:r>
            <a:r>
              <a:rPr kumimoji="1" lang="en-US" altLang="ja-JP" sz="1800" dirty="0">
                <a:solidFill>
                  <a:schemeClr val="tx1"/>
                </a:solidFill>
              </a:rPr>
              <a:t>1Hz</a:t>
            </a:r>
            <a:r>
              <a:rPr kumimoji="1" lang="ja-JP" altLang="en-US" sz="1800">
                <a:solidFill>
                  <a:schemeClr val="tx1"/>
                </a:solidFill>
              </a:rPr>
              <a:t>でしかできなかったため、下限</a:t>
            </a:r>
            <a:r>
              <a:rPr kumimoji="1" lang="en-US" altLang="ja-JP" sz="1800" dirty="0">
                <a:solidFill>
                  <a:schemeClr val="tx1"/>
                </a:solidFill>
              </a:rPr>
              <a:t>1Hz</a:t>
            </a:r>
            <a:r>
              <a:rPr kumimoji="1" lang="ja-JP" altLang="en-US" sz="1800">
                <a:solidFill>
                  <a:schemeClr val="tx1"/>
                </a:solidFill>
              </a:rPr>
              <a:t>の測定を下限</a:t>
            </a:r>
            <a:r>
              <a:rPr kumimoji="1" lang="en-US" altLang="ja-JP" sz="1800" dirty="0">
                <a:solidFill>
                  <a:schemeClr val="tx1"/>
                </a:solidFill>
              </a:rPr>
              <a:t>0.1Hz</a:t>
            </a:r>
            <a:r>
              <a:rPr kumimoji="1" lang="ja-JP" altLang="en-US" sz="1800">
                <a:solidFill>
                  <a:schemeClr val="tx1"/>
                </a:solidFill>
              </a:rPr>
              <a:t>に拡張する。</a:t>
            </a:r>
            <a:endParaRPr kumimoji="1" lang="en-US" altLang="ja-JP" sz="1800" dirty="0">
              <a:solidFill>
                <a:schemeClr val="tx1"/>
              </a:solidFill>
            </a:endParaRPr>
          </a:p>
          <a:p>
            <a:pPr marL="592900" lvl="1" indent="0">
              <a:buNone/>
            </a:pPr>
            <a:r>
              <a:rPr kumimoji="1" lang="ja-JP" altLang="en-US" sz="1800">
                <a:solidFill>
                  <a:schemeClr val="tx1"/>
                </a:solidFill>
              </a:rPr>
              <a:t>　　→</a:t>
            </a:r>
            <a:r>
              <a:rPr kumimoji="1" lang="en-US" altLang="ja-JP" sz="1800" dirty="0">
                <a:solidFill>
                  <a:schemeClr val="tx1"/>
                </a:solidFill>
              </a:rPr>
              <a:t> </a:t>
            </a:r>
            <a:r>
              <a:rPr kumimoji="1" lang="ja-JP" altLang="en-US" sz="1637">
                <a:solidFill>
                  <a:schemeClr val="tx1"/>
                </a:solidFill>
              </a:rPr>
              <a:t>そのため、オーディオ領域で確立した手法を用いる。</a:t>
            </a:r>
            <a:r>
              <a:rPr kumimoji="1" lang="en-US" altLang="ja-JP" sz="1600" dirty="0">
                <a:solidFill>
                  <a:schemeClr val="tx1"/>
                </a:solidFill>
              </a:rPr>
              <a:t>	</a:t>
            </a:r>
            <a:endParaRPr kumimoji="1" lang="en-US" altLang="ja-JP" sz="1637" dirty="0">
              <a:solidFill>
                <a:schemeClr val="tx1"/>
              </a:solidFill>
            </a:endParaRPr>
          </a:p>
          <a:p>
            <a:endParaRPr kumimoji="1" lang="en-US" altLang="ja-JP" sz="2137" dirty="0">
              <a:solidFill>
                <a:schemeClr val="tx1"/>
              </a:solidFill>
            </a:endParaRPr>
          </a:p>
          <a:p>
            <a:pPr marL="592900" lvl="1" indent="0">
              <a:buNone/>
            </a:pPr>
            <a:r>
              <a:rPr kumimoji="1" lang="en-US" altLang="ja-JP" sz="1800" dirty="0">
                <a:solidFill>
                  <a:schemeClr val="tx1"/>
                </a:solidFill>
              </a:rPr>
              <a:t>	</a:t>
            </a:r>
          </a:p>
        </p:txBody>
      </p:sp>
      <p:sp>
        <p:nvSpPr>
          <p:cNvPr id="35" name="テキスト プレースホルダー 2">
            <a:extLst>
              <a:ext uri="{FF2B5EF4-FFF2-40B4-BE49-F238E27FC236}">
                <a16:creationId xmlns:a16="http://schemas.microsoft.com/office/drawing/2014/main" id="{1E768A97-E41F-EE82-1A85-3018BD428DAB}"/>
              </a:ext>
            </a:extLst>
          </p:cNvPr>
          <p:cNvSpPr txBox="1">
            <a:spLocks/>
          </p:cNvSpPr>
          <p:nvPr/>
        </p:nvSpPr>
        <p:spPr>
          <a:xfrm>
            <a:off x="227025" y="2929447"/>
            <a:ext cx="9049008" cy="1461735"/>
          </a:xfrm>
          <a:prstGeom prst="rect">
            <a:avLst/>
          </a:prstGeom>
          <a:noFill/>
          <a:ln>
            <a:noFill/>
          </a:ln>
        </p:spPr>
        <p:txBody>
          <a:bodyPr spcFirstLastPara="1" wrap="square" lIns="88425" tIns="43175" rIns="88425" bIns="43175" anchor="t" anchorCtr="0">
            <a:noAutofit/>
          </a:bodyPr>
          <a:lstStyle>
            <a:defPPr marR="0" lvl="0" algn="l" rtl="0">
              <a:lnSpc>
                <a:spcPct val="100000"/>
              </a:lnSpc>
              <a:spcBef>
                <a:spcPts val="0"/>
              </a:spcBef>
              <a:spcAft>
                <a:spcPts val="0"/>
              </a:spcAft>
            </a:defPPr>
            <a:lvl1pPr marL="457200" marR="0" lvl="0" indent="-331787" algn="l" rtl="0">
              <a:lnSpc>
                <a:spcPct val="100000"/>
              </a:lnSpc>
              <a:spcBef>
                <a:spcPts val="488"/>
              </a:spcBef>
              <a:spcAft>
                <a:spcPts val="0"/>
              </a:spcAft>
              <a:buClr>
                <a:schemeClr val="lt2"/>
              </a:buClr>
              <a:buSzPts val="1625"/>
              <a:buFont typeface="Noto Sans Symbols"/>
              <a:buChar char="■"/>
              <a:defRPr sz="1800" b="0" i="0" u="none" strike="noStrike" cap="none">
                <a:solidFill>
                  <a:schemeClr val="tx1"/>
                </a:solidFill>
                <a:latin typeface="Arial"/>
                <a:ea typeface="Arial"/>
                <a:cs typeface="Arial"/>
                <a:sym typeface="Arial"/>
              </a:defRPr>
            </a:lvl1pPr>
            <a:lvl2pPr marL="914400" marR="0" lvl="1" indent="-321500" algn="l" rtl="0">
              <a:lnSpc>
                <a:spcPct val="100000"/>
              </a:lnSpc>
              <a:spcBef>
                <a:spcPts val="439"/>
              </a:spcBef>
              <a:spcAft>
                <a:spcPts val="0"/>
              </a:spcAft>
              <a:buClr>
                <a:schemeClr val="lt2"/>
              </a:buClr>
              <a:buSzPts val="1463"/>
              <a:buFont typeface="Noto Sans Symbols"/>
              <a:buChar char="●"/>
              <a:defRPr sz="1463" b="0" i="0" u="none" strike="noStrike" cap="none">
                <a:solidFill>
                  <a:schemeClr val="dk1"/>
                </a:solidFill>
                <a:latin typeface="Arial"/>
                <a:ea typeface="Arial"/>
                <a:cs typeface="Arial"/>
                <a:sym typeface="Arial"/>
              </a:defRPr>
            </a:lvl2pPr>
            <a:lvl3pPr marL="1371600" marR="0" lvl="2" indent="-311150" algn="l" rtl="0">
              <a:lnSpc>
                <a:spcPct val="100000"/>
              </a:lnSpc>
              <a:spcBef>
                <a:spcPts val="26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3pPr>
            <a:lvl4pPr marL="1828800" marR="0" lvl="3" indent="-300863" algn="l" rtl="0">
              <a:lnSpc>
                <a:spcPct val="100000"/>
              </a:lnSpc>
              <a:spcBef>
                <a:spcPts val="171"/>
              </a:spcBef>
              <a:spcAft>
                <a:spcPts val="0"/>
              </a:spcAft>
              <a:buClr>
                <a:schemeClr val="dk1"/>
              </a:buClr>
              <a:buSzPts val="1138"/>
              <a:buFont typeface="Arial"/>
              <a:buChar char="▪"/>
              <a:defRPr sz="1138" b="0" i="0" u="none" strike="noStrike" cap="none">
                <a:solidFill>
                  <a:schemeClr val="dk1"/>
                </a:solidFill>
                <a:latin typeface="Arial"/>
                <a:ea typeface="Arial"/>
                <a:cs typeface="Arial"/>
                <a:sym typeface="Arial"/>
              </a:defRPr>
            </a:lvl4pPr>
            <a:lvl5pPr marL="2286000" marR="0" lvl="4" indent="-290512" algn="l" rtl="0">
              <a:lnSpc>
                <a:spcPct val="100000"/>
              </a:lnSpc>
              <a:spcBef>
                <a:spcPts val="98"/>
              </a:spcBef>
              <a:spcAft>
                <a:spcPts val="0"/>
              </a:spcAft>
              <a:buClr>
                <a:schemeClr val="dk1"/>
              </a:buClr>
              <a:buSzPts val="975"/>
              <a:buFont typeface="Arial"/>
              <a:buChar char="▪"/>
              <a:defRPr sz="975" b="0" i="0" u="none" strike="noStrike" cap="none">
                <a:solidFill>
                  <a:schemeClr val="dk1"/>
                </a:solidFill>
                <a:latin typeface="Arial"/>
                <a:ea typeface="Arial"/>
                <a:cs typeface="Arial"/>
                <a:sym typeface="Arial"/>
              </a:defRPr>
            </a:lvl5pPr>
            <a:lvl6pPr marL="2743200" marR="0" lvl="5"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6pPr>
            <a:lvl7pPr marL="3200400" marR="0" lvl="6"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7pPr>
            <a:lvl8pPr marL="3657600" marR="0" lvl="7"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8pPr>
            <a:lvl9pPr marL="4114800" marR="0" lvl="8"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9pPr>
          </a:lstStyle>
          <a:p>
            <a:r>
              <a:rPr kumimoji="1" lang="ja-JP" altLang="en-US"/>
              <a:t>なぜオシロスコープでは、下限</a:t>
            </a:r>
            <a:r>
              <a:rPr kumimoji="1" lang="en-US" altLang="ja-JP" dirty="0"/>
              <a:t>0.1Hz</a:t>
            </a:r>
            <a:r>
              <a:rPr kumimoji="1" lang="ja-JP" altLang="en-US"/>
              <a:t>の測定が行えないか。</a:t>
            </a:r>
            <a:endParaRPr kumimoji="1" lang="en-US" altLang="ja-JP" dirty="0"/>
          </a:p>
          <a:p>
            <a:pPr lvl="1"/>
            <a:r>
              <a:rPr kumimoji="1" lang="en-US" altLang="ja-JP" sz="1637" dirty="0">
                <a:solidFill>
                  <a:schemeClr val="tx1"/>
                </a:solidFill>
              </a:rPr>
              <a:t>DFT</a:t>
            </a:r>
            <a:r>
              <a:rPr kumimoji="1" lang="ja-JP" altLang="en-US" sz="1637">
                <a:solidFill>
                  <a:schemeClr val="tx1"/>
                </a:solidFill>
              </a:rPr>
              <a:t>による解析時に最小周波数単位</a:t>
            </a:r>
            <a:r>
              <a:rPr kumimoji="1" lang="en-US" altLang="ja-JP" sz="1637" dirty="0" err="1">
                <a:solidFill>
                  <a:schemeClr val="tx1"/>
                </a:solidFill>
              </a:rPr>
              <a:t>Δf</a:t>
            </a:r>
            <a:r>
              <a:rPr kumimoji="1" lang="en-US" altLang="ja-JP" sz="1637" dirty="0">
                <a:solidFill>
                  <a:schemeClr val="tx1"/>
                </a:solidFill>
              </a:rPr>
              <a:t>=0.1Hz</a:t>
            </a:r>
            <a:r>
              <a:rPr kumimoji="1" lang="ja-JP" altLang="en-US" sz="1637">
                <a:solidFill>
                  <a:schemeClr val="tx1"/>
                </a:solidFill>
              </a:rPr>
              <a:t>でなければならない。</a:t>
            </a:r>
            <a:endParaRPr kumimoji="1" lang="en-US" altLang="ja-JP" sz="1637" dirty="0">
              <a:solidFill>
                <a:schemeClr val="tx1"/>
              </a:solidFill>
            </a:endParaRPr>
          </a:p>
          <a:p>
            <a:pPr marL="592900" lvl="1" indent="0">
              <a:buNone/>
            </a:pPr>
            <a:r>
              <a:rPr kumimoji="1" lang="en-US" altLang="ja-JP" sz="1637" dirty="0">
                <a:solidFill>
                  <a:schemeClr val="tx1"/>
                </a:solidFill>
              </a:rPr>
              <a:t>      </a:t>
            </a:r>
            <a:r>
              <a:rPr kumimoji="1" lang="ja-JP" altLang="en-US" sz="1637">
                <a:solidFill>
                  <a:schemeClr val="tx1"/>
                </a:solidFill>
              </a:rPr>
              <a:t>→</a:t>
            </a:r>
            <a:r>
              <a:rPr kumimoji="1" lang="en-US" altLang="ja-JP" sz="1637" dirty="0">
                <a:solidFill>
                  <a:schemeClr val="tx1"/>
                </a:solidFill>
              </a:rPr>
              <a:t>10s</a:t>
            </a:r>
            <a:r>
              <a:rPr kumimoji="1" lang="ja-JP" altLang="en-US" sz="1637">
                <a:solidFill>
                  <a:schemeClr val="tx1"/>
                </a:solidFill>
              </a:rPr>
              <a:t>の測定が必要。</a:t>
            </a:r>
            <a:r>
              <a:rPr kumimoji="1" lang="en-US" altLang="ja-JP" sz="1600" dirty="0">
                <a:solidFill>
                  <a:schemeClr val="tx1"/>
                </a:solidFill>
              </a:rPr>
              <a:t>	</a:t>
            </a:r>
            <a:endParaRPr kumimoji="1" lang="en-US" altLang="ja-JP" sz="1637" dirty="0">
              <a:solidFill>
                <a:schemeClr val="tx1"/>
              </a:solidFill>
            </a:endParaRPr>
          </a:p>
          <a:p>
            <a:endParaRPr kumimoji="1" lang="en-US" altLang="ja-JP" sz="2137" dirty="0"/>
          </a:p>
          <a:p>
            <a:pPr marL="592900" lvl="1" indent="0">
              <a:buFont typeface="Noto Sans Symbols"/>
              <a:buNone/>
            </a:pPr>
            <a:r>
              <a:rPr kumimoji="1" lang="en-US" altLang="ja-JP" sz="1800" dirty="0">
                <a:solidFill>
                  <a:schemeClr val="tx1"/>
                </a:solidFill>
              </a:rPr>
              <a:t>	</a:t>
            </a:r>
          </a:p>
        </p:txBody>
      </p:sp>
      <p:graphicFrame>
        <p:nvGraphicFramePr>
          <p:cNvPr id="40" name="表 39">
            <a:extLst>
              <a:ext uri="{FF2B5EF4-FFF2-40B4-BE49-F238E27FC236}">
                <a16:creationId xmlns:a16="http://schemas.microsoft.com/office/drawing/2014/main" id="{E7D93722-FCEF-A349-8961-65105B2DF234}"/>
              </a:ext>
            </a:extLst>
          </p:cNvPr>
          <p:cNvGraphicFramePr>
            <a:graphicFrameLocks noGrp="1"/>
          </p:cNvGraphicFramePr>
          <p:nvPr>
            <p:extLst>
              <p:ext uri="{D42A27DB-BD31-4B8C-83A1-F6EECF244321}">
                <p14:modId xmlns:p14="http://schemas.microsoft.com/office/powerpoint/2010/main" val="1889350453"/>
              </p:ext>
            </p:extLst>
          </p:nvPr>
        </p:nvGraphicFramePr>
        <p:xfrm>
          <a:off x="1895817" y="4196740"/>
          <a:ext cx="6474460" cy="1756400"/>
        </p:xfrm>
        <a:graphic>
          <a:graphicData uri="http://schemas.openxmlformats.org/drawingml/2006/table">
            <a:tbl>
              <a:tblPr firstRow="1" bandRow="1">
                <a:tableStyleId>{FFF55246-B984-4F00-A051-4BF160ACBDB1}</a:tableStyleId>
              </a:tblPr>
              <a:tblGrid>
                <a:gridCol w="2158153">
                  <a:extLst>
                    <a:ext uri="{9D8B030D-6E8A-4147-A177-3AD203B41FA5}">
                      <a16:colId xmlns:a16="http://schemas.microsoft.com/office/drawing/2014/main" val="1379942070"/>
                    </a:ext>
                  </a:extLst>
                </a:gridCol>
                <a:gridCol w="2192085">
                  <a:extLst>
                    <a:ext uri="{9D8B030D-6E8A-4147-A177-3AD203B41FA5}">
                      <a16:colId xmlns:a16="http://schemas.microsoft.com/office/drawing/2014/main" val="4021740923"/>
                    </a:ext>
                  </a:extLst>
                </a:gridCol>
                <a:gridCol w="2124222">
                  <a:extLst>
                    <a:ext uri="{9D8B030D-6E8A-4147-A177-3AD203B41FA5}">
                      <a16:colId xmlns:a16="http://schemas.microsoft.com/office/drawing/2014/main" val="1910060141"/>
                    </a:ext>
                  </a:extLst>
                </a:gridCol>
              </a:tblGrid>
              <a:tr h="726786">
                <a:tc>
                  <a:txBody>
                    <a:bodyPr/>
                    <a:lstStyle/>
                    <a:p>
                      <a:r>
                        <a:rPr kumimoji="1" lang="ja-JP" altLang="en-US"/>
                        <a:t>測定器</a:t>
                      </a:r>
                    </a:p>
                  </a:txBody>
                  <a:tcPr/>
                </a:tc>
                <a:tc>
                  <a:txBody>
                    <a:bodyPr/>
                    <a:lstStyle/>
                    <a:p>
                      <a:r>
                        <a:rPr kumimoji="1" lang="ja-JP" altLang="en-US"/>
                        <a:t>サンプルレート</a:t>
                      </a:r>
                    </a:p>
                  </a:txBody>
                  <a:tcPr/>
                </a:tc>
                <a:tc>
                  <a:txBody>
                    <a:bodyPr/>
                    <a:lstStyle/>
                    <a:p>
                      <a:r>
                        <a:rPr kumimoji="1" lang="ja-JP" altLang="en-US"/>
                        <a:t>サンプル数</a:t>
                      </a:r>
                      <a:endParaRPr kumimoji="1" lang="en-US" altLang="ja-JP" dirty="0"/>
                    </a:p>
                    <a:p>
                      <a:r>
                        <a:rPr kumimoji="1" lang="ja-JP" altLang="en-US"/>
                        <a:t>（</a:t>
                      </a:r>
                      <a:r>
                        <a:rPr kumimoji="1" lang="en-US" altLang="ja-JP" dirty="0"/>
                        <a:t>10</a:t>
                      </a:r>
                      <a:r>
                        <a:rPr kumimoji="1" lang="ja-JP" altLang="en-US"/>
                        <a:t>秒測定の場合）</a:t>
                      </a:r>
                    </a:p>
                  </a:txBody>
                  <a:tcPr/>
                </a:tc>
                <a:extLst>
                  <a:ext uri="{0D108BD9-81ED-4DB2-BD59-A6C34878D82A}">
                    <a16:rowId xmlns:a16="http://schemas.microsoft.com/office/drawing/2014/main" val="280143233"/>
                  </a:ext>
                </a:extLst>
              </a:tr>
              <a:tr h="514807">
                <a:tc>
                  <a:txBody>
                    <a:bodyPr/>
                    <a:lstStyle/>
                    <a:p>
                      <a:r>
                        <a:rPr kumimoji="1" lang="en-US" altLang="ja-JP" dirty="0"/>
                        <a:t>Oscilloscope</a:t>
                      </a:r>
                      <a:endParaRPr kumimoji="1" lang="ja-JP" altLang="en-US"/>
                    </a:p>
                  </a:txBody>
                  <a:tcPr/>
                </a:tc>
                <a:tc>
                  <a:txBody>
                    <a:bodyPr/>
                    <a:lstStyle/>
                    <a:p>
                      <a:r>
                        <a:rPr kumimoji="1" lang="en-US" altLang="ja-JP" dirty="0"/>
                        <a:t>2.5G</a:t>
                      </a:r>
                      <a:r>
                        <a:rPr kumimoji="1" lang="ja-JP" altLang="en-US"/>
                        <a:t>サンプル</a:t>
                      </a:r>
                      <a:r>
                        <a:rPr kumimoji="1" lang="en-US" altLang="ja-JP" dirty="0"/>
                        <a:t>/s</a:t>
                      </a:r>
                      <a:endParaRPr kumimoji="1" lang="ja-JP" altLang="en-US"/>
                    </a:p>
                  </a:txBody>
                  <a:tcPr/>
                </a:tc>
                <a:tc>
                  <a:txBody>
                    <a:bodyPr/>
                    <a:lstStyle/>
                    <a:p>
                      <a:r>
                        <a:rPr kumimoji="1" lang="en-US" altLang="ja-JP" dirty="0"/>
                        <a:t>25G</a:t>
                      </a:r>
                      <a:r>
                        <a:rPr kumimoji="1" lang="ja-JP" altLang="en-US"/>
                        <a:t>サンプル</a:t>
                      </a:r>
                    </a:p>
                  </a:txBody>
                  <a:tcPr/>
                </a:tc>
                <a:extLst>
                  <a:ext uri="{0D108BD9-81ED-4DB2-BD59-A6C34878D82A}">
                    <a16:rowId xmlns:a16="http://schemas.microsoft.com/office/drawing/2014/main" val="1514337629"/>
                  </a:ext>
                </a:extLst>
              </a:tr>
              <a:tr h="514807">
                <a:tc>
                  <a:txBody>
                    <a:bodyPr/>
                    <a:lstStyle/>
                    <a:p>
                      <a:r>
                        <a:rPr kumimoji="1" lang="en-US" altLang="ja-JP" dirty="0"/>
                        <a:t>Audio Recorder</a:t>
                      </a:r>
                      <a:endParaRPr kumimoji="1" lang="ja-JP" altLang="en-US"/>
                    </a:p>
                  </a:txBody>
                  <a:tcPr/>
                </a:tc>
                <a:tc>
                  <a:txBody>
                    <a:bodyPr/>
                    <a:lstStyle/>
                    <a:p>
                      <a:r>
                        <a:rPr kumimoji="1" lang="en-US" altLang="ja-JP" dirty="0"/>
                        <a:t>192k</a:t>
                      </a:r>
                      <a:r>
                        <a:rPr kumimoji="1" lang="ja-JP" altLang="en-US"/>
                        <a:t>サンプル</a:t>
                      </a:r>
                      <a:r>
                        <a:rPr kumimoji="1" lang="en-US" altLang="ja-JP" dirty="0"/>
                        <a:t>/s</a:t>
                      </a:r>
                      <a:endParaRPr kumimoji="1" lang="ja-JP" altLang="en-US"/>
                    </a:p>
                  </a:txBody>
                  <a:tcPr/>
                </a:tc>
                <a:tc>
                  <a:txBody>
                    <a:bodyPr/>
                    <a:lstStyle/>
                    <a:p>
                      <a:r>
                        <a:rPr kumimoji="1" lang="en-US" altLang="ja-JP" dirty="0"/>
                        <a:t>1.92M</a:t>
                      </a:r>
                      <a:r>
                        <a:rPr kumimoji="1" lang="ja-JP" altLang="en-US"/>
                        <a:t>サンプル</a:t>
                      </a:r>
                    </a:p>
                  </a:txBody>
                  <a:tcPr/>
                </a:tc>
                <a:extLst>
                  <a:ext uri="{0D108BD9-81ED-4DB2-BD59-A6C34878D82A}">
                    <a16:rowId xmlns:a16="http://schemas.microsoft.com/office/drawing/2014/main" val="3723115245"/>
                  </a:ext>
                </a:extLst>
              </a:tr>
            </a:tbl>
          </a:graphicData>
        </a:graphic>
      </p:graphicFrame>
    </p:spTree>
    <p:extLst>
      <p:ext uri="{BB962C8B-B14F-4D97-AF65-F5344CB8AC3E}">
        <p14:creationId xmlns:p14="http://schemas.microsoft.com/office/powerpoint/2010/main" val="372869407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ja-JP" altLang="en-US" sz="1400" b="1">
                <a:solidFill>
                  <a:schemeClr val="bg1"/>
                </a:solidFill>
              </a:rPr>
              <a:t>研究概要</a:t>
            </a:r>
            <a:br>
              <a:rPr kumimoji="1" lang="en-US" altLang="ja-JP" b="1" dirty="0"/>
            </a:br>
            <a:r>
              <a:rPr kumimoji="1" lang="en-US" altLang="ja-JP" b="1" dirty="0"/>
              <a:t>02.</a:t>
            </a:r>
            <a:r>
              <a:rPr kumimoji="1" lang="ja-JP" altLang="en-US" b="1"/>
              <a:t>本研究の目標</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5" y="906113"/>
            <a:ext cx="9049008" cy="1635445"/>
          </a:xfrm>
        </p:spPr>
        <p:txBody>
          <a:bodyPr/>
          <a:lstStyle/>
          <a:p>
            <a:r>
              <a:rPr kumimoji="1" lang="ja-JP" altLang="en-US" sz="1800">
                <a:solidFill>
                  <a:schemeClr val="tx1"/>
                </a:solidFill>
              </a:rPr>
              <a:t>課題２</a:t>
            </a:r>
            <a:endParaRPr kumimoji="1" lang="en-US" altLang="ja-JP" dirty="0">
              <a:solidFill>
                <a:schemeClr val="tx1"/>
              </a:solidFill>
            </a:endParaRPr>
          </a:p>
          <a:p>
            <a:pPr lvl="1"/>
            <a:r>
              <a:rPr kumimoji="1" lang="ja-JP" altLang="en-US" sz="1800">
                <a:solidFill>
                  <a:schemeClr val="tx1"/>
                </a:solidFill>
              </a:rPr>
              <a:t>計測をレコーダで行うが、サンプリング周波数が</a:t>
            </a:r>
            <a:r>
              <a:rPr kumimoji="1" lang="en-US" altLang="ja-JP" sz="1800" dirty="0">
                <a:solidFill>
                  <a:schemeClr val="tx1"/>
                </a:solidFill>
              </a:rPr>
              <a:t>192kHz</a:t>
            </a:r>
            <a:r>
              <a:rPr kumimoji="1" lang="ja-JP" altLang="en-US" sz="1800">
                <a:solidFill>
                  <a:schemeClr val="tx1"/>
                </a:solidFill>
              </a:rPr>
              <a:t>のため、入力信号を</a:t>
            </a:r>
            <a:r>
              <a:rPr kumimoji="1" lang="en-US" altLang="ja-JP" sz="1800" dirty="0">
                <a:solidFill>
                  <a:schemeClr val="tx1"/>
                </a:solidFill>
              </a:rPr>
              <a:t>192kHz/2=96kHz</a:t>
            </a:r>
            <a:r>
              <a:rPr kumimoji="1" lang="ja-JP" altLang="en-US" sz="1800">
                <a:solidFill>
                  <a:schemeClr val="tx1"/>
                </a:solidFill>
              </a:rPr>
              <a:t>以下にする必要がある。</a:t>
            </a:r>
            <a:endParaRPr kumimoji="1" lang="en-US" altLang="ja-JP" sz="1800" dirty="0">
              <a:solidFill>
                <a:schemeClr val="tx1"/>
              </a:solidFill>
            </a:endParaRPr>
          </a:p>
          <a:p>
            <a:pPr marL="1060450" lvl="2" indent="0">
              <a:buNone/>
            </a:pPr>
            <a:r>
              <a:rPr kumimoji="1" lang="ja-JP" altLang="en-US" sz="1600">
                <a:solidFill>
                  <a:schemeClr val="tx1"/>
                </a:solidFill>
              </a:rPr>
              <a:t>→「低ジッタ」な分周回路と適切なセットアップを見つけ出し、オーディオ　　　</a:t>
            </a:r>
            <a:r>
              <a:rPr kumimoji="1" lang="en-US" altLang="ja-JP" sz="1600" dirty="0">
                <a:solidFill>
                  <a:schemeClr val="tx1"/>
                </a:solidFill>
              </a:rPr>
              <a:t>	</a:t>
            </a:r>
            <a:r>
              <a:rPr kumimoji="1" lang="ja-JP" altLang="en-US" sz="1600">
                <a:solidFill>
                  <a:schemeClr val="tx1"/>
                </a:solidFill>
              </a:rPr>
              <a:t>　　領域での測定を適切に</a:t>
            </a:r>
            <a:r>
              <a:rPr kumimoji="1" lang="en-US" altLang="ja-JP" sz="1600" dirty="0">
                <a:solidFill>
                  <a:schemeClr val="tx1"/>
                </a:solidFill>
              </a:rPr>
              <a:t>TCXO</a:t>
            </a:r>
            <a:r>
              <a:rPr kumimoji="1" lang="ja-JP" altLang="en-US" sz="1600">
                <a:solidFill>
                  <a:schemeClr val="tx1"/>
                </a:solidFill>
              </a:rPr>
              <a:t>領域に適用する。</a:t>
            </a:r>
            <a:endParaRPr kumimoji="1" lang="en-US" altLang="ja-JP" sz="1600" dirty="0">
              <a:solidFill>
                <a:schemeClr val="tx1"/>
              </a:solidFill>
            </a:endParaRPr>
          </a:p>
          <a:p>
            <a:pPr marL="1060450" lvl="2" indent="0">
              <a:buNone/>
            </a:pPr>
            <a:r>
              <a:rPr kumimoji="1" lang="en-US" altLang="ja-JP" sz="1600" dirty="0">
                <a:solidFill>
                  <a:schemeClr val="tx1"/>
                </a:solidFill>
              </a:rPr>
              <a:t>	</a:t>
            </a:r>
            <a:endParaRPr kumimoji="1" lang="en-US" altLang="ja-JP" sz="1637" dirty="0">
              <a:solidFill>
                <a:schemeClr val="tx1"/>
              </a:solidFill>
            </a:endParaRPr>
          </a:p>
          <a:p>
            <a:endParaRPr kumimoji="1" lang="en-US" altLang="ja-JP" sz="2137" dirty="0">
              <a:solidFill>
                <a:schemeClr val="tx1"/>
              </a:solidFill>
            </a:endParaRPr>
          </a:p>
          <a:p>
            <a:pPr marL="592900" lvl="1" indent="0">
              <a:buNone/>
            </a:pPr>
            <a:r>
              <a:rPr kumimoji="1" lang="en-US" altLang="ja-JP" sz="1800" dirty="0">
                <a:solidFill>
                  <a:schemeClr val="tx1"/>
                </a:solidFill>
              </a:rPr>
              <a:t>	</a:t>
            </a:r>
          </a:p>
        </p:txBody>
      </p:sp>
      <p:grpSp>
        <p:nvGrpSpPr>
          <p:cNvPr id="23" name="グループ化 22">
            <a:extLst>
              <a:ext uri="{FF2B5EF4-FFF2-40B4-BE49-F238E27FC236}">
                <a16:creationId xmlns:a16="http://schemas.microsoft.com/office/drawing/2014/main" id="{0FE0B5D4-77EE-AB01-8014-D9F7EFFD60A8}"/>
              </a:ext>
            </a:extLst>
          </p:cNvPr>
          <p:cNvGrpSpPr/>
          <p:nvPr/>
        </p:nvGrpSpPr>
        <p:grpSpPr>
          <a:xfrm>
            <a:off x="1331145" y="2680968"/>
            <a:ext cx="7243710" cy="1635475"/>
            <a:chOff x="1331619" y="4073612"/>
            <a:chExt cx="7243710" cy="1635475"/>
          </a:xfrm>
        </p:grpSpPr>
        <p:sp>
          <p:nvSpPr>
            <p:cNvPr id="4" name="正方形/長方形 3">
              <a:extLst>
                <a:ext uri="{FF2B5EF4-FFF2-40B4-BE49-F238E27FC236}">
                  <a16:creationId xmlns:a16="http://schemas.microsoft.com/office/drawing/2014/main" id="{7CD3AFCC-C260-39EA-6599-41141839AA6B}"/>
                </a:ext>
              </a:extLst>
            </p:cNvPr>
            <p:cNvSpPr/>
            <p:nvPr/>
          </p:nvSpPr>
          <p:spPr>
            <a:xfrm>
              <a:off x="6584780" y="4073612"/>
              <a:ext cx="783067" cy="461665"/>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ja-JP" altLang="en-US">
                <a:solidFill>
                  <a:schemeClr val="tx1"/>
                </a:solidFill>
                <a:latin typeface="+mj-lt"/>
              </a:endParaRPr>
            </a:p>
          </p:txBody>
        </p:sp>
        <p:grpSp>
          <p:nvGrpSpPr>
            <p:cNvPr id="5" name="グループ化 4">
              <a:extLst>
                <a:ext uri="{FF2B5EF4-FFF2-40B4-BE49-F238E27FC236}">
                  <a16:creationId xmlns:a16="http://schemas.microsoft.com/office/drawing/2014/main" id="{2F2A2A9C-D3E5-381F-BDC3-0BBD22093FF3}"/>
                </a:ext>
              </a:extLst>
            </p:cNvPr>
            <p:cNvGrpSpPr/>
            <p:nvPr/>
          </p:nvGrpSpPr>
          <p:grpSpPr>
            <a:xfrm>
              <a:off x="1452940" y="4535277"/>
              <a:ext cx="620640" cy="629471"/>
              <a:chOff x="5104655" y="3573559"/>
              <a:chExt cx="620640" cy="629471"/>
            </a:xfrm>
          </p:grpSpPr>
          <p:sp>
            <p:nvSpPr>
              <p:cNvPr id="6" name="円/楕円 5">
                <a:extLst>
                  <a:ext uri="{FF2B5EF4-FFF2-40B4-BE49-F238E27FC236}">
                    <a16:creationId xmlns:a16="http://schemas.microsoft.com/office/drawing/2014/main" id="{8EF48C23-B788-F14E-7D40-8EA53C36540F}"/>
                  </a:ext>
                </a:extLst>
              </p:cNvPr>
              <p:cNvSpPr/>
              <p:nvPr/>
            </p:nvSpPr>
            <p:spPr>
              <a:xfrm>
                <a:off x="5104655" y="3573559"/>
                <a:ext cx="620640" cy="62947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リーフォーム 6">
                <a:extLst>
                  <a:ext uri="{FF2B5EF4-FFF2-40B4-BE49-F238E27FC236}">
                    <a16:creationId xmlns:a16="http://schemas.microsoft.com/office/drawing/2014/main" id="{E5784EFC-EC58-51A3-3662-686FE3CC8265}"/>
                  </a:ext>
                </a:extLst>
              </p:cNvPr>
              <p:cNvSpPr/>
              <p:nvPr/>
            </p:nvSpPr>
            <p:spPr>
              <a:xfrm>
                <a:off x="5243038" y="3696499"/>
                <a:ext cx="343875" cy="383590"/>
              </a:xfrm>
              <a:custGeom>
                <a:avLst/>
                <a:gdLst>
                  <a:gd name="connsiteX0" fmla="*/ 0 w 396240"/>
                  <a:gd name="connsiteY0" fmla="*/ 213403 h 442003"/>
                  <a:gd name="connsiteX1" fmla="*/ 76200 w 396240"/>
                  <a:gd name="connsiteY1" fmla="*/ 43 h 442003"/>
                  <a:gd name="connsiteX2" fmla="*/ 167640 w 396240"/>
                  <a:gd name="connsiteY2" fmla="*/ 228643 h 442003"/>
                  <a:gd name="connsiteX3" fmla="*/ 289560 w 396240"/>
                  <a:gd name="connsiteY3" fmla="*/ 442003 h 442003"/>
                  <a:gd name="connsiteX4" fmla="*/ 396240 w 396240"/>
                  <a:gd name="connsiteY4" fmla="*/ 228643 h 442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 h="442003">
                    <a:moveTo>
                      <a:pt x="0" y="213403"/>
                    </a:moveTo>
                    <a:cubicBezTo>
                      <a:pt x="24130" y="105453"/>
                      <a:pt x="48260" y="-2497"/>
                      <a:pt x="76200" y="43"/>
                    </a:cubicBezTo>
                    <a:cubicBezTo>
                      <a:pt x="104140" y="2583"/>
                      <a:pt x="132080" y="154983"/>
                      <a:pt x="167640" y="228643"/>
                    </a:cubicBezTo>
                    <a:cubicBezTo>
                      <a:pt x="203200" y="302303"/>
                      <a:pt x="251460" y="442003"/>
                      <a:pt x="289560" y="442003"/>
                    </a:cubicBezTo>
                    <a:cubicBezTo>
                      <a:pt x="327660" y="442003"/>
                      <a:pt x="386080" y="243883"/>
                      <a:pt x="396240" y="2286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08A6F96B-620C-7156-82AE-3DB851B5F9D4}"/>
                </a:ext>
              </a:extLst>
            </p:cNvPr>
            <p:cNvGrpSpPr/>
            <p:nvPr/>
          </p:nvGrpSpPr>
          <p:grpSpPr>
            <a:xfrm>
              <a:off x="5295694" y="4073622"/>
              <a:ext cx="863280" cy="461655"/>
              <a:chOff x="7028781" y="3657462"/>
              <a:chExt cx="863280" cy="461655"/>
            </a:xfrm>
          </p:grpSpPr>
          <p:sp>
            <p:nvSpPr>
              <p:cNvPr id="9" name="ホームベース 8">
                <a:extLst>
                  <a:ext uri="{FF2B5EF4-FFF2-40B4-BE49-F238E27FC236}">
                    <a16:creationId xmlns:a16="http://schemas.microsoft.com/office/drawing/2014/main" id="{233C163A-808F-2847-048B-13B63199AE59}"/>
                  </a:ext>
                </a:extLst>
              </p:cNvPr>
              <p:cNvSpPr/>
              <p:nvPr/>
            </p:nvSpPr>
            <p:spPr>
              <a:xfrm rot="10800000">
                <a:off x="7028781" y="3657462"/>
                <a:ext cx="863280" cy="461655"/>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10" name="テキスト ボックス 9">
                <a:extLst>
                  <a:ext uri="{FF2B5EF4-FFF2-40B4-BE49-F238E27FC236}">
                    <a16:creationId xmlns:a16="http://schemas.microsoft.com/office/drawing/2014/main" id="{47B94D4D-2044-7496-A2C2-A78DF3E37297}"/>
                  </a:ext>
                </a:extLst>
              </p:cNvPr>
              <p:cNvSpPr txBox="1"/>
              <p:nvPr/>
            </p:nvSpPr>
            <p:spPr>
              <a:xfrm>
                <a:off x="7236788" y="3741312"/>
                <a:ext cx="564578" cy="307777"/>
              </a:xfrm>
              <a:prstGeom prst="rect">
                <a:avLst/>
              </a:prstGeom>
              <a:noFill/>
            </p:spPr>
            <p:txBody>
              <a:bodyPr wrap="none" rtlCol="0">
                <a:spAutoFit/>
              </a:bodyPr>
              <a:lstStyle/>
              <a:p>
                <a:r>
                  <a:rPr kumimoji="1" lang="en-US" altLang="ja-JP" dirty="0"/>
                  <a:t>ADC</a:t>
                </a:r>
                <a:endParaRPr kumimoji="1" lang="ja-JP" altLang="en-US"/>
              </a:p>
            </p:txBody>
          </p:sp>
        </p:grpSp>
        <p:sp>
          <p:nvSpPr>
            <p:cNvPr id="11" name="正方形/長方形 10">
              <a:extLst>
                <a:ext uri="{FF2B5EF4-FFF2-40B4-BE49-F238E27FC236}">
                  <a16:creationId xmlns:a16="http://schemas.microsoft.com/office/drawing/2014/main" id="{034898FD-2D1E-4518-4042-9969C58EB031}"/>
                </a:ext>
              </a:extLst>
            </p:cNvPr>
            <p:cNvSpPr/>
            <p:nvPr/>
          </p:nvSpPr>
          <p:spPr>
            <a:xfrm>
              <a:off x="7792262" y="4073612"/>
              <a:ext cx="783067" cy="1635459"/>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en-US" altLang="ja-JP" dirty="0">
                <a:solidFill>
                  <a:schemeClr val="tx1"/>
                </a:solidFill>
                <a:latin typeface="+mj-lt"/>
              </a:endParaRPr>
            </a:p>
            <a:p>
              <a:pPr algn="ctr"/>
              <a:r>
                <a:rPr kumimoji="1" lang="en-US" altLang="ja-JP" dirty="0">
                  <a:solidFill>
                    <a:schemeClr val="tx1"/>
                  </a:solidFill>
                  <a:latin typeface="+mj-lt"/>
                </a:rPr>
                <a:t>with</a:t>
              </a:r>
            </a:p>
            <a:p>
              <a:pPr algn="ctr"/>
              <a:r>
                <a:rPr kumimoji="1" lang="en-US" altLang="ja-JP" dirty="0">
                  <a:solidFill>
                    <a:schemeClr val="tx1"/>
                  </a:solidFill>
                  <a:latin typeface="+mj-lt"/>
                </a:rPr>
                <a:t>DRS</a:t>
              </a:r>
            </a:p>
          </p:txBody>
        </p:sp>
        <p:grpSp>
          <p:nvGrpSpPr>
            <p:cNvPr id="12" name="グループ化 11">
              <a:extLst>
                <a:ext uri="{FF2B5EF4-FFF2-40B4-BE49-F238E27FC236}">
                  <a16:creationId xmlns:a16="http://schemas.microsoft.com/office/drawing/2014/main" id="{821DBD8A-97E7-6C6E-9BBE-BFDB89F32BC5}"/>
                </a:ext>
              </a:extLst>
            </p:cNvPr>
            <p:cNvGrpSpPr/>
            <p:nvPr/>
          </p:nvGrpSpPr>
          <p:grpSpPr>
            <a:xfrm>
              <a:off x="5295695" y="5247431"/>
              <a:ext cx="863280" cy="461655"/>
              <a:chOff x="7028781" y="3657462"/>
              <a:chExt cx="863280" cy="461655"/>
            </a:xfrm>
          </p:grpSpPr>
          <p:sp>
            <p:nvSpPr>
              <p:cNvPr id="13" name="ホームベース 12">
                <a:extLst>
                  <a:ext uri="{FF2B5EF4-FFF2-40B4-BE49-F238E27FC236}">
                    <a16:creationId xmlns:a16="http://schemas.microsoft.com/office/drawing/2014/main" id="{C94EBEA0-80A2-3524-6021-73A99ECFCA7F}"/>
                  </a:ext>
                </a:extLst>
              </p:cNvPr>
              <p:cNvSpPr/>
              <p:nvPr/>
            </p:nvSpPr>
            <p:spPr>
              <a:xfrm rot="10800000">
                <a:off x="7028781" y="3657462"/>
                <a:ext cx="863280" cy="461655"/>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14" name="テキスト ボックス 13">
                <a:extLst>
                  <a:ext uri="{FF2B5EF4-FFF2-40B4-BE49-F238E27FC236}">
                    <a16:creationId xmlns:a16="http://schemas.microsoft.com/office/drawing/2014/main" id="{7684F5FF-F2BA-8238-A247-D7E9767E06E0}"/>
                  </a:ext>
                </a:extLst>
              </p:cNvPr>
              <p:cNvSpPr txBox="1"/>
              <p:nvPr/>
            </p:nvSpPr>
            <p:spPr>
              <a:xfrm>
                <a:off x="7236788" y="3741312"/>
                <a:ext cx="564578" cy="307777"/>
              </a:xfrm>
              <a:prstGeom prst="rect">
                <a:avLst/>
              </a:prstGeom>
              <a:noFill/>
            </p:spPr>
            <p:txBody>
              <a:bodyPr wrap="none" rtlCol="0">
                <a:spAutoFit/>
              </a:bodyPr>
              <a:lstStyle/>
              <a:p>
                <a:r>
                  <a:rPr kumimoji="1" lang="en-US" altLang="ja-JP" dirty="0"/>
                  <a:t>ADC</a:t>
                </a:r>
                <a:endParaRPr kumimoji="1" lang="ja-JP" altLang="en-US"/>
              </a:p>
            </p:txBody>
          </p:sp>
        </p:grpSp>
        <p:sp>
          <p:nvSpPr>
            <p:cNvPr id="15" name="正方形/長方形 14">
              <a:extLst>
                <a:ext uri="{FF2B5EF4-FFF2-40B4-BE49-F238E27FC236}">
                  <a16:creationId xmlns:a16="http://schemas.microsoft.com/office/drawing/2014/main" id="{3887496C-999F-3BB3-E35E-06693ACEB641}"/>
                </a:ext>
              </a:extLst>
            </p:cNvPr>
            <p:cNvSpPr/>
            <p:nvPr/>
          </p:nvSpPr>
          <p:spPr>
            <a:xfrm>
              <a:off x="6584085" y="5247422"/>
              <a:ext cx="783067" cy="461665"/>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ja-JP" altLang="en-US">
                <a:solidFill>
                  <a:schemeClr val="tx1"/>
                </a:solidFill>
                <a:latin typeface="+mj-lt"/>
              </a:endParaRPr>
            </a:p>
          </p:txBody>
        </p:sp>
        <p:cxnSp>
          <p:nvCxnSpPr>
            <p:cNvPr id="16" name="カギ線コネクタ 15">
              <a:extLst>
                <a:ext uri="{FF2B5EF4-FFF2-40B4-BE49-F238E27FC236}">
                  <a16:creationId xmlns:a16="http://schemas.microsoft.com/office/drawing/2014/main" id="{6D72798C-8B0F-7513-820A-19D5543B9D2C}"/>
                </a:ext>
              </a:extLst>
            </p:cNvPr>
            <p:cNvCxnSpPr>
              <a:cxnSpLocks/>
              <a:endCxn id="13" idx="3"/>
            </p:cNvCxnSpPr>
            <p:nvPr/>
          </p:nvCxnSpPr>
          <p:spPr>
            <a:xfrm>
              <a:off x="4329181" y="4848904"/>
              <a:ext cx="966514" cy="629354"/>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カギ線コネクタ 16">
              <a:extLst>
                <a:ext uri="{FF2B5EF4-FFF2-40B4-BE49-F238E27FC236}">
                  <a16:creationId xmlns:a16="http://schemas.microsoft.com/office/drawing/2014/main" id="{673FA50B-5CD9-FC57-13FB-DF0D658DAE36}"/>
                </a:ext>
              </a:extLst>
            </p:cNvPr>
            <p:cNvCxnSpPr>
              <a:cxnSpLocks/>
              <a:endCxn id="9" idx="3"/>
            </p:cNvCxnSpPr>
            <p:nvPr/>
          </p:nvCxnSpPr>
          <p:spPr>
            <a:xfrm flipV="1">
              <a:off x="4329181" y="4304449"/>
              <a:ext cx="966513" cy="544455"/>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E4EFF309-125A-DF86-5E9E-DA9A6715AFAB}"/>
                </a:ext>
              </a:extLst>
            </p:cNvPr>
            <p:cNvCxnSpPr>
              <a:stCxn id="9" idx="1"/>
              <a:endCxn id="4" idx="1"/>
            </p:cNvCxnSpPr>
            <p:nvPr/>
          </p:nvCxnSpPr>
          <p:spPr>
            <a:xfrm flipV="1">
              <a:off x="6158974" y="4304445"/>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DF2EADBC-4CC6-C72A-3589-3E7669D83F28}"/>
                </a:ext>
              </a:extLst>
            </p:cNvPr>
            <p:cNvCxnSpPr/>
            <p:nvPr/>
          </p:nvCxnSpPr>
          <p:spPr>
            <a:xfrm flipV="1">
              <a:off x="7367847" y="4316127"/>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3D151A04-0E69-813E-E4FA-3568AA0AC8ED}"/>
                </a:ext>
              </a:extLst>
            </p:cNvPr>
            <p:cNvCxnSpPr/>
            <p:nvPr/>
          </p:nvCxnSpPr>
          <p:spPr>
            <a:xfrm flipV="1">
              <a:off x="6169233" y="5485169"/>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14881C70-A630-7471-2E14-F85C5F23ECD1}"/>
                </a:ext>
              </a:extLst>
            </p:cNvPr>
            <p:cNvCxnSpPr/>
            <p:nvPr/>
          </p:nvCxnSpPr>
          <p:spPr>
            <a:xfrm flipV="1">
              <a:off x="7366456" y="5485169"/>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正方形/長方形 23">
              <a:extLst>
                <a:ext uri="{FF2B5EF4-FFF2-40B4-BE49-F238E27FC236}">
                  <a16:creationId xmlns:a16="http://schemas.microsoft.com/office/drawing/2014/main" id="{0A20AB57-C1B5-7C37-62B4-1EE4A132D9F0}"/>
                </a:ext>
              </a:extLst>
            </p:cNvPr>
            <p:cNvSpPr/>
            <p:nvPr/>
          </p:nvSpPr>
          <p:spPr>
            <a:xfrm>
              <a:off x="2499386" y="4452125"/>
              <a:ext cx="1829794" cy="793557"/>
            </a:xfrm>
            <a:prstGeom prst="rect">
              <a:avLst/>
            </a:prstGeom>
            <a:solidFill>
              <a:srgbClr val="17318D"/>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bg1"/>
                  </a:solidFill>
                  <a:latin typeface="+mj-lt"/>
                </a:rPr>
                <a:t>低ジッタな</a:t>
              </a:r>
              <a:endParaRPr kumimoji="1" lang="en-US" altLang="ja-JP" dirty="0">
                <a:solidFill>
                  <a:schemeClr val="bg1"/>
                </a:solidFill>
                <a:latin typeface="+mj-lt"/>
              </a:endParaRPr>
            </a:p>
            <a:p>
              <a:pPr algn="ctr"/>
              <a:r>
                <a:rPr kumimoji="1" lang="ja-JP" altLang="en-US">
                  <a:solidFill>
                    <a:schemeClr val="bg1"/>
                  </a:solidFill>
                  <a:latin typeface="+mj-lt"/>
                </a:rPr>
                <a:t>分周システム</a:t>
              </a:r>
            </a:p>
          </p:txBody>
        </p:sp>
        <p:cxnSp>
          <p:nvCxnSpPr>
            <p:cNvPr id="25" name="直線矢印コネクタ 24">
              <a:extLst>
                <a:ext uri="{FF2B5EF4-FFF2-40B4-BE49-F238E27FC236}">
                  <a16:creationId xmlns:a16="http://schemas.microsoft.com/office/drawing/2014/main" id="{BD13C57D-663B-250B-DC71-D91EC96E1356}"/>
                </a:ext>
              </a:extLst>
            </p:cNvPr>
            <p:cNvCxnSpPr/>
            <p:nvPr/>
          </p:nvCxnSpPr>
          <p:spPr>
            <a:xfrm flipV="1">
              <a:off x="2072189" y="4849161"/>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2" name="テキスト ボックス 21">
              <a:extLst>
                <a:ext uri="{FF2B5EF4-FFF2-40B4-BE49-F238E27FC236}">
                  <a16:creationId xmlns:a16="http://schemas.microsoft.com/office/drawing/2014/main" id="{23ECF435-89FE-EF1C-F2D3-C267EAB6A3F5}"/>
                </a:ext>
              </a:extLst>
            </p:cNvPr>
            <p:cNvSpPr txBox="1"/>
            <p:nvPr/>
          </p:nvSpPr>
          <p:spPr>
            <a:xfrm>
              <a:off x="1331619" y="5245682"/>
              <a:ext cx="863281" cy="307769"/>
            </a:xfrm>
            <a:prstGeom prst="rect">
              <a:avLst/>
            </a:prstGeom>
            <a:noFill/>
          </p:spPr>
          <p:txBody>
            <a:bodyPr wrap="square" rtlCol="0">
              <a:spAutoFit/>
            </a:bodyPr>
            <a:lstStyle/>
            <a:p>
              <a:pPr algn="ctr"/>
              <a:r>
                <a:rPr kumimoji="1" lang="en-US" altLang="ja-JP" dirty="0"/>
                <a:t>TCXO</a:t>
              </a:r>
              <a:endParaRPr kumimoji="1" lang="ja-JP" altLang="en-US"/>
            </a:p>
          </p:txBody>
        </p:sp>
      </p:grpSp>
      <p:sp>
        <p:nvSpPr>
          <p:cNvPr id="26" name="テキスト プレースホルダー 2">
            <a:extLst>
              <a:ext uri="{FF2B5EF4-FFF2-40B4-BE49-F238E27FC236}">
                <a16:creationId xmlns:a16="http://schemas.microsoft.com/office/drawing/2014/main" id="{A80F6243-F789-7FD6-E452-E5208F997CC0}"/>
              </a:ext>
            </a:extLst>
          </p:cNvPr>
          <p:cNvSpPr txBox="1">
            <a:spLocks/>
          </p:cNvSpPr>
          <p:nvPr/>
        </p:nvSpPr>
        <p:spPr>
          <a:xfrm>
            <a:off x="213524" y="4580952"/>
            <a:ext cx="4524503" cy="2116590"/>
          </a:xfrm>
          <a:prstGeom prst="rect">
            <a:avLst/>
          </a:prstGeom>
          <a:noFill/>
          <a:ln>
            <a:noFill/>
          </a:ln>
        </p:spPr>
        <p:txBody>
          <a:bodyPr spcFirstLastPara="1" wrap="square" lIns="88425" tIns="43175" rIns="88425" bIns="43175" anchor="t" anchorCtr="0">
            <a:noAutofit/>
          </a:bodyPr>
          <a:lstStyle>
            <a:defPPr marR="0" lvl="0" algn="l" rtl="0">
              <a:lnSpc>
                <a:spcPct val="100000"/>
              </a:lnSpc>
              <a:spcBef>
                <a:spcPts val="0"/>
              </a:spcBef>
              <a:spcAft>
                <a:spcPts val="0"/>
              </a:spcAft>
            </a:defPPr>
            <a:lvl1pPr marL="457200" marR="0" lvl="0" indent="-331787" algn="l" rtl="0">
              <a:lnSpc>
                <a:spcPct val="100000"/>
              </a:lnSpc>
              <a:spcBef>
                <a:spcPts val="488"/>
              </a:spcBef>
              <a:spcAft>
                <a:spcPts val="0"/>
              </a:spcAft>
              <a:buClr>
                <a:schemeClr val="lt2"/>
              </a:buClr>
              <a:buSzPts val="1625"/>
              <a:buFont typeface="Noto Sans Symbols"/>
              <a:buChar char="■"/>
              <a:defRPr sz="1800" b="0" i="0" u="none" strike="noStrike" cap="none">
                <a:solidFill>
                  <a:schemeClr val="tx1"/>
                </a:solidFill>
                <a:latin typeface="Arial"/>
                <a:ea typeface="Arial"/>
                <a:cs typeface="Arial"/>
                <a:sym typeface="Arial"/>
              </a:defRPr>
            </a:lvl1pPr>
            <a:lvl2pPr marL="914400" marR="0" lvl="1" indent="-321500" algn="l" rtl="0">
              <a:lnSpc>
                <a:spcPct val="100000"/>
              </a:lnSpc>
              <a:spcBef>
                <a:spcPts val="439"/>
              </a:spcBef>
              <a:spcAft>
                <a:spcPts val="0"/>
              </a:spcAft>
              <a:buClr>
                <a:schemeClr val="lt2"/>
              </a:buClr>
              <a:buSzPts val="1463"/>
              <a:buFont typeface="Noto Sans Symbols"/>
              <a:buChar char="●"/>
              <a:defRPr sz="1463" b="0" i="0" u="none" strike="noStrike" cap="none">
                <a:solidFill>
                  <a:schemeClr val="dk1"/>
                </a:solidFill>
                <a:latin typeface="Arial"/>
                <a:ea typeface="Arial"/>
                <a:cs typeface="Arial"/>
                <a:sym typeface="Arial"/>
              </a:defRPr>
            </a:lvl2pPr>
            <a:lvl3pPr marL="1371600" marR="0" lvl="2" indent="-311150" algn="l" rtl="0">
              <a:lnSpc>
                <a:spcPct val="100000"/>
              </a:lnSpc>
              <a:spcBef>
                <a:spcPts val="26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3pPr>
            <a:lvl4pPr marL="1828800" marR="0" lvl="3" indent="-300863" algn="l" rtl="0">
              <a:lnSpc>
                <a:spcPct val="100000"/>
              </a:lnSpc>
              <a:spcBef>
                <a:spcPts val="171"/>
              </a:spcBef>
              <a:spcAft>
                <a:spcPts val="0"/>
              </a:spcAft>
              <a:buClr>
                <a:schemeClr val="dk1"/>
              </a:buClr>
              <a:buSzPts val="1138"/>
              <a:buFont typeface="Arial"/>
              <a:buChar char="▪"/>
              <a:defRPr sz="1138" b="0" i="0" u="none" strike="noStrike" cap="none">
                <a:solidFill>
                  <a:schemeClr val="dk1"/>
                </a:solidFill>
                <a:latin typeface="Arial"/>
                <a:ea typeface="Arial"/>
                <a:cs typeface="Arial"/>
                <a:sym typeface="Arial"/>
              </a:defRPr>
            </a:lvl4pPr>
            <a:lvl5pPr marL="2286000" marR="0" lvl="4" indent="-290512" algn="l" rtl="0">
              <a:lnSpc>
                <a:spcPct val="100000"/>
              </a:lnSpc>
              <a:spcBef>
                <a:spcPts val="98"/>
              </a:spcBef>
              <a:spcAft>
                <a:spcPts val="0"/>
              </a:spcAft>
              <a:buClr>
                <a:schemeClr val="dk1"/>
              </a:buClr>
              <a:buSzPts val="975"/>
              <a:buFont typeface="Arial"/>
              <a:buChar char="▪"/>
              <a:defRPr sz="975" b="0" i="0" u="none" strike="noStrike" cap="none">
                <a:solidFill>
                  <a:schemeClr val="dk1"/>
                </a:solidFill>
                <a:latin typeface="Arial"/>
                <a:ea typeface="Arial"/>
                <a:cs typeface="Arial"/>
                <a:sym typeface="Arial"/>
              </a:defRPr>
            </a:lvl5pPr>
            <a:lvl6pPr marL="2743200" marR="0" lvl="5"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6pPr>
            <a:lvl7pPr marL="3200400" marR="0" lvl="6"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7pPr>
            <a:lvl8pPr marL="3657600" marR="0" lvl="7"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8pPr>
            <a:lvl9pPr marL="4114800" marR="0" lvl="8"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9pPr>
          </a:lstStyle>
          <a:p>
            <a:r>
              <a:rPr kumimoji="1" lang="ja-JP" altLang="en-US" sz="1600">
                <a:solidFill>
                  <a:schemeClr val="tx1"/>
                </a:solidFill>
              </a:rPr>
              <a:t>懸念点：分周の際に位相ノイズ</a:t>
            </a:r>
            <a:r>
              <a:rPr kumimoji="1" lang="en-US" altLang="ja-JP" sz="1600" dirty="0">
                <a:solidFill>
                  <a:schemeClr val="tx1"/>
                </a:solidFill>
              </a:rPr>
              <a:t>(</a:t>
            </a:r>
            <a:r>
              <a:rPr kumimoji="1" lang="ja-JP" altLang="en-US" sz="1600">
                <a:solidFill>
                  <a:schemeClr val="tx1"/>
                </a:solidFill>
              </a:rPr>
              <a:t>ジッタ</a:t>
            </a:r>
            <a:r>
              <a:rPr kumimoji="1" lang="en-US" altLang="ja-JP" sz="1600" dirty="0">
                <a:solidFill>
                  <a:schemeClr val="tx1"/>
                </a:solidFill>
              </a:rPr>
              <a:t>)</a:t>
            </a:r>
            <a:r>
              <a:rPr kumimoji="1" lang="ja-JP" altLang="en-US" sz="1600">
                <a:solidFill>
                  <a:schemeClr val="tx1"/>
                </a:solidFill>
              </a:rPr>
              <a:t>は変化してしまわないか？</a:t>
            </a:r>
            <a:endParaRPr kumimoji="1" lang="en-US" altLang="ja-JP" sz="1600" dirty="0">
              <a:solidFill>
                <a:schemeClr val="tx1"/>
              </a:solidFill>
            </a:endParaRPr>
          </a:p>
          <a:p>
            <a:pPr marL="125413" indent="0">
              <a:buNone/>
            </a:pPr>
            <a:r>
              <a:rPr kumimoji="1" lang="ja-JP" altLang="en-US" sz="1600"/>
              <a:t>　→高周波成分は、分周によって低周波部分に乗ることがわかっている。</a:t>
            </a:r>
            <a:endParaRPr kumimoji="1" lang="en-US" altLang="ja-JP" sz="1600" dirty="0"/>
          </a:p>
          <a:p>
            <a:pPr marL="125413" indent="0">
              <a:buNone/>
            </a:pPr>
            <a:r>
              <a:rPr kumimoji="1" lang="ja-JP" altLang="en-US" sz="1600"/>
              <a:t>　→高周波成分は、低周波成分に比べて極めて小さい。</a:t>
            </a:r>
            <a:endParaRPr kumimoji="1" lang="en-US" altLang="ja-JP" sz="2137" dirty="0"/>
          </a:p>
          <a:p>
            <a:pPr marL="592900" lvl="1" indent="0">
              <a:buFont typeface="Noto Sans Symbols"/>
              <a:buNone/>
            </a:pPr>
            <a:r>
              <a:rPr kumimoji="1" lang="en-US" altLang="ja-JP" sz="1800" dirty="0">
                <a:solidFill>
                  <a:schemeClr val="tx1"/>
                </a:solidFill>
              </a:rPr>
              <a:t>	</a:t>
            </a:r>
          </a:p>
        </p:txBody>
      </p:sp>
      <p:grpSp>
        <p:nvGrpSpPr>
          <p:cNvPr id="27" name="グループ化 26">
            <a:extLst>
              <a:ext uri="{FF2B5EF4-FFF2-40B4-BE49-F238E27FC236}">
                <a16:creationId xmlns:a16="http://schemas.microsoft.com/office/drawing/2014/main" id="{D81867DE-D2CE-B751-5121-4A4128151FAD}"/>
              </a:ext>
            </a:extLst>
          </p:cNvPr>
          <p:cNvGrpSpPr/>
          <p:nvPr/>
        </p:nvGrpSpPr>
        <p:grpSpPr>
          <a:xfrm>
            <a:off x="4738029" y="2918716"/>
            <a:ext cx="8874033" cy="4097608"/>
            <a:chOff x="3985203" y="2194990"/>
            <a:chExt cx="9716719" cy="4407017"/>
          </a:xfrm>
        </p:grpSpPr>
        <p:cxnSp>
          <p:nvCxnSpPr>
            <p:cNvPr id="28" name="直線矢印コネクタ 27">
              <a:extLst>
                <a:ext uri="{FF2B5EF4-FFF2-40B4-BE49-F238E27FC236}">
                  <a16:creationId xmlns:a16="http://schemas.microsoft.com/office/drawing/2014/main" id="{D471B9D9-1DE1-9104-1464-1FF73B64F5C5}"/>
                </a:ext>
              </a:extLst>
            </p:cNvPr>
            <p:cNvCxnSpPr>
              <a:cxnSpLocks/>
            </p:cNvCxnSpPr>
            <p:nvPr/>
          </p:nvCxnSpPr>
          <p:spPr>
            <a:xfrm>
              <a:off x="4352494" y="5983207"/>
              <a:ext cx="486850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9" name="円弧 28">
              <a:extLst>
                <a:ext uri="{FF2B5EF4-FFF2-40B4-BE49-F238E27FC236}">
                  <a16:creationId xmlns:a16="http://schemas.microsoft.com/office/drawing/2014/main" id="{34137F29-F93A-4938-BB0D-DF42D3534391}"/>
                </a:ext>
              </a:extLst>
            </p:cNvPr>
            <p:cNvSpPr/>
            <p:nvPr/>
          </p:nvSpPr>
          <p:spPr>
            <a:xfrm>
              <a:off x="4811601" y="2194990"/>
              <a:ext cx="8890321" cy="3669790"/>
            </a:xfrm>
            <a:prstGeom prst="arc">
              <a:avLst>
                <a:gd name="adj1" fmla="val 9947927"/>
                <a:gd name="adj2" fmla="val 10819371"/>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BB730FE8-2B28-7811-E139-26D02FE7B26C}"/>
                </a:ext>
              </a:extLst>
            </p:cNvPr>
            <p:cNvSpPr txBox="1"/>
            <p:nvPr/>
          </p:nvSpPr>
          <p:spPr>
            <a:xfrm>
              <a:off x="3985203" y="6270990"/>
              <a:ext cx="1840676" cy="331017"/>
            </a:xfrm>
            <a:prstGeom prst="rect">
              <a:avLst/>
            </a:prstGeom>
            <a:noFill/>
          </p:spPr>
          <p:txBody>
            <a:bodyPr wrap="square" rtlCol="0">
              <a:spAutoFit/>
            </a:bodyPr>
            <a:lstStyle/>
            <a:p>
              <a:pPr algn="ctr"/>
              <a:endParaRPr kumimoji="1" lang="ja-JP" altLang="en-US"/>
            </a:p>
          </p:txBody>
        </p:sp>
        <p:cxnSp>
          <p:nvCxnSpPr>
            <p:cNvPr id="31" name="直線コネクタ 30">
              <a:extLst>
                <a:ext uri="{FF2B5EF4-FFF2-40B4-BE49-F238E27FC236}">
                  <a16:creationId xmlns:a16="http://schemas.microsoft.com/office/drawing/2014/main" id="{C6A02EC8-CEB7-5B78-4EA0-CC4ACA05220B}"/>
                </a:ext>
              </a:extLst>
            </p:cNvPr>
            <p:cNvCxnSpPr>
              <a:cxnSpLocks/>
              <a:stCxn id="43" idx="0"/>
            </p:cNvCxnSpPr>
            <p:nvPr/>
          </p:nvCxnSpPr>
          <p:spPr>
            <a:xfrm>
              <a:off x="5446251" y="4937833"/>
              <a:ext cx="0" cy="1041276"/>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21E1FEF4-5B1D-B542-D8B0-3FA3B4A8A8D8}"/>
                </a:ext>
              </a:extLst>
            </p:cNvPr>
            <p:cNvCxnSpPr>
              <a:cxnSpLocks/>
            </p:cNvCxnSpPr>
            <p:nvPr/>
          </p:nvCxnSpPr>
          <p:spPr>
            <a:xfrm>
              <a:off x="7494520" y="5716495"/>
              <a:ext cx="0" cy="285265"/>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33" name="テキスト ボックス 32">
              <a:extLst>
                <a:ext uri="{FF2B5EF4-FFF2-40B4-BE49-F238E27FC236}">
                  <a16:creationId xmlns:a16="http://schemas.microsoft.com/office/drawing/2014/main" id="{3D124C88-396A-5F30-F64E-A5EB851F59B4}"/>
                </a:ext>
              </a:extLst>
            </p:cNvPr>
            <p:cNvSpPr txBox="1"/>
            <p:nvPr/>
          </p:nvSpPr>
          <p:spPr>
            <a:xfrm>
              <a:off x="8077343" y="6001760"/>
              <a:ext cx="1418385" cy="307777"/>
            </a:xfrm>
            <a:prstGeom prst="rect">
              <a:avLst/>
            </a:prstGeom>
            <a:noFill/>
          </p:spPr>
          <p:txBody>
            <a:bodyPr wrap="square" rtlCol="0">
              <a:spAutoFit/>
            </a:bodyPr>
            <a:lstStyle/>
            <a:p>
              <a:pPr algn="ctr"/>
              <a:r>
                <a:rPr kumimoji="1" lang="en-US" altLang="ja-JP" dirty="0"/>
                <a:t>Offset</a:t>
              </a:r>
              <a:r>
                <a:rPr kumimoji="1" lang="ja-JP" altLang="en-US"/>
                <a:t>周波数</a:t>
              </a:r>
            </a:p>
          </p:txBody>
        </p:sp>
        <p:sp>
          <p:nvSpPr>
            <p:cNvPr id="34" name="テキスト ボックス 33">
              <a:extLst>
                <a:ext uri="{FF2B5EF4-FFF2-40B4-BE49-F238E27FC236}">
                  <a16:creationId xmlns:a16="http://schemas.microsoft.com/office/drawing/2014/main" id="{82CAEDBA-9241-83CE-73BF-2C8D0CFDC59A}"/>
                </a:ext>
              </a:extLst>
            </p:cNvPr>
            <p:cNvSpPr txBox="1"/>
            <p:nvPr/>
          </p:nvSpPr>
          <p:spPr>
            <a:xfrm>
              <a:off x="5053699" y="6013378"/>
              <a:ext cx="801512" cy="331017"/>
            </a:xfrm>
            <a:prstGeom prst="rect">
              <a:avLst/>
            </a:prstGeom>
            <a:noFill/>
          </p:spPr>
          <p:txBody>
            <a:bodyPr wrap="square" rtlCol="0">
              <a:spAutoFit/>
            </a:bodyPr>
            <a:lstStyle/>
            <a:p>
              <a:pPr algn="ctr"/>
              <a:r>
                <a:rPr kumimoji="1" lang="en-US" altLang="ja-JP" dirty="0"/>
                <a:t>12kHz</a:t>
              </a:r>
              <a:endParaRPr kumimoji="1" lang="ja-JP" altLang="en-US"/>
            </a:p>
          </p:txBody>
        </p:sp>
        <p:sp>
          <p:nvSpPr>
            <p:cNvPr id="35" name="テキスト ボックス 34">
              <a:extLst>
                <a:ext uri="{FF2B5EF4-FFF2-40B4-BE49-F238E27FC236}">
                  <a16:creationId xmlns:a16="http://schemas.microsoft.com/office/drawing/2014/main" id="{D80D569A-A8A1-044A-1515-8CE121875187}"/>
                </a:ext>
              </a:extLst>
            </p:cNvPr>
            <p:cNvSpPr txBox="1"/>
            <p:nvPr/>
          </p:nvSpPr>
          <p:spPr>
            <a:xfrm>
              <a:off x="7003763" y="6001760"/>
              <a:ext cx="981513" cy="331017"/>
            </a:xfrm>
            <a:prstGeom prst="rect">
              <a:avLst/>
            </a:prstGeom>
            <a:noFill/>
          </p:spPr>
          <p:txBody>
            <a:bodyPr wrap="square" rtlCol="0">
              <a:spAutoFit/>
            </a:bodyPr>
            <a:lstStyle/>
            <a:p>
              <a:pPr algn="ctr"/>
              <a:r>
                <a:rPr kumimoji="1" lang="en-US" altLang="ja-JP" dirty="0"/>
                <a:t>27MHz</a:t>
              </a:r>
              <a:endParaRPr kumimoji="1" lang="ja-JP" altLang="en-US"/>
            </a:p>
          </p:txBody>
        </p:sp>
        <p:cxnSp>
          <p:nvCxnSpPr>
            <p:cNvPr id="39" name="直線矢印コネクタ 38">
              <a:extLst>
                <a:ext uri="{FF2B5EF4-FFF2-40B4-BE49-F238E27FC236}">
                  <a16:creationId xmlns:a16="http://schemas.microsoft.com/office/drawing/2014/main" id="{14D85423-DB17-CEF2-C659-7AC5140F8571}"/>
                </a:ext>
              </a:extLst>
            </p:cNvPr>
            <p:cNvCxnSpPr>
              <a:cxnSpLocks/>
            </p:cNvCxnSpPr>
            <p:nvPr/>
          </p:nvCxnSpPr>
          <p:spPr>
            <a:xfrm flipV="1">
              <a:off x="4777147" y="3835597"/>
              <a:ext cx="0" cy="2411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BE892921-EB4D-5F04-349A-B7CDA3E1A02D}"/>
                </a:ext>
              </a:extLst>
            </p:cNvPr>
            <p:cNvSpPr txBox="1"/>
            <p:nvPr/>
          </p:nvSpPr>
          <p:spPr>
            <a:xfrm>
              <a:off x="4823065" y="3835597"/>
              <a:ext cx="863775" cy="523220"/>
            </a:xfrm>
            <a:prstGeom prst="rect">
              <a:avLst/>
            </a:prstGeom>
            <a:noFill/>
          </p:spPr>
          <p:txBody>
            <a:bodyPr wrap="square" rtlCol="0">
              <a:spAutoFit/>
            </a:bodyPr>
            <a:lstStyle/>
            <a:p>
              <a:r>
                <a:rPr kumimoji="1" lang="en-US" altLang="ja-JP" dirty="0"/>
                <a:t>L(f) </a:t>
              </a:r>
              <a:r>
                <a:rPr kumimoji="1" lang="en-US" altLang="ja-JP" dirty="0" err="1"/>
                <a:t>dBc</a:t>
              </a:r>
              <a:r>
                <a:rPr kumimoji="1" lang="en-US" altLang="ja-JP" dirty="0"/>
                <a:t>/Hz</a:t>
              </a:r>
              <a:endParaRPr kumimoji="1" lang="ja-JP" altLang="en-US"/>
            </a:p>
          </p:txBody>
        </p:sp>
      </p:grpSp>
      <p:sp>
        <p:nvSpPr>
          <p:cNvPr id="43" name="円弧 42">
            <a:extLst>
              <a:ext uri="{FF2B5EF4-FFF2-40B4-BE49-F238E27FC236}">
                <a16:creationId xmlns:a16="http://schemas.microsoft.com/office/drawing/2014/main" id="{10A21C0B-7E6C-1C63-5BE2-23E83785A26D}"/>
              </a:ext>
            </a:extLst>
          </p:cNvPr>
          <p:cNvSpPr/>
          <p:nvPr/>
        </p:nvSpPr>
        <p:spPr>
          <a:xfrm>
            <a:off x="5511049" y="2897322"/>
            <a:ext cx="8119305" cy="3412140"/>
          </a:xfrm>
          <a:prstGeom prst="arc">
            <a:avLst>
              <a:gd name="adj1" fmla="val 9966142"/>
              <a:gd name="adj2" fmla="val 10819371"/>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cxnSp>
        <p:nvCxnSpPr>
          <p:cNvPr id="51" name="曲線コネクタ 50">
            <a:extLst>
              <a:ext uri="{FF2B5EF4-FFF2-40B4-BE49-F238E27FC236}">
                <a16:creationId xmlns:a16="http://schemas.microsoft.com/office/drawing/2014/main" id="{B88D65BD-879B-F1B9-741B-00C981AD795D}"/>
              </a:ext>
            </a:extLst>
          </p:cNvPr>
          <p:cNvCxnSpPr>
            <a:cxnSpLocks/>
          </p:cNvCxnSpPr>
          <p:nvPr/>
        </p:nvCxnSpPr>
        <p:spPr>
          <a:xfrm rot="10800000">
            <a:off x="6079862" y="5418002"/>
            <a:ext cx="932939" cy="622798"/>
          </a:xfrm>
          <a:prstGeom prst="curvedConnector3">
            <a:avLst>
              <a:gd name="adj1" fmla="val -4409"/>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5" name="円弧 54">
            <a:extLst>
              <a:ext uri="{FF2B5EF4-FFF2-40B4-BE49-F238E27FC236}">
                <a16:creationId xmlns:a16="http://schemas.microsoft.com/office/drawing/2014/main" id="{DD02F384-2314-8FD4-6050-9F59BE8D53D2}"/>
              </a:ext>
            </a:extLst>
          </p:cNvPr>
          <p:cNvSpPr/>
          <p:nvPr/>
        </p:nvSpPr>
        <p:spPr>
          <a:xfrm>
            <a:off x="5479584" y="2913553"/>
            <a:ext cx="8119305" cy="3412140"/>
          </a:xfrm>
          <a:prstGeom prst="arc">
            <a:avLst>
              <a:gd name="adj1" fmla="val 8121444"/>
              <a:gd name="adj2" fmla="val 9940341"/>
            </a:avLst>
          </a:prstGeom>
          <a:ln w="19050">
            <a:prstDash val="dash"/>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43787682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solidFill>
                  <a:schemeClr val="bg1"/>
                </a:solidFill>
              </a:rPr>
              <a:t>03.</a:t>
            </a:r>
            <a:br>
              <a:rPr kumimoji="1" lang="en-US" altLang="ja-JP" b="1" dirty="0"/>
            </a:br>
            <a:r>
              <a:rPr kumimoji="1" lang="en-US" altLang="ja-JP" b="1" dirty="0"/>
              <a:t>03.</a:t>
            </a:r>
            <a:r>
              <a:rPr kumimoji="1" lang="ja-JP" altLang="en-US" b="1"/>
              <a:t>研究方法</a:t>
            </a:r>
            <a:br>
              <a:rPr kumimoji="1" lang="en-US" altLang="ja-JP" b="1" dirty="0"/>
            </a:br>
            <a:endParaRPr kumimoji="1" lang="ja-JP" altLang="en-US" b="1"/>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p:txBody>
          <a:bodyPr/>
          <a:lstStyle/>
          <a:p>
            <a:r>
              <a:rPr kumimoji="1" lang="ja-JP" altLang="en-US" sz="1800">
                <a:solidFill>
                  <a:schemeClr val="tx1"/>
                </a:solidFill>
              </a:rPr>
              <a:t>まず先行研究の追実験を行い手法を確認した後、</a:t>
            </a:r>
            <a:r>
              <a:rPr kumimoji="1" lang="en-US" altLang="ja-JP" dirty="0"/>
              <a:t>TCXO(27MHz)</a:t>
            </a:r>
            <a:r>
              <a:rPr kumimoji="1" lang="ja-JP" altLang="en-US"/>
              <a:t>から</a:t>
            </a:r>
            <a:r>
              <a:rPr kumimoji="1" lang="en-US" altLang="ja-JP" dirty="0"/>
              <a:t>12kHz</a:t>
            </a:r>
            <a:r>
              <a:rPr kumimoji="1" lang="ja-JP" altLang="en-US"/>
              <a:t>への分周を行う。</a:t>
            </a:r>
            <a:endParaRPr kumimoji="1" lang="en-US" altLang="ja-JP" dirty="0"/>
          </a:p>
          <a:p>
            <a:r>
              <a:rPr kumimoji="1" lang="ja-JP" altLang="en-US"/>
              <a:t>その際に測定された余剰ノイズの原因を特定し、余剰ノイズができるだけ小さくなる形での分周回路設計を模索する。</a:t>
            </a:r>
            <a:endParaRPr kumimoji="1" lang="en-US" altLang="ja-JP" sz="1800" dirty="0">
              <a:solidFill>
                <a:schemeClr val="tx1"/>
              </a:solidFill>
            </a:endParaRPr>
          </a:p>
        </p:txBody>
      </p:sp>
      <p:sp>
        <p:nvSpPr>
          <p:cNvPr id="8" name="ホームベース 7">
            <a:extLst>
              <a:ext uri="{FF2B5EF4-FFF2-40B4-BE49-F238E27FC236}">
                <a16:creationId xmlns:a16="http://schemas.microsoft.com/office/drawing/2014/main" id="{A11CF59A-EC47-826F-585B-5AC1EF6760A4}"/>
              </a:ext>
            </a:extLst>
          </p:cNvPr>
          <p:cNvSpPr/>
          <p:nvPr/>
        </p:nvSpPr>
        <p:spPr>
          <a:xfrm>
            <a:off x="674266" y="2802468"/>
            <a:ext cx="2168117" cy="1840654"/>
          </a:xfrm>
          <a:prstGeom prst="homePlate">
            <a:avLst>
              <a:gd name="adj" fmla="val 2795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0.</a:t>
            </a:r>
            <a:r>
              <a:rPr kumimoji="1" lang="ja-JP" altLang="en-US" sz="2000"/>
              <a:t>オーディオ</a:t>
            </a:r>
            <a:endParaRPr kumimoji="1" lang="en-US" altLang="ja-JP" sz="2000" dirty="0"/>
          </a:p>
          <a:p>
            <a:pPr algn="ctr"/>
            <a:r>
              <a:rPr kumimoji="1" lang="ja-JP" altLang="en-US" sz="2000"/>
              <a:t>領域でのジッタ再計測</a:t>
            </a:r>
            <a:endParaRPr kumimoji="1" lang="en-US" altLang="ja-JP" sz="2000" dirty="0"/>
          </a:p>
        </p:txBody>
      </p:sp>
      <p:sp>
        <p:nvSpPr>
          <p:cNvPr id="10" name="ホームベース 9">
            <a:extLst>
              <a:ext uri="{FF2B5EF4-FFF2-40B4-BE49-F238E27FC236}">
                <a16:creationId xmlns:a16="http://schemas.microsoft.com/office/drawing/2014/main" id="{D5B8F884-5A43-0860-C21A-06313D63FBA2}"/>
              </a:ext>
            </a:extLst>
          </p:cNvPr>
          <p:cNvSpPr/>
          <p:nvPr/>
        </p:nvSpPr>
        <p:spPr>
          <a:xfrm>
            <a:off x="2847593" y="2802468"/>
            <a:ext cx="2168117" cy="1840654"/>
          </a:xfrm>
          <a:prstGeom prst="homePlate">
            <a:avLst>
              <a:gd name="adj" fmla="val 2795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1.TCXO</a:t>
            </a:r>
            <a:r>
              <a:rPr kumimoji="1" lang="ja-JP" altLang="en-US" sz="2000"/>
              <a:t>の</a:t>
            </a:r>
            <a:endParaRPr kumimoji="1" lang="en-US" altLang="ja-JP" sz="2000" dirty="0"/>
          </a:p>
          <a:p>
            <a:pPr algn="ctr"/>
            <a:r>
              <a:rPr kumimoji="1" lang="ja-JP" altLang="en-US" sz="2000"/>
              <a:t>分周測定</a:t>
            </a:r>
            <a:endParaRPr kumimoji="1" lang="en-US" altLang="ja-JP" sz="2000" dirty="0"/>
          </a:p>
        </p:txBody>
      </p:sp>
      <p:sp>
        <p:nvSpPr>
          <p:cNvPr id="11" name="ホームベース 10">
            <a:extLst>
              <a:ext uri="{FF2B5EF4-FFF2-40B4-BE49-F238E27FC236}">
                <a16:creationId xmlns:a16="http://schemas.microsoft.com/office/drawing/2014/main" id="{DACF370F-0722-FF73-CE6D-5CA4DFED6957}"/>
              </a:ext>
            </a:extLst>
          </p:cNvPr>
          <p:cNvSpPr/>
          <p:nvPr/>
        </p:nvSpPr>
        <p:spPr>
          <a:xfrm>
            <a:off x="5020920" y="2802467"/>
            <a:ext cx="2168117" cy="1840654"/>
          </a:xfrm>
          <a:prstGeom prst="homePlate">
            <a:avLst>
              <a:gd name="adj" fmla="val 2795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2.</a:t>
            </a:r>
            <a:r>
              <a:rPr kumimoji="1" lang="ja-JP" altLang="en-US" sz="2000"/>
              <a:t>余剰ノイズ</a:t>
            </a:r>
            <a:endParaRPr kumimoji="1" lang="en-US" altLang="ja-JP" sz="2000" dirty="0"/>
          </a:p>
          <a:p>
            <a:pPr algn="ctr"/>
            <a:r>
              <a:rPr kumimoji="1" lang="ja-JP" altLang="en-US" sz="2000"/>
              <a:t>原因特定</a:t>
            </a:r>
            <a:endParaRPr kumimoji="1" lang="en-US" altLang="ja-JP" sz="2000" dirty="0"/>
          </a:p>
        </p:txBody>
      </p:sp>
      <p:sp>
        <p:nvSpPr>
          <p:cNvPr id="12" name="ホームベース 11">
            <a:extLst>
              <a:ext uri="{FF2B5EF4-FFF2-40B4-BE49-F238E27FC236}">
                <a16:creationId xmlns:a16="http://schemas.microsoft.com/office/drawing/2014/main" id="{F3921EBA-F886-EA30-A4ED-CAECFE754F9E}"/>
              </a:ext>
            </a:extLst>
          </p:cNvPr>
          <p:cNvSpPr/>
          <p:nvPr/>
        </p:nvSpPr>
        <p:spPr>
          <a:xfrm>
            <a:off x="7194247" y="2802467"/>
            <a:ext cx="2168117" cy="1840654"/>
          </a:xfrm>
          <a:prstGeom prst="homePlate">
            <a:avLst>
              <a:gd name="adj" fmla="val 2795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3.</a:t>
            </a:r>
            <a:r>
              <a:rPr kumimoji="1" lang="ja-JP" altLang="en-US" sz="2000"/>
              <a:t>余剰ノイズ</a:t>
            </a:r>
            <a:endParaRPr kumimoji="1" lang="en-US" altLang="ja-JP" sz="2000" dirty="0"/>
          </a:p>
          <a:p>
            <a:pPr algn="ctr"/>
            <a:r>
              <a:rPr kumimoji="1" lang="ja-JP" altLang="en-US" sz="2000"/>
              <a:t>除去パターンの検証</a:t>
            </a:r>
            <a:endParaRPr kumimoji="1" lang="en-US" altLang="ja-JP" sz="2000" dirty="0"/>
          </a:p>
        </p:txBody>
      </p:sp>
      <p:sp>
        <p:nvSpPr>
          <p:cNvPr id="4" name="テキスト プレースホルダー 2">
            <a:extLst>
              <a:ext uri="{FF2B5EF4-FFF2-40B4-BE49-F238E27FC236}">
                <a16:creationId xmlns:a16="http://schemas.microsoft.com/office/drawing/2014/main" id="{29DACDAC-32EA-32E5-3B01-642DE07CDA99}"/>
              </a:ext>
            </a:extLst>
          </p:cNvPr>
          <p:cNvSpPr txBox="1">
            <a:spLocks/>
          </p:cNvSpPr>
          <p:nvPr/>
        </p:nvSpPr>
        <p:spPr>
          <a:xfrm>
            <a:off x="213525" y="5091671"/>
            <a:ext cx="9477000" cy="1308765"/>
          </a:xfrm>
          <a:prstGeom prst="rect">
            <a:avLst/>
          </a:prstGeom>
          <a:noFill/>
          <a:ln>
            <a:noFill/>
          </a:ln>
        </p:spPr>
        <p:txBody>
          <a:bodyPr spcFirstLastPara="1" wrap="square" lIns="88425" tIns="43175" rIns="88425" bIns="43175" anchor="t" anchorCtr="0">
            <a:noAutofit/>
          </a:bodyPr>
          <a:lstStyle>
            <a:defPPr marR="0" lvl="0" algn="l" rtl="0">
              <a:lnSpc>
                <a:spcPct val="100000"/>
              </a:lnSpc>
              <a:spcBef>
                <a:spcPts val="0"/>
              </a:spcBef>
              <a:spcAft>
                <a:spcPts val="0"/>
              </a:spcAft>
            </a:defPPr>
            <a:lvl1pPr marL="457200" marR="0" lvl="0" indent="-331787" algn="l" rtl="0">
              <a:lnSpc>
                <a:spcPct val="100000"/>
              </a:lnSpc>
              <a:spcBef>
                <a:spcPts val="488"/>
              </a:spcBef>
              <a:spcAft>
                <a:spcPts val="0"/>
              </a:spcAft>
              <a:buClr>
                <a:schemeClr val="lt2"/>
              </a:buClr>
              <a:buSzPts val="1625"/>
              <a:buFont typeface="Noto Sans Symbols"/>
              <a:buChar char="■"/>
              <a:defRPr sz="1800" b="0" i="0" u="none" strike="noStrike" cap="none">
                <a:solidFill>
                  <a:schemeClr val="tx1"/>
                </a:solidFill>
                <a:latin typeface="Arial"/>
                <a:ea typeface="Arial"/>
                <a:cs typeface="Arial"/>
                <a:sym typeface="Arial"/>
              </a:defRPr>
            </a:lvl1pPr>
            <a:lvl2pPr marL="914400" marR="0" lvl="1" indent="-321500" algn="l" rtl="0">
              <a:lnSpc>
                <a:spcPct val="100000"/>
              </a:lnSpc>
              <a:spcBef>
                <a:spcPts val="439"/>
              </a:spcBef>
              <a:spcAft>
                <a:spcPts val="0"/>
              </a:spcAft>
              <a:buClr>
                <a:schemeClr val="lt2"/>
              </a:buClr>
              <a:buSzPts val="1463"/>
              <a:buFont typeface="Noto Sans Symbols"/>
              <a:buChar char="●"/>
              <a:defRPr sz="1463" b="0" i="0" u="none" strike="noStrike" cap="none">
                <a:solidFill>
                  <a:schemeClr val="dk1"/>
                </a:solidFill>
                <a:latin typeface="Arial"/>
                <a:ea typeface="Arial"/>
                <a:cs typeface="Arial"/>
                <a:sym typeface="Arial"/>
              </a:defRPr>
            </a:lvl2pPr>
            <a:lvl3pPr marL="1371600" marR="0" lvl="2" indent="-311150" algn="l" rtl="0">
              <a:lnSpc>
                <a:spcPct val="100000"/>
              </a:lnSpc>
              <a:spcBef>
                <a:spcPts val="26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3pPr>
            <a:lvl4pPr marL="1828800" marR="0" lvl="3" indent="-300863" algn="l" rtl="0">
              <a:lnSpc>
                <a:spcPct val="100000"/>
              </a:lnSpc>
              <a:spcBef>
                <a:spcPts val="171"/>
              </a:spcBef>
              <a:spcAft>
                <a:spcPts val="0"/>
              </a:spcAft>
              <a:buClr>
                <a:schemeClr val="dk1"/>
              </a:buClr>
              <a:buSzPts val="1138"/>
              <a:buFont typeface="Arial"/>
              <a:buChar char="▪"/>
              <a:defRPr sz="1138" b="0" i="0" u="none" strike="noStrike" cap="none">
                <a:solidFill>
                  <a:schemeClr val="dk1"/>
                </a:solidFill>
                <a:latin typeface="Arial"/>
                <a:ea typeface="Arial"/>
                <a:cs typeface="Arial"/>
                <a:sym typeface="Arial"/>
              </a:defRPr>
            </a:lvl4pPr>
            <a:lvl5pPr marL="2286000" marR="0" lvl="4" indent="-290512" algn="l" rtl="0">
              <a:lnSpc>
                <a:spcPct val="100000"/>
              </a:lnSpc>
              <a:spcBef>
                <a:spcPts val="98"/>
              </a:spcBef>
              <a:spcAft>
                <a:spcPts val="0"/>
              </a:spcAft>
              <a:buClr>
                <a:schemeClr val="dk1"/>
              </a:buClr>
              <a:buSzPts val="975"/>
              <a:buFont typeface="Arial"/>
              <a:buChar char="▪"/>
              <a:defRPr sz="975" b="0" i="0" u="none" strike="noStrike" cap="none">
                <a:solidFill>
                  <a:schemeClr val="dk1"/>
                </a:solidFill>
                <a:latin typeface="Arial"/>
                <a:ea typeface="Arial"/>
                <a:cs typeface="Arial"/>
                <a:sym typeface="Arial"/>
              </a:defRPr>
            </a:lvl5pPr>
            <a:lvl6pPr marL="2743200" marR="0" lvl="5"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6pPr>
            <a:lvl7pPr marL="3200400" marR="0" lvl="6"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7pPr>
            <a:lvl8pPr marL="3657600" marR="0" lvl="7"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8pPr>
            <a:lvl9pPr marL="4114800" marR="0" lvl="8" indent="-342900" algn="l" rtl="0">
              <a:lnSpc>
                <a:spcPct val="100000"/>
              </a:lnSpc>
              <a:spcBef>
                <a:spcPts val="18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9pPr>
          </a:lstStyle>
          <a:p>
            <a:r>
              <a:rPr kumimoji="1" lang="ja-JP" altLang="en-US"/>
              <a:t>自作分周回路での低ノイズ分周を試みたが、測定器であるレコーダーと同程度の低ノイズ分周回路作成ができなかった。</a:t>
            </a:r>
            <a:endParaRPr kumimoji="1" lang="en-US" altLang="ja-JP" dirty="0"/>
          </a:p>
          <a:p>
            <a:r>
              <a:rPr kumimoji="1" lang="ja-JP" altLang="en-US"/>
              <a:t>そのため、既存回路の組み合わせによる測定を行った。</a:t>
            </a:r>
            <a:endParaRPr kumimoji="1" lang="en-US" altLang="ja-JP" dirty="0"/>
          </a:p>
        </p:txBody>
      </p:sp>
    </p:spTree>
    <p:extLst>
      <p:ext uri="{BB962C8B-B14F-4D97-AF65-F5344CB8AC3E}">
        <p14:creationId xmlns:p14="http://schemas.microsoft.com/office/powerpoint/2010/main" val="2013056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t>04.</a:t>
            </a:r>
            <a:r>
              <a:rPr kumimoji="1" lang="ja-JP" altLang="en-US" sz="1400" b="1"/>
              <a:t>実験と結果</a:t>
            </a:r>
            <a:br>
              <a:rPr kumimoji="1" lang="en-US" altLang="ja-JP" b="1" dirty="0"/>
            </a:br>
            <a:r>
              <a:rPr kumimoji="1" lang="en-US" altLang="ja-JP" b="1" dirty="0"/>
              <a:t>4-1.</a:t>
            </a:r>
            <a:r>
              <a:rPr kumimoji="1" lang="ja-JP" altLang="en-US" b="1"/>
              <a:t>分周回路の設定</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p:txBody>
          <a:bodyPr/>
          <a:lstStyle/>
          <a:p>
            <a:r>
              <a:rPr kumimoji="1" lang="ja-JP" altLang="en-US"/>
              <a:t>ゼロクロス付近での高周波ノイズをゼロクロスからずらすため、バイアスティーを用いて、入力波全体を</a:t>
            </a:r>
            <a:r>
              <a:rPr kumimoji="1" lang="en-US" altLang="ja-JP" dirty="0"/>
              <a:t>0.72V</a:t>
            </a:r>
            <a:r>
              <a:rPr kumimoji="1" lang="ja-JP" altLang="en-US"/>
              <a:t>押し上げた形での測定を行った。</a:t>
            </a:r>
          </a:p>
        </p:txBody>
      </p:sp>
      <p:grpSp>
        <p:nvGrpSpPr>
          <p:cNvPr id="7" name="グループ化 6">
            <a:extLst>
              <a:ext uri="{FF2B5EF4-FFF2-40B4-BE49-F238E27FC236}">
                <a16:creationId xmlns:a16="http://schemas.microsoft.com/office/drawing/2014/main" id="{BB445C23-92DE-CF70-902A-6801BC769488}"/>
              </a:ext>
            </a:extLst>
          </p:cNvPr>
          <p:cNvGrpSpPr/>
          <p:nvPr/>
        </p:nvGrpSpPr>
        <p:grpSpPr>
          <a:xfrm>
            <a:off x="7882640" y="2664091"/>
            <a:ext cx="1606159" cy="774922"/>
            <a:chOff x="3881869" y="3115733"/>
            <a:chExt cx="1606159" cy="774922"/>
          </a:xfrm>
        </p:grpSpPr>
        <p:sp>
          <p:nvSpPr>
            <p:cNvPr id="8" name="ホームベース 7">
              <a:extLst>
                <a:ext uri="{FF2B5EF4-FFF2-40B4-BE49-F238E27FC236}">
                  <a16:creationId xmlns:a16="http://schemas.microsoft.com/office/drawing/2014/main" id="{FB80A230-922E-5DD7-57A2-CBAF8259CF7F}"/>
                </a:ext>
              </a:extLst>
            </p:cNvPr>
            <p:cNvSpPr/>
            <p:nvPr/>
          </p:nvSpPr>
          <p:spPr>
            <a:xfrm rot="10800000">
              <a:off x="3881869" y="3115733"/>
              <a:ext cx="1606159" cy="774922"/>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9" name="テキスト ボックス 8">
              <a:extLst>
                <a:ext uri="{FF2B5EF4-FFF2-40B4-BE49-F238E27FC236}">
                  <a16:creationId xmlns:a16="http://schemas.microsoft.com/office/drawing/2014/main" id="{740EBC54-75C3-B9F9-B5E6-7D9D054E97CB}"/>
                </a:ext>
              </a:extLst>
            </p:cNvPr>
            <p:cNvSpPr txBox="1"/>
            <p:nvPr/>
          </p:nvSpPr>
          <p:spPr>
            <a:xfrm>
              <a:off x="4046074" y="3241584"/>
              <a:ext cx="1398152" cy="523220"/>
            </a:xfrm>
            <a:prstGeom prst="rect">
              <a:avLst/>
            </a:prstGeom>
            <a:noFill/>
          </p:spPr>
          <p:txBody>
            <a:bodyPr wrap="square" rtlCol="0" anchor="ctr">
              <a:spAutoFit/>
            </a:bodyPr>
            <a:lstStyle/>
            <a:p>
              <a:pPr algn="ctr"/>
              <a:r>
                <a:rPr kumimoji="1" lang="en-US" altLang="ja-JP" dirty="0"/>
                <a:t>TASCAM</a:t>
              </a:r>
            </a:p>
            <a:p>
              <a:pPr algn="ctr"/>
              <a:r>
                <a:rPr kumimoji="1" lang="en-US" altLang="ja-JP" dirty="0"/>
                <a:t>DR-100MRⅢ</a:t>
              </a:r>
              <a:endParaRPr kumimoji="1" lang="ja-JP" altLang="en-US"/>
            </a:p>
          </p:txBody>
        </p:sp>
      </p:grpSp>
      <p:cxnSp>
        <p:nvCxnSpPr>
          <p:cNvPr id="10" name="カギ線コネクタ 9">
            <a:extLst>
              <a:ext uri="{FF2B5EF4-FFF2-40B4-BE49-F238E27FC236}">
                <a16:creationId xmlns:a16="http://schemas.microsoft.com/office/drawing/2014/main" id="{1DCF70EC-B4FC-4909-87D6-0690BD8CEF9F}"/>
              </a:ext>
            </a:extLst>
          </p:cNvPr>
          <p:cNvCxnSpPr>
            <a:cxnSpLocks/>
            <a:stCxn id="16" idx="3"/>
            <a:endCxn id="13" idx="3"/>
          </p:cNvCxnSpPr>
          <p:nvPr/>
        </p:nvCxnSpPr>
        <p:spPr>
          <a:xfrm>
            <a:off x="7483322" y="3779885"/>
            <a:ext cx="399317" cy="767785"/>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カギ線コネクタ 10">
            <a:extLst>
              <a:ext uri="{FF2B5EF4-FFF2-40B4-BE49-F238E27FC236}">
                <a16:creationId xmlns:a16="http://schemas.microsoft.com/office/drawing/2014/main" id="{8456D9D1-EDE1-3598-A209-E157CE087FA7}"/>
              </a:ext>
            </a:extLst>
          </p:cNvPr>
          <p:cNvCxnSpPr>
            <a:cxnSpLocks/>
            <a:stCxn id="16" idx="3"/>
            <a:endCxn id="8" idx="3"/>
          </p:cNvCxnSpPr>
          <p:nvPr/>
        </p:nvCxnSpPr>
        <p:spPr>
          <a:xfrm flipV="1">
            <a:off x="7483322" y="3051552"/>
            <a:ext cx="399318" cy="728333"/>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grpSp>
        <p:nvGrpSpPr>
          <p:cNvPr id="12" name="グループ化 11">
            <a:extLst>
              <a:ext uri="{FF2B5EF4-FFF2-40B4-BE49-F238E27FC236}">
                <a16:creationId xmlns:a16="http://schemas.microsoft.com/office/drawing/2014/main" id="{6A54D48B-22C5-55F2-D274-8A9965107F39}"/>
              </a:ext>
            </a:extLst>
          </p:cNvPr>
          <p:cNvGrpSpPr/>
          <p:nvPr/>
        </p:nvGrpSpPr>
        <p:grpSpPr>
          <a:xfrm>
            <a:off x="7882639" y="4160209"/>
            <a:ext cx="1606159" cy="774922"/>
            <a:chOff x="3881869" y="3115733"/>
            <a:chExt cx="1606159" cy="774922"/>
          </a:xfrm>
        </p:grpSpPr>
        <p:sp>
          <p:nvSpPr>
            <p:cNvPr id="13" name="ホームベース 12">
              <a:extLst>
                <a:ext uri="{FF2B5EF4-FFF2-40B4-BE49-F238E27FC236}">
                  <a16:creationId xmlns:a16="http://schemas.microsoft.com/office/drawing/2014/main" id="{8656794E-4622-64E2-D8BA-FB001F4B8277}"/>
                </a:ext>
              </a:extLst>
            </p:cNvPr>
            <p:cNvSpPr/>
            <p:nvPr/>
          </p:nvSpPr>
          <p:spPr>
            <a:xfrm rot="10800000">
              <a:off x="3881869" y="3115733"/>
              <a:ext cx="1606159" cy="774922"/>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14" name="テキスト ボックス 13">
              <a:extLst>
                <a:ext uri="{FF2B5EF4-FFF2-40B4-BE49-F238E27FC236}">
                  <a16:creationId xmlns:a16="http://schemas.microsoft.com/office/drawing/2014/main" id="{0E74C34B-8CBE-2E94-1A41-9662016A4E18}"/>
                </a:ext>
              </a:extLst>
            </p:cNvPr>
            <p:cNvSpPr txBox="1"/>
            <p:nvPr/>
          </p:nvSpPr>
          <p:spPr>
            <a:xfrm>
              <a:off x="4046074" y="3241584"/>
              <a:ext cx="1398152" cy="523220"/>
            </a:xfrm>
            <a:prstGeom prst="rect">
              <a:avLst/>
            </a:prstGeom>
            <a:noFill/>
          </p:spPr>
          <p:txBody>
            <a:bodyPr wrap="square" rtlCol="0" anchor="ctr">
              <a:spAutoFit/>
            </a:bodyPr>
            <a:lstStyle/>
            <a:p>
              <a:pPr algn="ctr"/>
              <a:r>
                <a:rPr kumimoji="1" lang="en-US" altLang="ja-JP" dirty="0"/>
                <a:t>TASCAM</a:t>
              </a:r>
            </a:p>
            <a:p>
              <a:pPr algn="ctr"/>
              <a:r>
                <a:rPr kumimoji="1" lang="en-US" altLang="ja-JP" dirty="0"/>
                <a:t>DR-100MRⅢ</a:t>
              </a:r>
              <a:endParaRPr kumimoji="1" lang="ja-JP" altLang="en-US"/>
            </a:p>
          </p:txBody>
        </p:sp>
      </p:grpSp>
      <p:grpSp>
        <p:nvGrpSpPr>
          <p:cNvPr id="31" name="グループ化 30">
            <a:extLst>
              <a:ext uri="{FF2B5EF4-FFF2-40B4-BE49-F238E27FC236}">
                <a16:creationId xmlns:a16="http://schemas.microsoft.com/office/drawing/2014/main" id="{C1383FB8-3E9D-A689-6AF5-98D7029C690B}"/>
              </a:ext>
            </a:extLst>
          </p:cNvPr>
          <p:cNvGrpSpPr/>
          <p:nvPr/>
        </p:nvGrpSpPr>
        <p:grpSpPr>
          <a:xfrm>
            <a:off x="213525" y="3467450"/>
            <a:ext cx="1398152" cy="1205817"/>
            <a:chOff x="552698" y="3429000"/>
            <a:chExt cx="1398152" cy="1205817"/>
          </a:xfrm>
        </p:grpSpPr>
        <p:grpSp>
          <p:nvGrpSpPr>
            <p:cNvPr id="4" name="グループ化 3">
              <a:extLst>
                <a:ext uri="{FF2B5EF4-FFF2-40B4-BE49-F238E27FC236}">
                  <a16:creationId xmlns:a16="http://schemas.microsoft.com/office/drawing/2014/main" id="{46EAF015-C8FC-FDFF-46A4-206B6D364BCA}"/>
                </a:ext>
              </a:extLst>
            </p:cNvPr>
            <p:cNvGrpSpPr/>
            <p:nvPr/>
          </p:nvGrpSpPr>
          <p:grpSpPr>
            <a:xfrm>
              <a:off x="944316" y="3429000"/>
              <a:ext cx="620640" cy="629471"/>
              <a:chOff x="5104655" y="3573559"/>
              <a:chExt cx="620640" cy="629471"/>
            </a:xfrm>
          </p:grpSpPr>
          <p:sp>
            <p:nvSpPr>
              <p:cNvPr id="5" name="円/楕円 4">
                <a:extLst>
                  <a:ext uri="{FF2B5EF4-FFF2-40B4-BE49-F238E27FC236}">
                    <a16:creationId xmlns:a16="http://schemas.microsoft.com/office/drawing/2014/main" id="{E5B921F0-CC34-7DF0-DAE5-0BC6C40E11F5}"/>
                  </a:ext>
                </a:extLst>
              </p:cNvPr>
              <p:cNvSpPr/>
              <p:nvPr/>
            </p:nvSpPr>
            <p:spPr>
              <a:xfrm>
                <a:off x="5104655" y="3573559"/>
                <a:ext cx="620640" cy="62947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リーフォーム 5">
                <a:extLst>
                  <a:ext uri="{FF2B5EF4-FFF2-40B4-BE49-F238E27FC236}">
                    <a16:creationId xmlns:a16="http://schemas.microsoft.com/office/drawing/2014/main" id="{105E4B40-E793-63FA-924E-8A0BCB2B779E}"/>
                  </a:ext>
                </a:extLst>
              </p:cNvPr>
              <p:cNvSpPr/>
              <p:nvPr/>
            </p:nvSpPr>
            <p:spPr>
              <a:xfrm>
                <a:off x="5243038" y="3696499"/>
                <a:ext cx="343875" cy="383590"/>
              </a:xfrm>
              <a:custGeom>
                <a:avLst/>
                <a:gdLst>
                  <a:gd name="connsiteX0" fmla="*/ 0 w 396240"/>
                  <a:gd name="connsiteY0" fmla="*/ 213403 h 442003"/>
                  <a:gd name="connsiteX1" fmla="*/ 76200 w 396240"/>
                  <a:gd name="connsiteY1" fmla="*/ 43 h 442003"/>
                  <a:gd name="connsiteX2" fmla="*/ 167640 w 396240"/>
                  <a:gd name="connsiteY2" fmla="*/ 228643 h 442003"/>
                  <a:gd name="connsiteX3" fmla="*/ 289560 w 396240"/>
                  <a:gd name="connsiteY3" fmla="*/ 442003 h 442003"/>
                  <a:gd name="connsiteX4" fmla="*/ 396240 w 396240"/>
                  <a:gd name="connsiteY4" fmla="*/ 228643 h 442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 h="442003">
                    <a:moveTo>
                      <a:pt x="0" y="213403"/>
                    </a:moveTo>
                    <a:cubicBezTo>
                      <a:pt x="24130" y="105453"/>
                      <a:pt x="48260" y="-2497"/>
                      <a:pt x="76200" y="43"/>
                    </a:cubicBezTo>
                    <a:cubicBezTo>
                      <a:pt x="104140" y="2583"/>
                      <a:pt x="132080" y="154983"/>
                      <a:pt x="167640" y="228643"/>
                    </a:cubicBezTo>
                    <a:cubicBezTo>
                      <a:pt x="203200" y="302303"/>
                      <a:pt x="251460" y="442003"/>
                      <a:pt x="289560" y="442003"/>
                    </a:cubicBezTo>
                    <a:cubicBezTo>
                      <a:pt x="327660" y="442003"/>
                      <a:pt x="386080" y="243883"/>
                      <a:pt x="396240" y="2286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BCB10BB8-F928-D1B8-F9C7-1D3A083A05B5}"/>
                </a:ext>
              </a:extLst>
            </p:cNvPr>
            <p:cNvSpPr txBox="1"/>
            <p:nvPr/>
          </p:nvSpPr>
          <p:spPr>
            <a:xfrm>
              <a:off x="552698" y="4111597"/>
              <a:ext cx="1398152" cy="523220"/>
            </a:xfrm>
            <a:prstGeom prst="rect">
              <a:avLst/>
            </a:prstGeom>
            <a:noFill/>
          </p:spPr>
          <p:txBody>
            <a:bodyPr wrap="square" rtlCol="0" anchor="ctr">
              <a:spAutoFit/>
            </a:bodyPr>
            <a:lstStyle/>
            <a:p>
              <a:pPr algn="ctr"/>
              <a:r>
                <a:rPr kumimoji="1" lang="en-US" altLang="ja-JP" dirty="0"/>
                <a:t>TCXO</a:t>
              </a:r>
            </a:p>
            <a:p>
              <a:pPr algn="ctr"/>
              <a:r>
                <a:rPr kumimoji="1" lang="en-US" altLang="ja-JP" dirty="0"/>
                <a:t>CMOS3</a:t>
              </a:r>
              <a:endParaRPr kumimoji="1" lang="ja-JP" altLang="en-US"/>
            </a:p>
          </p:txBody>
        </p:sp>
      </p:grpSp>
      <p:sp>
        <p:nvSpPr>
          <p:cNvPr id="16" name="正方形/長方形 15">
            <a:extLst>
              <a:ext uri="{FF2B5EF4-FFF2-40B4-BE49-F238E27FC236}">
                <a16:creationId xmlns:a16="http://schemas.microsoft.com/office/drawing/2014/main" id="{6E61726E-F4EE-4EC2-6295-2B82822FA227}"/>
              </a:ext>
            </a:extLst>
          </p:cNvPr>
          <p:cNvSpPr/>
          <p:nvPr/>
        </p:nvSpPr>
        <p:spPr>
          <a:xfrm>
            <a:off x="6464275" y="3402224"/>
            <a:ext cx="1019047" cy="755322"/>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rgbClr val="474747"/>
                </a:solidFill>
                <a:latin typeface="+mj-lt"/>
              </a:rPr>
              <a:t>直列</a:t>
            </a:r>
            <a:r>
              <a:rPr kumimoji="1" lang="en-US" altLang="ja-JP" dirty="0">
                <a:solidFill>
                  <a:srgbClr val="474747"/>
                </a:solidFill>
                <a:latin typeface="+mj-lt"/>
              </a:rPr>
              <a:t>LCR</a:t>
            </a:r>
            <a:endParaRPr kumimoji="1" lang="ja-JP" altLang="en-US">
              <a:solidFill>
                <a:schemeClr val="tx1"/>
              </a:solidFill>
              <a:latin typeface="+mj-lt"/>
            </a:endParaRPr>
          </a:p>
        </p:txBody>
      </p:sp>
      <p:sp>
        <p:nvSpPr>
          <p:cNvPr id="19" name="正方形/長方形 18">
            <a:extLst>
              <a:ext uri="{FF2B5EF4-FFF2-40B4-BE49-F238E27FC236}">
                <a16:creationId xmlns:a16="http://schemas.microsoft.com/office/drawing/2014/main" id="{C9624B28-1B4E-0B3C-7526-42A396E8B604}"/>
              </a:ext>
            </a:extLst>
          </p:cNvPr>
          <p:cNvSpPr/>
          <p:nvPr/>
        </p:nvSpPr>
        <p:spPr>
          <a:xfrm>
            <a:off x="1436155" y="3402224"/>
            <a:ext cx="1019047" cy="755322"/>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chemeClr val="tx1"/>
                </a:solidFill>
                <a:latin typeface="+mj-lt"/>
              </a:rPr>
              <a:t>LPF</a:t>
            </a:r>
          </a:p>
          <a:p>
            <a:pPr algn="ctr"/>
            <a:r>
              <a:rPr kumimoji="1" lang="en-US" altLang="ja-JP" dirty="0">
                <a:solidFill>
                  <a:schemeClr val="tx1"/>
                </a:solidFill>
                <a:latin typeface="+mj-lt"/>
              </a:rPr>
              <a:t>30MHz</a:t>
            </a:r>
          </a:p>
        </p:txBody>
      </p:sp>
      <p:sp>
        <p:nvSpPr>
          <p:cNvPr id="23" name="正方形/長方形 22">
            <a:extLst>
              <a:ext uri="{FF2B5EF4-FFF2-40B4-BE49-F238E27FC236}">
                <a16:creationId xmlns:a16="http://schemas.microsoft.com/office/drawing/2014/main" id="{FB44660C-B753-053A-3BF6-06DAA0E4EBDA}"/>
              </a:ext>
            </a:extLst>
          </p:cNvPr>
          <p:cNvSpPr/>
          <p:nvPr/>
        </p:nvSpPr>
        <p:spPr>
          <a:xfrm>
            <a:off x="2693185" y="3402224"/>
            <a:ext cx="1019047" cy="755322"/>
          </a:xfrm>
          <a:prstGeom prst="rect">
            <a:avLst/>
          </a:prstGeom>
          <a:solidFill>
            <a:srgbClr val="17318D"/>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bg1"/>
                </a:solidFill>
                <a:latin typeface="+mj-lt"/>
              </a:rPr>
              <a:t>バイアス</a:t>
            </a:r>
            <a:endParaRPr kumimoji="1" lang="en-US" altLang="ja-JP" dirty="0">
              <a:solidFill>
                <a:schemeClr val="bg1"/>
              </a:solidFill>
              <a:latin typeface="+mj-lt"/>
            </a:endParaRPr>
          </a:p>
          <a:p>
            <a:pPr algn="ctr"/>
            <a:r>
              <a:rPr kumimoji="1" lang="ja-JP" altLang="en-US">
                <a:solidFill>
                  <a:schemeClr val="bg1"/>
                </a:solidFill>
                <a:latin typeface="+mj-lt"/>
              </a:rPr>
              <a:t>ティー</a:t>
            </a:r>
            <a:endParaRPr kumimoji="1" lang="en-US" altLang="ja-JP" dirty="0">
              <a:solidFill>
                <a:schemeClr val="bg1"/>
              </a:solidFill>
              <a:latin typeface="+mj-lt"/>
            </a:endParaRPr>
          </a:p>
        </p:txBody>
      </p:sp>
      <p:sp>
        <p:nvSpPr>
          <p:cNvPr id="28" name="正方形/長方形 27">
            <a:extLst>
              <a:ext uri="{FF2B5EF4-FFF2-40B4-BE49-F238E27FC236}">
                <a16:creationId xmlns:a16="http://schemas.microsoft.com/office/drawing/2014/main" id="{0E178666-78B2-7889-E4EC-E99ECC32D653}"/>
              </a:ext>
            </a:extLst>
          </p:cNvPr>
          <p:cNvSpPr/>
          <p:nvPr/>
        </p:nvSpPr>
        <p:spPr>
          <a:xfrm>
            <a:off x="2693185" y="4774912"/>
            <a:ext cx="1019047" cy="755322"/>
          </a:xfrm>
          <a:prstGeom prst="rect">
            <a:avLst/>
          </a:prstGeom>
          <a:solidFill>
            <a:srgbClr val="17318D"/>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bg1"/>
                </a:solidFill>
                <a:latin typeface="+mj-lt"/>
              </a:rPr>
              <a:t>電源</a:t>
            </a:r>
            <a:endParaRPr kumimoji="1" lang="en-US" altLang="ja-JP" dirty="0">
              <a:solidFill>
                <a:schemeClr val="bg1"/>
              </a:solidFill>
              <a:latin typeface="+mj-lt"/>
            </a:endParaRPr>
          </a:p>
          <a:p>
            <a:pPr algn="ctr"/>
            <a:r>
              <a:rPr kumimoji="1" lang="en-US" altLang="ja-JP" dirty="0">
                <a:solidFill>
                  <a:schemeClr val="bg1"/>
                </a:solidFill>
                <a:latin typeface="+mj-lt"/>
              </a:rPr>
              <a:t>CV 0.72V</a:t>
            </a:r>
          </a:p>
        </p:txBody>
      </p:sp>
      <p:cxnSp>
        <p:nvCxnSpPr>
          <p:cNvPr id="30" name="直線矢印コネクタ 29">
            <a:extLst>
              <a:ext uri="{FF2B5EF4-FFF2-40B4-BE49-F238E27FC236}">
                <a16:creationId xmlns:a16="http://schemas.microsoft.com/office/drawing/2014/main" id="{3A1255A8-CBF7-0062-9C3E-CC288AC0A243}"/>
              </a:ext>
            </a:extLst>
          </p:cNvPr>
          <p:cNvCxnSpPr>
            <a:stCxn id="5" idx="6"/>
            <a:endCxn id="19" idx="1"/>
          </p:cNvCxnSpPr>
          <p:nvPr/>
        </p:nvCxnSpPr>
        <p:spPr>
          <a:xfrm flipV="1">
            <a:off x="1225783" y="3779885"/>
            <a:ext cx="210372" cy="230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直線コネクタ 35">
            <a:extLst>
              <a:ext uri="{FF2B5EF4-FFF2-40B4-BE49-F238E27FC236}">
                <a16:creationId xmlns:a16="http://schemas.microsoft.com/office/drawing/2014/main" id="{00970B86-0E59-4390-3E52-28433D527BCC}"/>
              </a:ext>
            </a:extLst>
          </p:cNvPr>
          <p:cNvCxnSpPr>
            <a:stCxn id="23" idx="2"/>
            <a:endCxn id="28" idx="0"/>
          </p:cNvCxnSpPr>
          <p:nvPr/>
        </p:nvCxnSpPr>
        <p:spPr>
          <a:xfrm>
            <a:off x="3202709" y="4157546"/>
            <a:ext cx="0" cy="617366"/>
          </a:xfrm>
          <a:prstGeom prst="line">
            <a:avLst/>
          </a:prstGeom>
          <a:ln w="28575"/>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21359A6D-9FF7-0CF0-755B-DC005BB96448}"/>
              </a:ext>
            </a:extLst>
          </p:cNvPr>
          <p:cNvCxnSpPr>
            <a:cxnSpLocks/>
            <a:stCxn id="19" idx="3"/>
            <a:endCxn id="23" idx="1"/>
          </p:cNvCxnSpPr>
          <p:nvPr/>
        </p:nvCxnSpPr>
        <p:spPr>
          <a:xfrm>
            <a:off x="2455202" y="3779885"/>
            <a:ext cx="237983"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1954382A-F0FA-504A-BA8C-4D5D6F8ADFE0}"/>
              </a:ext>
            </a:extLst>
          </p:cNvPr>
          <p:cNvCxnSpPr>
            <a:cxnSpLocks/>
            <a:stCxn id="54" idx="3"/>
            <a:endCxn id="16" idx="1"/>
          </p:cNvCxnSpPr>
          <p:nvPr/>
        </p:nvCxnSpPr>
        <p:spPr>
          <a:xfrm>
            <a:off x="6226292" y="3779885"/>
            <a:ext cx="237983"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1" name="正方形/長方形 50">
            <a:extLst>
              <a:ext uri="{FF2B5EF4-FFF2-40B4-BE49-F238E27FC236}">
                <a16:creationId xmlns:a16="http://schemas.microsoft.com/office/drawing/2014/main" id="{AD701580-7344-5DB0-CD9A-F539CAF25DFC}"/>
              </a:ext>
            </a:extLst>
          </p:cNvPr>
          <p:cNvSpPr/>
          <p:nvPr/>
        </p:nvSpPr>
        <p:spPr>
          <a:xfrm>
            <a:off x="3950215" y="3402224"/>
            <a:ext cx="1019047" cy="755322"/>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rgbClr val="474747"/>
                </a:solidFill>
                <a:latin typeface="+mj-lt"/>
              </a:rPr>
              <a:t>分周器</a:t>
            </a:r>
            <a:endParaRPr kumimoji="1" lang="en-US" altLang="ja-JP" dirty="0">
              <a:solidFill>
                <a:srgbClr val="474747"/>
              </a:solidFill>
              <a:latin typeface="+mj-lt"/>
            </a:endParaRPr>
          </a:p>
          <a:p>
            <a:pPr algn="ctr"/>
            <a:r>
              <a:rPr kumimoji="1" lang="en-US" altLang="ja-JP" dirty="0">
                <a:solidFill>
                  <a:srgbClr val="474747"/>
                </a:solidFill>
                <a:latin typeface="+mj-lt"/>
              </a:rPr>
              <a:t>1/10</a:t>
            </a:r>
            <a:endParaRPr kumimoji="1" lang="ja-JP" altLang="en-US">
              <a:solidFill>
                <a:schemeClr val="tx1"/>
              </a:solidFill>
              <a:latin typeface="+mj-lt"/>
            </a:endParaRPr>
          </a:p>
        </p:txBody>
      </p:sp>
      <p:sp>
        <p:nvSpPr>
          <p:cNvPr id="54" name="正方形/長方形 53">
            <a:extLst>
              <a:ext uri="{FF2B5EF4-FFF2-40B4-BE49-F238E27FC236}">
                <a16:creationId xmlns:a16="http://schemas.microsoft.com/office/drawing/2014/main" id="{F312E19F-8D7C-7F92-E69F-96719657F36C}"/>
              </a:ext>
            </a:extLst>
          </p:cNvPr>
          <p:cNvSpPr/>
          <p:nvPr/>
        </p:nvSpPr>
        <p:spPr>
          <a:xfrm>
            <a:off x="5207245" y="3402224"/>
            <a:ext cx="1019047" cy="755322"/>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rgbClr val="474747"/>
                </a:solidFill>
                <a:latin typeface="+mj-lt"/>
              </a:rPr>
              <a:t>マイコン</a:t>
            </a:r>
            <a:endParaRPr kumimoji="1" lang="en-US" altLang="ja-JP" dirty="0">
              <a:solidFill>
                <a:srgbClr val="474747"/>
              </a:solidFill>
              <a:latin typeface="+mj-lt"/>
            </a:endParaRPr>
          </a:p>
        </p:txBody>
      </p:sp>
      <p:sp>
        <p:nvSpPr>
          <p:cNvPr id="55" name="テキスト ボックス 54">
            <a:extLst>
              <a:ext uri="{FF2B5EF4-FFF2-40B4-BE49-F238E27FC236}">
                <a16:creationId xmlns:a16="http://schemas.microsoft.com/office/drawing/2014/main" id="{3138D35E-2BBF-D4C8-D734-A8E134B13CC1}"/>
              </a:ext>
            </a:extLst>
          </p:cNvPr>
          <p:cNvSpPr txBox="1"/>
          <p:nvPr/>
        </p:nvSpPr>
        <p:spPr>
          <a:xfrm>
            <a:off x="4777885" y="4210704"/>
            <a:ext cx="1877765" cy="307777"/>
          </a:xfrm>
          <a:prstGeom prst="rect">
            <a:avLst/>
          </a:prstGeom>
          <a:noFill/>
        </p:spPr>
        <p:txBody>
          <a:bodyPr wrap="square" rtlCol="0" anchor="ctr">
            <a:spAutoFit/>
          </a:bodyPr>
          <a:lstStyle/>
          <a:p>
            <a:pPr algn="ctr"/>
            <a:r>
              <a:rPr kumimoji="1" lang="en-US" altLang="ja-JP" dirty="0"/>
              <a:t>2.7MHz</a:t>
            </a:r>
            <a:r>
              <a:rPr kumimoji="1" lang="ja-JP" altLang="en-US"/>
              <a:t>→</a:t>
            </a:r>
            <a:r>
              <a:rPr kumimoji="1" lang="en-US" altLang="ja-JP" dirty="0"/>
              <a:t>12kHz</a:t>
            </a:r>
            <a:endParaRPr kumimoji="1" lang="ja-JP" altLang="en-US"/>
          </a:p>
        </p:txBody>
      </p:sp>
      <p:cxnSp>
        <p:nvCxnSpPr>
          <p:cNvPr id="66" name="直線矢印コネクタ 65">
            <a:extLst>
              <a:ext uri="{FF2B5EF4-FFF2-40B4-BE49-F238E27FC236}">
                <a16:creationId xmlns:a16="http://schemas.microsoft.com/office/drawing/2014/main" id="{9032AA88-C853-10CE-F71A-EB1CAEC045A2}"/>
              </a:ext>
            </a:extLst>
          </p:cNvPr>
          <p:cNvCxnSpPr>
            <a:cxnSpLocks/>
            <a:stCxn id="23" idx="3"/>
            <a:endCxn id="51" idx="1"/>
          </p:cNvCxnSpPr>
          <p:nvPr/>
        </p:nvCxnSpPr>
        <p:spPr>
          <a:xfrm>
            <a:off x="3712232" y="3779885"/>
            <a:ext cx="237983"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9" name="直線矢印コネクタ 68">
            <a:extLst>
              <a:ext uri="{FF2B5EF4-FFF2-40B4-BE49-F238E27FC236}">
                <a16:creationId xmlns:a16="http://schemas.microsoft.com/office/drawing/2014/main" id="{F3EA1BF4-7141-DB47-CF24-C20EB21AB36C}"/>
              </a:ext>
            </a:extLst>
          </p:cNvPr>
          <p:cNvCxnSpPr>
            <a:cxnSpLocks/>
            <a:stCxn id="51" idx="3"/>
            <a:endCxn id="54" idx="1"/>
          </p:cNvCxnSpPr>
          <p:nvPr/>
        </p:nvCxnSpPr>
        <p:spPr>
          <a:xfrm>
            <a:off x="4969262" y="3779885"/>
            <a:ext cx="237983"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直線コネクタ 16">
            <a:extLst>
              <a:ext uri="{FF2B5EF4-FFF2-40B4-BE49-F238E27FC236}">
                <a16:creationId xmlns:a16="http://schemas.microsoft.com/office/drawing/2014/main" id="{19364857-5DDB-DD83-86F6-390189D045B7}"/>
              </a:ext>
            </a:extLst>
          </p:cNvPr>
          <p:cNvCxnSpPr>
            <a:cxnSpLocks/>
          </p:cNvCxnSpPr>
          <p:nvPr/>
        </p:nvCxnSpPr>
        <p:spPr>
          <a:xfrm flipH="1">
            <a:off x="320360" y="6513766"/>
            <a:ext cx="9381569" cy="0"/>
          </a:xfrm>
          <a:prstGeom prst="line">
            <a:avLst/>
          </a:prstGeom>
        </p:spPr>
        <p:style>
          <a:lnRef idx="1">
            <a:schemeClr val="dk1"/>
          </a:lnRef>
          <a:fillRef idx="0">
            <a:schemeClr val="dk1"/>
          </a:fillRef>
          <a:effectRef idx="0">
            <a:schemeClr val="dk1"/>
          </a:effectRef>
          <a:fontRef idx="minor">
            <a:schemeClr val="tx1"/>
          </a:fontRef>
        </p:style>
      </p:cxnSp>
      <p:sp>
        <p:nvSpPr>
          <p:cNvPr id="18" name="テキスト ボックス 17">
            <a:extLst>
              <a:ext uri="{FF2B5EF4-FFF2-40B4-BE49-F238E27FC236}">
                <a16:creationId xmlns:a16="http://schemas.microsoft.com/office/drawing/2014/main" id="{783660B1-8489-EBAF-458D-12677A7D2522}"/>
              </a:ext>
            </a:extLst>
          </p:cNvPr>
          <p:cNvSpPr txBox="1"/>
          <p:nvPr/>
        </p:nvSpPr>
        <p:spPr>
          <a:xfrm>
            <a:off x="431532" y="6495486"/>
            <a:ext cx="9258993" cy="246221"/>
          </a:xfrm>
          <a:prstGeom prst="rect">
            <a:avLst/>
          </a:prstGeom>
          <a:noFill/>
        </p:spPr>
        <p:txBody>
          <a:bodyPr wrap="square" rtlCol="0">
            <a:spAutoFit/>
          </a:bodyPr>
          <a:lstStyle/>
          <a:p>
            <a:r>
              <a:rPr lang="ja-JP" altLang="en-US" sz="1000"/>
              <a:t>マイコンは木本助教が作成したものを使用させていただいた。</a:t>
            </a:r>
            <a:endParaRPr lang="en-US" altLang="ja-JP" sz="1000" dirty="0"/>
          </a:p>
        </p:txBody>
      </p:sp>
    </p:spTree>
    <p:extLst>
      <p:ext uri="{BB962C8B-B14F-4D97-AF65-F5344CB8AC3E}">
        <p14:creationId xmlns:p14="http://schemas.microsoft.com/office/powerpoint/2010/main" val="381210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6E9351FB-6A99-3F8B-C5A9-DC3B558EED82}"/>
              </a:ext>
            </a:extLst>
          </p:cNvPr>
          <p:cNvPicPr>
            <a:picLocks noChangeAspect="1"/>
          </p:cNvPicPr>
          <p:nvPr/>
        </p:nvPicPr>
        <p:blipFill>
          <a:blip r:embed="rId3"/>
          <a:stretch>
            <a:fillRect/>
          </a:stretch>
        </p:blipFill>
        <p:spPr>
          <a:xfrm>
            <a:off x="42234" y="-2936097"/>
            <a:ext cx="9846582" cy="13934155"/>
          </a:xfrm>
          <a:prstGeom prst="rect">
            <a:avLst/>
          </a:prstGeom>
        </p:spPr>
      </p:pic>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t>04.</a:t>
            </a:r>
            <a:r>
              <a:rPr kumimoji="1" lang="ja-JP" altLang="en-US" sz="1400" b="1"/>
              <a:t>実験と結果</a:t>
            </a:r>
            <a:br>
              <a:rPr kumimoji="1" lang="en-US" altLang="ja-JP" b="1" dirty="0"/>
            </a:br>
            <a:r>
              <a:rPr kumimoji="1" lang="en-US" altLang="ja-JP" b="1" dirty="0"/>
              <a:t>4-2.</a:t>
            </a:r>
            <a:r>
              <a:rPr kumimoji="1" lang="ja-JP" altLang="en-US" b="1"/>
              <a:t>作成した分周回路による測定結果</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4" y="906114"/>
            <a:ext cx="9692475" cy="1308765"/>
          </a:xfrm>
        </p:spPr>
        <p:txBody>
          <a:bodyPr/>
          <a:lstStyle/>
          <a:p>
            <a:r>
              <a:rPr kumimoji="1" lang="ja-JP" altLang="en-US"/>
              <a:t>測定と解析の結果、</a:t>
            </a:r>
            <a:r>
              <a:rPr kumimoji="1" lang="en-US" altLang="ja-JP" dirty="0"/>
              <a:t>0.1Hz〜1Hz</a:t>
            </a:r>
            <a:r>
              <a:rPr kumimoji="1" lang="ja-JP" altLang="en-US"/>
              <a:t>の範囲で</a:t>
            </a:r>
            <a:r>
              <a:rPr kumimoji="1" lang="en-US" altLang="ja-JP" dirty="0"/>
              <a:t>TCXO</a:t>
            </a:r>
            <a:r>
              <a:rPr kumimoji="1" lang="ja-JP" altLang="en-US"/>
              <a:t>既存測定値を外挿した形の値が得られた。</a:t>
            </a:r>
            <a:endParaRPr kumimoji="1" lang="en-US" altLang="ja-JP" dirty="0"/>
          </a:p>
        </p:txBody>
      </p:sp>
    </p:spTree>
    <p:extLst>
      <p:ext uri="{BB962C8B-B14F-4D97-AF65-F5344CB8AC3E}">
        <p14:creationId xmlns:p14="http://schemas.microsoft.com/office/powerpoint/2010/main" val="1418518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solidFill>
                  <a:schemeClr val="bg1"/>
                </a:solidFill>
              </a:rPr>
              <a:t>05</a:t>
            </a:r>
            <a:br>
              <a:rPr kumimoji="1" lang="en-US" altLang="ja-JP" b="1" dirty="0"/>
            </a:br>
            <a:r>
              <a:rPr kumimoji="1" lang="en-US" altLang="ja-JP" b="1" dirty="0"/>
              <a:t>05.</a:t>
            </a:r>
            <a:r>
              <a:rPr kumimoji="1" lang="ja-JP" altLang="en-US" b="1"/>
              <a:t>考察と今後の展望</a:t>
            </a:r>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5" y="906114"/>
            <a:ext cx="9101925" cy="5132736"/>
          </a:xfrm>
        </p:spPr>
        <p:txBody>
          <a:bodyPr/>
          <a:lstStyle/>
          <a:p>
            <a:r>
              <a:rPr kumimoji="1" lang="ja-JP" altLang="en-US"/>
              <a:t>結果と考察</a:t>
            </a:r>
            <a:endParaRPr kumimoji="1" lang="en-US" altLang="ja-JP" dirty="0"/>
          </a:p>
          <a:p>
            <a:pPr lvl="1"/>
            <a:r>
              <a:rPr kumimoji="1" lang="en-US" altLang="ja-JP" sz="1800" dirty="0">
                <a:solidFill>
                  <a:schemeClr val="tx1"/>
                </a:solidFill>
              </a:rPr>
              <a:t>TCXO</a:t>
            </a:r>
            <a:r>
              <a:rPr kumimoji="1" lang="ja-JP" altLang="en-US" sz="1800">
                <a:solidFill>
                  <a:schemeClr val="tx1"/>
                </a:solidFill>
              </a:rPr>
              <a:t>の位相ノイズ</a:t>
            </a:r>
            <a:r>
              <a:rPr kumimoji="1" lang="en-US" altLang="ja-JP" sz="1800" dirty="0">
                <a:solidFill>
                  <a:schemeClr val="tx1"/>
                </a:solidFill>
              </a:rPr>
              <a:t>(</a:t>
            </a:r>
            <a:r>
              <a:rPr kumimoji="1" lang="ja-JP" altLang="en-US" sz="1800">
                <a:solidFill>
                  <a:schemeClr val="tx1"/>
                </a:solidFill>
              </a:rPr>
              <a:t>ジッタ</a:t>
            </a:r>
            <a:r>
              <a:rPr kumimoji="1" lang="en-US" altLang="ja-JP" sz="1800" dirty="0">
                <a:solidFill>
                  <a:schemeClr val="tx1"/>
                </a:solidFill>
              </a:rPr>
              <a:t>)</a:t>
            </a:r>
            <a:r>
              <a:rPr kumimoji="1" lang="ja-JP" altLang="en-US" sz="1800">
                <a:solidFill>
                  <a:schemeClr val="tx1"/>
                </a:solidFill>
              </a:rPr>
              <a:t> 測定における、</a:t>
            </a:r>
            <a:r>
              <a:rPr kumimoji="1" lang="en-US" altLang="ja-JP" sz="1800" dirty="0">
                <a:solidFill>
                  <a:schemeClr val="tx1"/>
                </a:solidFill>
              </a:rPr>
              <a:t>offset</a:t>
            </a:r>
            <a:r>
              <a:rPr kumimoji="1" lang="ja-JP" altLang="en-US" sz="1800">
                <a:solidFill>
                  <a:schemeClr val="tx1"/>
                </a:solidFill>
              </a:rPr>
              <a:t>周波数の帯域を下限</a:t>
            </a:r>
            <a:r>
              <a:rPr kumimoji="1" lang="en-US" altLang="ja-JP" sz="1800" dirty="0">
                <a:solidFill>
                  <a:schemeClr val="tx1"/>
                </a:solidFill>
              </a:rPr>
              <a:t>1Hz</a:t>
            </a:r>
            <a:r>
              <a:rPr kumimoji="1" lang="ja-JP" altLang="en-US" sz="1800">
                <a:solidFill>
                  <a:schemeClr val="tx1"/>
                </a:solidFill>
              </a:rPr>
              <a:t>から下限</a:t>
            </a:r>
            <a:r>
              <a:rPr kumimoji="1" lang="en-US" altLang="ja-JP" sz="1800" dirty="0">
                <a:solidFill>
                  <a:schemeClr val="tx1"/>
                </a:solidFill>
              </a:rPr>
              <a:t>0.1Hz</a:t>
            </a:r>
            <a:r>
              <a:rPr kumimoji="1" lang="ja-JP" altLang="en-US" sz="1800">
                <a:solidFill>
                  <a:schemeClr val="tx1"/>
                </a:solidFill>
              </a:rPr>
              <a:t>まで帯域拡張することのテスト測定が達成でき、分周回路にるよ</a:t>
            </a:r>
            <a:r>
              <a:rPr kumimoji="1" lang="en-US" altLang="ja-JP" sz="1800" dirty="0">
                <a:solidFill>
                  <a:schemeClr val="tx1"/>
                </a:solidFill>
              </a:rPr>
              <a:t>TCXO</a:t>
            </a:r>
            <a:r>
              <a:rPr kumimoji="1" lang="ja-JP" altLang="en-US" sz="1800">
                <a:solidFill>
                  <a:schemeClr val="tx1"/>
                </a:solidFill>
              </a:rPr>
              <a:t>領域の</a:t>
            </a:r>
            <a:r>
              <a:rPr kumimoji="1" lang="en-US" altLang="ja-JP" sz="1800" dirty="0">
                <a:solidFill>
                  <a:schemeClr val="tx1"/>
                </a:solidFill>
              </a:rPr>
              <a:t>1Hz</a:t>
            </a:r>
            <a:r>
              <a:rPr kumimoji="1" lang="ja-JP" altLang="en-US" sz="1800">
                <a:solidFill>
                  <a:schemeClr val="tx1"/>
                </a:solidFill>
              </a:rPr>
              <a:t>未満のジッタ測定が可能であることが実証できた。</a:t>
            </a:r>
            <a:endParaRPr kumimoji="1" lang="en-US" altLang="ja-JP" sz="1800" dirty="0">
              <a:solidFill>
                <a:schemeClr val="tx1"/>
              </a:solidFill>
            </a:endParaRPr>
          </a:p>
          <a:p>
            <a:pPr lvl="1"/>
            <a:endParaRPr kumimoji="1" lang="en-US" altLang="ja-JP" dirty="0"/>
          </a:p>
          <a:p>
            <a:r>
              <a:rPr kumimoji="1" lang="ja-JP" altLang="en-US"/>
              <a:t>今後の展望</a:t>
            </a:r>
            <a:endParaRPr kumimoji="1" lang="en-US" altLang="ja-JP" dirty="0"/>
          </a:p>
          <a:p>
            <a:pPr lvl="1"/>
            <a:r>
              <a:rPr kumimoji="1" lang="ja-JP" altLang="en-US" sz="1800"/>
              <a:t>ここまでは完全に自作した分周回路による</a:t>
            </a:r>
            <a:r>
              <a:rPr kumimoji="1" lang="en-US" altLang="ja-JP" sz="1800" dirty="0"/>
              <a:t>TCXO</a:t>
            </a:r>
            <a:r>
              <a:rPr kumimoji="1" lang="ja-JP" altLang="en-US" sz="1800"/>
              <a:t>の位相ノイズ</a:t>
            </a:r>
            <a:r>
              <a:rPr kumimoji="1" lang="en-US" altLang="ja-JP" sz="1800" dirty="0"/>
              <a:t>(</a:t>
            </a:r>
            <a:r>
              <a:rPr kumimoji="1" lang="ja-JP" altLang="en-US" sz="1800"/>
              <a:t>ジッタ</a:t>
            </a:r>
            <a:r>
              <a:rPr kumimoji="1" lang="en-US" altLang="ja-JP" sz="1800" dirty="0"/>
              <a:t>)</a:t>
            </a:r>
            <a:r>
              <a:rPr kumimoji="1" lang="ja-JP" altLang="en-US" sz="1800"/>
              <a:t>測定が行えていないため、引き続きレコーダーと同レベルに低ノイズの自作分周回路作成を行う。またこれを用いた測定を行う。</a:t>
            </a:r>
            <a:endParaRPr kumimoji="1" lang="en-US" altLang="ja-JP" sz="1800" dirty="0"/>
          </a:p>
          <a:p>
            <a:pPr lvl="1"/>
            <a:r>
              <a:rPr kumimoji="1" lang="ja-JP" altLang="en-US" sz="1800"/>
              <a:t>分周器の二重化などの改良を行うことで、</a:t>
            </a:r>
            <a:r>
              <a:rPr kumimoji="1" lang="en-US" altLang="ja-JP" sz="1800" dirty="0"/>
              <a:t> TCXO</a:t>
            </a:r>
            <a:r>
              <a:rPr kumimoji="1" lang="ja-JP" altLang="en-US" sz="1800"/>
              <a:t>の位相ノイズ</a:t>
            </a:r>
            <a:r>
              <a:rPr kumimoji="1" lang="en-US" altLang="ja-JP" sz="1800" dirty="0"/>
              <a:t>(</a:t>
            </a:r>
            <a:r>
              <a:rPr kumimoji="1" lang="ja-JP" altLang="en-US" sz="1800"/>
              <a:t>ジッタ</a:t>
            </a:r>
            <a:r>
              <a:rPr kumimoji="1" lang="en-US" altLang="ja-JP" sz="1800" dirty="0"/>
              <a:t>)</a:t>
            </a:r>
            <a:r>
              <a:rPr kumimoji="1" lang="ja-JP" altLang="en-US" sz="1800"/>
              <a:t>測定精度をさらに向上させる。</a:t>
            </a:r>
            <a:endParaRPr kumimoji="1" lang="en-US" altLang="ja-JP" sz="1800" dirty="0"/>
          </a:p>
        </p:txBody>
      </p:sp>
      <p:grpSp>
        <p:nvGrpSpPr>
          <p:cNvPr id="31" name="グループ化 30">
            <a:extLst>
              <a:ext uri="{FF2B5EF4-FFF2-40B4-BE49-F238E27FC236}">
                <a16:creationId xmlns:a16="http://schemas.microsoft.com/office/drawing/2014/main" id="{8161FB06-EEE1-DE25-304E-8700646B5B97}"/>
              </a:ext>
            </a:extLst>
          </p:cNvPr>
          <p:cNvGrpSpPr/>
          <p:nvPr/>
        </p:nvGrpSpPr>
        <p:grpSpPr>
          <a:xfrm>
            <a:off x="1331145" y="4591445"/>
            <a:ext cx="7243710" cy="1665009"/>
            <a:chOff x="1331619" y="4044078"/>
            <a:chExt cx="7243710" cy="1665009"/>
          </a:xfrm>
        </p:grpSpPr>
        <p:sp>
          <p:nvSpPr>
            <p:cNvPr id="32" name="正方形/長方形 31">
              <a:extLst>
                <a:ext uri="{FF2B5EF4-FFF2-40B4-BE49-F238E27FC236}">
                  <a16:creationId xmlns:a16="http://schemas.microsoft.com/office/drawing/2014/main" id="{06C699B2-5BE6-4316-A3E8-21C2B31A286A}"/>
                </a:ext>
              </a:extLst>
            </p:cNvPr>
            <p:cNvSpPr/>
            <p:nvPr/>
          </p:nvSpPr>
          <p:spPr>
            <a:xfrm>
              <a:off x="6584780" y="4073612"/>
              <a:ext cx="783067" cy="461665"/>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ja-JP" altLang="en-US">
                <a:solidFill>
                  <a:schemeClr val="tx1"/>
                </a:solidFill>
                <a:latin typeface="+mj-lt"/>
              </a:endParaRPr>
            </a:p>
          </p:txBody>
        </p:sp>
        <p:grpSp>
          <p:nvGrpSpPr>
            <p:cNvPr id="33" name="グループ化 32">
              <a:extLst>
                <a:ext uri="{FF2B5EF4-FFF2-40B4-BE49-F238E27FC236}">
                  <a16:creationId xmlns:a16="http://schemas.microsoft.com/office/drawing/2014/main" id="{495DA788-2546-37BD-3314-0E8B0B11A64D}"/>
                </a:ext>
              </a:extLst>
            </p:cNvPr>
            <p:cNvGrpSpPr/>
            <p:nvPr/>
          </p:nvGrpSpPr>
          <p:grpSpPr>
            <a:xfrm>
              <a:off x="1452940" y="4535277"/>
              <a:ext cx="620640" cy="629471"/>
              <a:chOff x="5104655" y="3573559"/>
              <a:chExt cx="620640" cy="629471"/>
            </a:xfrm>
          </p:grpSpPr>
          <p:sp>
            <p:nvSpPr>
              <p:cNvPr id="51" name="円/楕円 50">
                <a:extLst>
                  <a:ext uri="{FF2B5EF4-FFF2-40B4-BE49-F238E27FC236}">
                    <a16:creationId xmlns:a16="http://schemas.microsoft.com/office/drawing/2014/main" id="{F9E20393-911B-640F-C855-5A02FD1F958B}"/>
                  </a:ext>
                </a:extLst>
              </p:cNvPr>
              <p:cNvSpPr/>
              <p:nvPr/>
            </p:nvSpPr>
            <p:spPr>
              <a:xfrm>
                <a:off x="5104655" y="3573559"/>
                <a:ext cx="620640" cy="62947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フリーフォーム 51">
                <a:extLst>
                  <a:ext uri="{FF2B5EF4-FFF2-40B4-BE49-F238E27FC236}">
                    <a16:creationId xmlns:a16="http://schemas.microsoft.com/office/drawing/2014/main" id="{FA468C14-C245-AA17-1218-09BFF19DC869}"/>
                  </a:ext>
                </a:extLst>
              </p:cNvPr>
              <p:cNvSpPr/>
              <p:nvPr/>
            </p:nvSpPr>
            <p:spPr>
              <a:xfrm>
                <a:off x="5243038" y="3696499"/>
                <a:ext cx="343875" cy="383590"/>
              </a:xfrm>
              <a:custGeom>
                <a:avLst/>
                <a:gdLst>
                  <a:gd name="connsiteX0" fmla="*/ 0 w 396240"/>
                  <a:gd name="connsiteY0" fmla="*/ 213403 h 442003"/>
                  <a:gd name="connsiteX1" fmla="*/ 76200 w 396240"/>
                  <a:gd name="connsiteY1" fmla="*/ 43 h 442003"/>
                  <a:gd name="connsiteX2" fmla="*/ 167640 w 396240"/>
                  <a:gd name="connsiteY2" fmla="*/ 228643 h 442003"/>
                  <a:gd name="connsiteX3" fmla="*/ 289560 w 396240"/>
                  <a:gd name="connsiteY3" fmla="*/ 442003 h 442003"/>
                  <a:gd name="connsiteX4" fmla="*/ 396240 w 396240"/>
                  <a:gd name="connsiteY4" fmla="*/ 228643 h 442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 h="442003">
                    <a:moveTo>
                      <a:pt x="0" y="213403"/>
                    </a:moveTo>
                    <a:cubicBezTo>
                      <a:pt x="24130" y="105453"/>
                      <a:pt x="48260" y="-2497"/>
                      <a:pt x="76200" y="43"/>
                    </a:cubicBezTo>
                    <a:cubicBezTo>
                      <a:pt x="104140" y="2583"/>
                      <a:pt x="132080" y="154983"/>
                      <a:pt x="167640" y="228643"/>
                    </a:cubicBezTo>
                    <a:cubicBezTo>
                      <a:pt x="203200" y="302303"/>
                      <a:pt x="251460" y="442003"/>
                      <a:pt x="289560" y="442003"/>
                    </a:cubicBezTo>
                    <a:cubicBezTo>
                      <a:pt x="327660" y="442003"/>
                      <a:pt x="386080" y="243883"/>
                      <a:pt x="396240" y="2286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550BD627-F1BF-62D1-33B1-48CF0CF83ADF}"/>
                </a:ext>
              </a:extLst>
            </p:cNvPr>
            <p:cNvGrpSpPr/>
            <p:nvPr/>
          </p:nvGrpSpPr>
          <p:grpSpPr>
            <a:xfrm>
              <a:off x="5295694" y="4073622"/>
              <a:ext cx="863280" cy="461655"/>
              <a:chOff x="7028781" y="3657462"/>
              <a:chExt cx="863280" cy="461655"/>
            </a:xfrm>
          </p:grpSpPr>
          <p:sp>
            <p:nvSpPr>
              <p:cNvPr id="49" name="ホームベース 48">
                <a:extLst>
                  <a:ext uri="{FF2B5EF4-FFF2-40B4-BE49-F238E27FC236}">
                    <a16:creationId xmlns:a16="http://schemas.microsoft.com/office/drawing/2014/main" id="{4CB05F98-1007-3612-34F0-3900CABBCAC6}"/>
                  </a:ext>
                </a:extLst>
              </p:cNvPr>
              <p:cNvSpPr/>
              <p:nvPr/>
            </p:nvSpPr>
            <p:spPr>
              <a:xfrm rot="10800000">
                <a:off x="7028781" y="3657462"/>
                <a:ext cx="863280" cy="461655"/>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50" name="テキスト ボックス 49">
                <a:extLst>
                  <a:ext uri="{FF2B5EF4-FFF2-40B4-BE49-F238E27FC236}">
                    <a16:creationId xmlns:a16="http://schemas.microsoft.com/office/drawing/2014/main" id="{5EFA3804-FCC6-D02E-7B51-DCAE612B3FA2}"/>
                  </a:ext>
                </a:extLst>
              </p:cNvPr>
              <p:cNvSpPr txBox="1"/>
              <p:nvPr/>
            </p:nvSpPr>
            <p:spPr>
              <a:xfrm>
                <a:off x="7236788" y="3741312"/>
                <a:ext cx="564578" cy="307777"/>
              </a:xfrm>
              <a:prstGeom prst="rect">
                <a:avLst/>
              </a:prstGeom>
              <a:noFill/>
            </p:spPr>
            <p:txBody>
              <a:bodyPr wrap="none" rtlCol="0">
                <a:spAutoFit/>
              </a:bodyPr>
              <a:lstStyle/>
              <a:p>
                <a:r>
                  <a:rPr kumimoji="1" lang="en-US" altLang="ja-JP" dirty="0"/>
                  <a:t>ADC</a:t>
                </a:r>
                <a:endParaRPr kumimoji="1" lang="ja-JP" altLang="en-US"/>
              </a:p>
            </p:txBody>
          </p:sp>
        </p:grpSp>
        <p:sp>
          <p:nvSpPr>
            <p:cNvPr id="35" name="正方形/長方形 34">
              <a:extLst>
                <a:ext uri="{FF2B5EF4-FFF2-40B4-BE49-F238E27FC236}">
                  <a16:creationId xmlns:a16="http://schemas.microsoft.com/office/drawing/2014/main" id="{223342B1-918A-5D6A-E733-DFE456204A72}"/>
                </a:ext>
              </a:extLst>
            </p:cNvPr>
            <p:cNvSpPr/>
            <p:nvPr/>
          </p:nvSpPr>
          <p:spPr>
            <a:xfrm>
              <a:off x="7792262" y="4073612"/>
              <a:ext cx="783067" cy="1635459"/>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en-US" altLang="ja-JP" dirty="0">
                <a:solidFill>
                  <a:schemeClr val="tx1"/>
                </a:solidFill>
                <a:latin typeface="+mj-lt"/>
              </a:endParaRPr>
            </a:p>
            <a:p>
              <a:pPr algn="ctr"/>
              <a:r>
                <a:rPr kumimoji="1" lang="en-US" altLang="ja-JP" dirty="0">
                  <a:solidFill>
                    <a:schemeClr val="tx1"/>
                  </a:solidFill>
                  <a:latin typeface="+mj-lt"/>
                </a:rPr>
                <a:t>with</a:t>
              </a:r>
            </a:p>
            <a:p>
              <a:pPr algn="ctr"/>
              <a:r>
                <a:rPr kumimoji="1" lang="en-US" altLang="ja-JP" dirty="0">
                  <a:solidFill>
                    <a:schemeClr val="tx1"/>
                  </a:solidFill>
                  <a:latin typeface="+mj-lt"/>
                </a:rPr>
                <a:t>DRS</a:t>
              </a:r>
            </a:p>
          </p:txBody>
        </p:sp>
        <p:grpSp>
          <p:nvGrpSpPr>
            <p:cNvPr id="36" name="グループ化 35">
              <a:extLst>
                <a:ext uri="{FF2B5EF4-FFF2-40B4-BE49-F238E27FC236}">
                  <a16:creationId xmlns:a16="http://schemas.microsoft.com/office/drawing/2014/main" id="{A2C17604-00E4-F875-CFAC-25A0FF5C49F2}"/>
                </a:ext>
              </a:extLst>
            </p:cNvPr>
            <p:cNvGrpSpPr/>
            <p:nvPr/>
          </p:nvGrpSpPr>
          <p:grpSpPr>
            <a:xfrm>
              <a:off x="5295695" y="5247431"/>
              <a:ext cx="863280" cy="461655"/>
              <a:chOff x="7028781" y="3657462"/>
              <a:chExt cx="863280" cy="461655"/>
            </a:xfrm>
          </p:grpSpPr>
          <p:sp>
            <p:nvSpPr>
              <p:cNvPr id="47" name="ホームベース 46">
                <a:extLst>
                  <a:ext uri="{FF2B5EF4-FFF2-40B4-BE49-F238E27FC236}">
                    <a16:creationId xmlns:a16="http://schemas.microsoft.com/office/drawing/2014/main" id="{6DBF8A78-171F-BD3B-5A49-F40DDDECBC26}"/>
                  </a:ext>
                </a:extLst>
              </p:cNvPr>
              <p:cNvSpPr/>
              <p:nvPr/>
            </p:nvSpPr>
            <p:spPr>
              <a:xfrm rot="10800000">
                <a:off x="7028781" y="3657462"/>
                <a:ext cx="863280" cy="461655"/>
              </a:xfrm>
              <a:prstGeom prst="homePlate">
                <a:avLst>
                  <a:gd name="adj" fmla="val 35507"/>
                </a:avLst>
              </a:prstGeom>
              <a:no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kumimoji="1" lang="ja-JP" altLang="en-US"/>
              </a:p>
            </p:txBody>
          </p:sp>
          <p:sp>
            <p:nvSpPr>
              <p:cNvPr id="48" name="テキスト ボックス 47">
                <a:extLst>
                  <a:ext uri="{FF2B5EF4-FFF2-40B4-BE49-F238E27FC236}">
                    <a16:creationId xmlns:a16="http://schemas.microsoft.com/office/drawing/2014/main" id="{71E97C50-E109-8157-5B7B-54D65FCC56A1}"/>
                  </a:ext>
                </a:extLst>
              </p:cNvPr>
              <p:cNvSpPr txBox="1"/>
              <p:nvPr/>
            </p:nvSpPr>
            <p:spPr>
              <a:xfrm>
                <a:off x="7236788" y="3741312"/>
                <a:ext cx="564578" cy="307777"/>
              </a:xfrm>
              <a:prstGeom prst="rect">
                <a:avLst/>
              </a:prstGeom>
              <a:noFill/>
            </p:spPr>
            <p:txBody>
              <a:bodyPr wrap="none" rtlCol="0">
                <a:spAutoFit/>
              </a:bodyPr>
              <a:lstStyle/>
              <a:p>
                <a:r>
                  <a:rPr kumimoji="1" lang="en-US" altLang="ja-JP" dirty="0"/>
                  <a:t>ADC</a:t>
                </a:r>
                <a:endParaRPr kumimoji="1" lang="ja-JP" altLang="en-US"/>
              </a:p>
            </p:txBody>
          </p:sp>
        </p:grpSp>
        <p:sp>
          <p:nvSpPr>
            <p:cNvPr id="37" name="正方形/長方形 36">
              <a:extLst>
                <a:ext uri="{FF2B5EF4-FFF2-40B4-BE49-F238E27FC236}">
                  <a16:creationId xmlns:a16="http://schemas.microsoft.com/office/drawing/2014/main" id="{58A1E0E4-F52C-D291-32F4-F043ECB3FD7C}"/>
                </a:ext>
              </a:extLst>
            </p:cNvPr>
            <p:cNvSpPr/>
            <p:nvPr/>
          </p:nvSpPr>
          <p:spPr>
            <a:xfrm>
              <a:off x="6584085" y="5247422"/>
              <a:ext cx="783067" cy="461665"/>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ja-JP" dirty="0">
                  <a:solidFill>
                    <a:srgbClr val="474747"/>
                  </a:solidFill>
                  <a:latin typeface="+mj-lt"/>
                </a:rPr>
                <a:t>ZCA</a:t>
              </a:r>
              <a:endParaRPr kumimoji="1" lang="ja-JP" altLang="en-US">
                <a:solidFill>
                  <a:schemeClr val="tx1"/>
                </a:solidFill>
                <a:latin typeface="+mj-lt"/>
              </a:endParaRPr>
            </a:p>
          </p:txBody>
        </p:sp>
        <p:cxnSp>
          <p:nvCxnSpPr>
            <p:cNvPr id="38" name="カギ線コネクタ 37">
              <a:extLst>
                <a:ext uri="{FF2B5EF4-FFF2-40B4-BE49-F238E27FC236}">
                  <a16:creationId xmlns:a16="http://schemas.microsoft.com/office/drawing/2014/main" id="{9E229CD4-435F-B5FC-E6CB-CA79C4C4F11A}"/>
                </a:ext>
              </a:extLst>
            </p:cNvPr>
            <p:cNvCxnSpPr>
              <a:cxnSpLocks/>
              <a:stCxn id="51" idx="6"/>
              <a:endCxn id="53" idx="1"/>
            </p:cNvCxnSpPr>
            <p:nvPr/>
          </p:nvCxnSpPr>
          <p:spPr>
            <a:xfrm>
              <a:off x="2073580" y="4850013"/>
              <a:ext cx="1151616" cy="635156"/>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39" name="カギ線コネクタ 38">
              <a:extLst>
                <a:ext uri="{FF2B5EF4-FFF2-40B4-BE49-F238E27FC236}">
                  <a16:creationId xmlns:a16="http://schemas.microsoft.com/office/drawing/2014/main" id="{57764BFC-3097-EDBC-4237-FAEB63490292}"/>
                </a:ext>
              </a:extLst>
            </p:cNvPr>
            <p:cNvCxnSpPr>
              <a:cxnSpLocks/>
              <a:stCxn id="51" idx="6"/>
              <a:endCxn id="44" idx="1"/>
            </p:cNvCxnSpPr>
            <p:nvPr/>
          </p:nvCxnSpPr>
          <p:spPr>
            <a:xfrm flipV="1">
              <a:off x="2073580" y="4304444"/>
              <a:ext cx="1151615" cy="545569"/>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40" name="直線矢印コネクタ 39">
              <a:extLst>
                <a:ext uri="{FF2B5EF4-FFF2-40B4-BE49-F238E27FC236}">
                  <a16:creationId xmlns:a16="http://schemas.microsoft.com/office/drawing/2014/main" id="{6D4B56C4-0D13-187C-8D5D-81E4CF9B0B3D}"/>
                </a:ext>
              </a:extLst>
            </p:cNvPr>
            <p:cNvCxnSpPr>
              <a:stCxn id="49" idx="1"/>
              <a:endCxn id="32" idx="1"/>
            </p:cNvCxnSpPr>
            <p:nvPr/>
          </p:nvCxnSpPr>
          <p:spPr>
            <a:xfrm flipV="1">
              <a:off x="6158974" y="4304445"/>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1" name="直線矢印コネクタ 40">
              <a:extLst>
                <a:ext uri="{FF2B5EF4-FFF2-40B4-BE49-F238E27FC236}">
                  <a16:creationId xmlns:a16="http://schemas.microsoft.com/office/drawing/2014/main" id="{3DC6E84C-16FF-9ACE-36B0-F5D32DD8C71A}"/>
                </a:ext>
              </a:extLst>
            </p:cNvPr>
            <p:cNvCxnSpPr/>
            <p:nvPr/>
          </p:nvCxnSpPr>
          <p:spPr>
            <a:xfrm flipV="1">
              <a:off x="7367847" y="4316127"/>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C400E1ED-9747-B1A8-C74E-B6EA0360B40F}"/>
                </a:ext>
              </a:extLst>
            </p:cNvPr>
            <p:cNvCxnSpPr/>
            <p:nvPr/>
          </p:nvCxnSpPr>
          <p:spPr>
            <a:xfrm flipV="1">
              <a:off x="6169233" y="5485169"/>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564400C4-E5C0-5DA6-6666-3585C43FDAD5}"/>
                </a:ext>
              </a:extLst>
            </p:cNvPr>
            <p:cNvCxnSpPr/>
            <p:nvPr/>
          </p:nvCxnSpPr>
          <p:spPr>
            <a:xfrm flipV="1">
              <a:off x="7366456" y="5485169"/>
              <a:ext cx="425806" cy="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4" name="正方形/長方形 43">
              <a:extLst>
                <a:ext uri="{FF2B5EF4-FFF2-40B4-BE49-F238E27FC236}">
                  <a16:creationId xmlns:a16="http://schemas.microsoft.com/office/drawing/2014/main" id="{D2C19C27-0AAF-CFA2-34D6-6671FF41B67D}"/>
                </a:ext>
              </a:extLst>
            </p:cNvPr>
            <p:cNvSpPr/>
            <p:nvPr/>
          </p:nvSpPr>
          <p:spPr>
            <a:xfrm>
              <a:off x="3225195" y="4044078"/>
              <a:ext cx="1507089" cy="520731"/>
            </a:xfrm>
            <a:prstGeom prst="rect">
              <a:avLst/>
            </a:prstGeom>
            <a:solidFill>
              <a:srgbClr val="17318D"/>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bg1"/>
                  </a:solidFill>
                  <a:latin typeface="+mj-lt"/>
                </a:rPr>
                <a:t>低ジッタな</a:t>
              </a:r>
              <a:endParaRPr kumimoji="1" lang="en-US" altLang="ja-JP" dirty="0">
                <a:solidFill>
                  <a:schemeClr val="bg1"/>
                </a:solidFill>
                <a:latin typeface="+mj-lt"/>
              </a:endParaRPr>
            </a:p>
            <a:p>
              <a:pPr algn="ctr"/>
              <a:r>
                <a:rPr kumimoji="1" lang="ja-JP" altLang="en-US">
                  <a:solidFill>
                    <a:schemeClr val="bg1"/>
                  </a:solidFill>
                  <a:latin typeface="+mj-lt"/>
                </a:rPr>
                <a:t>分周システム</a:t>
              </a:r>
            </a:p>
          </p:txBody>
        </p:sp>
        <p:cxnSp>
          <p:nvCxnSpPr>
            <p:cNvPr id="45" name="直線矢印コネクタ 44">
              <a:extLst>
                <a:ext uri="{FF2B5EF4-FFF2-40B4-BE49-F238E27FC236}">
                  <a16:creationId xmlns:a16="http://schemas.microsoft.com/office/drawing/2014/main" id="{118E8483-1181-C601-29A2-71F027BA6040}"/>
                </a:ext>
              </a:extLst>
            </p:cNvPr>
            <p:cNvCxnSpPr>
              <a:cxnSpLocks/>
              <a:stCxn id="44" idx="3"/>
              <a:endCxn id="49" idx="3"/>
            </p:cNvCxnSpPr>
            <p:nvPr/>
          </p:nvCxnSpPr>
          <p:spPr>
            <a:xfrm>
              <a:off x="4732284" y="4304444"/>
              <a:ext cx="563410" cy="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6" name="テキスト ボックス 45">
              <a:extLst>
                <a:ext uri="{FF2B5EF4-FFF2-40B4-BE49-F238E27FC236}">
                  <a16:creationId xmlns:a16="http://schemas.microsoft.com/office/drawing/2014/main" id="{874CC4F7-ADDF-7145-F929-4E718EF172BB}"/>
                </a:ext>
              </a:extLst>
            </p:cNvPr>
            <p:cNvSpPr txBox="1"/>
            <p:nvPr/>
          </p:nvSpPr>
          <p:spPr>
            <a:xfrm>
              <a:off x="1331619" y="5245682"/>
              <a:ext cx="863281" cy="307769"/>
            </a:xfrm>
            <a:prstGeom prst="rect">
              <a:avLst/>
            </a:prstGeom>
            <a:noFill/>
          </p:spPr>
          <p:txBody>
            <a:bodyPr wrap="square" rtlCol="0">
              <a:spAutoFit/>
            </a:bodyPr>
            <a:lstStyle/>
            <a:p>
              <a:pPr algn="ctr"/>
              <a:r>
                <a:rPr kumimoji="1" lang="en-US" altLang="ja-JP" dirty="0"/>
                <a:t>TCXO</a:t>
              </a:r>
              <a:endParaRPr kumimoji="1" lang="ja-JP" altLang="en-US"/>
            </a:p>
          </p:txBody>
        </p:sp>
      </p:grpSp>
      <p:sp>
        <p:nvSpPr>
          <p:cNvPr id="53" name="正方形/長方形 52">
            <a:extLst>
              <a:ext uri="{FF2B5EF4-FFF2-40B4-BE49-F238E27FC236}">
                <a16:creationId xmlns:a16="http://schemas.microsoft.com/office/drawing/2014/main" id="{BAFD1C71-0100-8156-F1A2-9179C4BBED76}"/>
              </a:ext>
            </a:extLst>
          </p:cNvPr>
          <p:cNvSpPr/>
          <p:nvPr/>
        </p:nvSpPr>
        <p:spPr>
          <a:xfrm>
            <a:off x="3224722" y="5772170"/>
            <a:ext cx="1507089" cy="520731"/>
          </a:xfrm>
          <a:prstGeom prst="rect">
            <a:avLst/>
          </a:prstGeom>
          <a:solidFill>
            <a:srgbClr val="17318D"/>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bg1"/>
                </a:solidFill>
                <a:latin typeface="+mj-lt"/>
              </a:rPr>
              <a:t>低ジッタな</a:t>
            </a:r>
            <a:endParaRPr kumimoji="1" lang="en-US" altLang="ja-JP" dirty="0">
              <a:solidFill>
                <a:schemeClr val="bg1"/>
              </a:solidFill>
              <a:latin typeface="+mj-lt"/>
            </a:endParaRPr>
          </a:p>
          <a:p>
            <a:pPr algn="ctr"/>
            <a:r>
              <a:rPr kumimoji="1" lang="ja-JP" altLang="en-US">
                <a:solidFill>
                  <a:schemeClr val="bg1"/>
                </a:solidFill>
                <a:latin typeface="+mj-lt"/>
              </a:rPr>
              <a:t>分周システム</a:t>
            </a:r>
          </a:p>
        </p:txBody>
      </p:sp>
      <p:cxnSp>
        <p:nvCxnSpPr>
          <p:cNvPr id="54" name="直線矢印コネクタ 53">
            <a:extLst>
              <a:ext uri="{FF2B5EF4-FFF2-40B4-BE49-F238E27FC236}">
                <a16:creationId xmlns:a16="http://schemas.microsoft.com/office/drawing/2014/main" id="{8693889C-43DD-FCD0-EDC0-53D0E0821E0C}"/>
              </a:ext>
            </a:extLst>
          </p:cNvPr>
          <p:cNvCxnSpPr>
            <a:cxnSpLocks/>
            <a:stCxn id="53" idx="3"/>
            <a:endCxn id="47" idx="3"/>
          </p:cNvCxnSpPr>
          <p:nvPr/>
        </p:nvCxnSpPr>
        <p:spPr>
          <a:xfrm flipV="1">
            <a:off x="4731811" y="6025625"/>
            <a:ext cx="563410" cy="691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33337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AD9CF4-A592-78FA-8432-4D96957FFBDA}"/>
              </a:ext>
            </a:extLst>
          </p:cNvPr>
          <p:cNvSpPr>
            <a:spLocks noGrp="1"/>
          </p:cNvSpPr>
          <p:nvPr>
            <p:ph type="title"/>
          </p:nvPr>
        </p:nvSpPr>
        <p:spPr>
          <a:xfrm>
            <a:off x="200025" y="2908453"/>
            <a:ext cx="9504000" cy="655547"/>
          </a:xfrm>
        </p:spPr>
        <p:txBody>
          <a:bodyPr/>
          <a:lstStyle/>
          <a:p>
            <a:r>
              <a:rPr kumimoji="1" lang="ja-JP" altLang="en-US" sz="2800" b="1"/>
              <a:t>謝辞</a:t>
            </a:r>
          </a:p>
        </p:txBody>
      </p:sp>
      <p:sp>
        <p:nvSpPr>
          <p:cNvPr id="3" name="テキスト ボックス 2">
            <a:extLst>
              <a:ext uri="{FF2B5EF4-FFF2-40B4-BE49-F238E27FC236}">
                <a16:creationId xmlns:a16="http://schemas.microsoft.com/office/drawing/2014/main" id="{83C41F5F-F97A-FDC7-276C-9D366236FB14}"/>
              </a:ext>
            </a:extLst>
          </p:cNvPr>
          <p:cNvSpPr txBox="1"/>
          <p:nvPr/>
        </p:nvSpPr>
        <p:spPr>
          <a:xfrm>
            <a:off x="1550973" y="4136769"/>
            <a:ext cx="7335852" cy="1200329"/>
          </a:xfrm>
          <a:prstGeom prst="rect">
            <a:avLst/>
          </a:prstGeom>
          <a:noFill/>
        </p:spPr>
        <p:txBody>
          <a:bodyPr wrap="square" rtlCol="0">
            <a:spAutoFit/>
          </a:bodyPr>
          <a:lstStyle/>
          <a:p>
            <a:r>
              <a:rPr kumimoji="1" lang="ja-JP" altLang="en-US" sz="1800"/>
              <a:t>齋藤晴雄教授・竹内誠助教のご指導のもと、研究の方向性や内容について貴重な助言をいただき、深く感謝申し上げます。</a:t>
            </a:r>
          </a:p>
          <a:p>
            <a:r>
              <a:rPr kumimoji="1" lang="ja-JP" altLang="en-US" sz="1800"/>
              <a:t>また、マイコンをお借しいただいた木本哲也助教にも大変感謝いたします。</a:t>
            </a:r>
          </a:p>
        </p:txBody>
      </p:sp>
    </p:spTree>
    <p:extLst>
      <p:ext uri="{BB962C8B-B14F-4D97-AF65-F5344CB8AC3E}">
        <p14:creationId xmlns:p14="http://schemas.microsoft.com/office/powerpoint/2010/main" val="122160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80CC7-C2AC-AC42-A69E-25BFFC791958}"/>
              </a:ext>
            </a:extLst>
          </p:cNvPr>
          <p:cNvSpPr>
            <a:spLocks noGrp="1"/>
          </p:cNvSpPr>
          <p:nvPr>
            <p:ph type="title"/>
          </p:nvPr>
        </p:nvSpPr>
        <p:spPr/>
        <p:txBody>
          <a:bodyPr/>
          <a:lstStyle/>
          <a:p>
            <a:r>
              <a:rPr kumimoji="1" lang="en-US" altLang="ja-JP" sz="1400" b="1" dirty="0">
                <a:solidFill>
                  <a:schemeClr val="bg1"/>
                </a:solidFill>
              </a:rPr>
              <a:t>05</a:t>
            </a:r>
            <a:br>
              <a:rPr kumimoji="1" lang="en-US" altLang="ja-JP" b="1" dirty="0"/>
            </a:br>
            <a:r>
              <a:rPr kumimoji="1" lang="en-US" altLang="ja-JP" b="1" dirty="0"/>
              <a:t>06.Appendix</a:t>
            </a:r>
            <a:endParaRPr kumimoji="1" lang="ja-JP" altLang="en-US" b="1"/>
          </a:p>
        </p:txBody>
      </p:sp>
      <p:sp>
        <p:nvSpPr>
          <p:cNvPr id="3" name="テキスト プレースホルダー 2">
            <a:extLst>
              <a:ext uri="{FF2B5EF4-FFF2-40B4-BE49-F238E27FC236}">
                <a16:creationId xmlns:a16="http://schemas.microsoft.com/office/drawing/2014/main" id="{F7E80DAE-6024-3195-D2D4-EA3A5C54BC10}"/>
              </a:ext>
            </a:extLst>
          </p:cNvPr>
          <p:cNvSpPr>
            <a:spLocks noGrp="1"/>
          </p:cNvSpPr>
          <p:nvPr>
            <p:ph type="body" idx="1"/>
          </p:nvPr>
        </p:nvSpPr>
        <p:spPr>
          <a:xfrm>
            <a:off x="213525" y="906114"/>
            <a:ext cx="9101925" cy="628322"/>
          </a:xfrm>
        </p:spPr>
        <p:txBody>
          <a:bodyPr/>
          <a:lstStyle/>
          <a:p>
            <a:r>
              <a:rPr kumimoji="1" lang="en-US" altLang="ja-JP" sz="1800" dirty="0"/>
              <a:t>Power laws for spectra and Allan variance</a:t>
            </a:r>
          </a:p>
        </p:txBody>
      </p:sp>
      <p:pic>
        <p:nvPicPr>
          <p:cNvPr id="6" name="図 5" descr="ダイアグラム&#10;&#10;自動的に生成された説明">
            <a:extLst>
              <a:ext uri="{FF2B5EF4-FFF2-40B4-BE49-F238E27FC236}">
                <a16:creationId xmlns:a16="http://schemas.microsoft.com/office/drawing/2014/main" id="{E1729760-8423-469D-DAB5-2C95D90C4793}"/>
              </a:ext>
            </a:extLst>
          </p:cNvPr>
          <p:cNvPicPr>
            <a:picLocks noChangeAspect="1"/>
          </p:cNvPicPr>
          <p:nvPr/>
        </p:nvPicPr>
        <p:blipFill>
          <a:blip r:embed="rId3"/>
          <a:stretch>
            <a:fillRect/>
          </a:stretch>
        </p:blipFill>
        <p:spPr>
          <a:xfrm>
            <a:off x="3066651" y="1353233"/>
            <a:ext cx="3772698" cy="5029424"/>
          </a:xfrm>
          <a:prstGeom prst="rect">
            <a:avLst/>
          </a:prstGeom>
        </p:spPr>
      </p:pic>
      <p:cxnSp>
        <p:nvCxnSpPr>
          <p:cNvPr id="7" name="直線コネクタ 6">
            <a:extLst>
              <a:ext uri="{FF2B5EF4-FFF2-40B4-BE49-F238E27FC236}">
                <a16:creationId xmlns:a16="http://schemas.microsoft.com/office/drawing/2014/main" id="{E8EBDA7F-41B7-8F02-8D98-66B5EF1431E8}"/>
              </a:ext>
            </a:extLst>
          </p:cNvPr>
          <p:cNvCxnSpPr>
            <a:cxnSpLocks/>
          </p:cNvCxnSpPr>
          <p:nvPr/>
        </p:nvCxnSpPr>
        <p:spPr>
          <a:xfrm flipH="1">
            <a:off x="262215" y="6481500"/>
            <a:ext cx="9381569" cy="0"/>
          </a:xfrm>
          <a:prstGeom prst="line">
            <a:avLst/>
          </a:prstGeom>
        </p:spPr>
        <p:style>
          <a:lnRef idx="1">
            <a:schemeClr val="dk1"/>
          </a:lnRef>
          <a:fillRef idx="0">
            <a:schemeClr val="dk1"/>
          </a:fillRef>
          <a:effectRef idx="0">
            <a:schemeClr val="dk1"/>
          </a:effectRef>
          <a:fontRef idx="minor">
            <a:schemeClr val="tx1"/>
          </a:fontRef>
        </p:style>
      </p:cxnSp>
      <p:sp>
        <p:nvSpPr>
          <p:cNvPr id="8" name="テキスト ボックス 7">
            <a:extLst>
              <a:ext uri="{FF2B5EF4-FFF2-40B4-BE49-F238E27FC236}">
                <a16:creationId xmlns:a16="http://schemas.microsoft.com/office/drawing/2014/main" id="{0328309F-53FC-9D69-213A-15BA930524BE}"/>
              </a:ext>
            </a:extLst>
          </p:cNvPr>
          <p:cNvSpPr txBox="1"/>
          <p:nvPr/>
        </p:nvSpPr>
        <p:spPr>
          <a:xfrm>
            <a:off x="323502" y="6505048"/>
            <a:ext cx="9258993" cy="307777"/>
          </a:xfrm>
          <a:prstGeom prst="rect">
            <a:avLst/>
          </a:prstGeom>
          <a:noFill/>
        </p:spPr>
        <p:txBody>
          <a:bodyPr wrap="square" rtlCol="0">
            <a:spAutoFit/>
          </a:bodyPr>
          <a:lstStyle/>
          <a:p>
            <a:r>
              <a:rPr lang="en-US" altLang="ja-JP" dirty="0"/>
              <a:t>Enrico </a:t>
            </a:r>
            <a:r>
              <a:rPr lang="en-US" altLang="ja-JP" dirty="0" err="1"/>
              <a:t>Rubiola</a:t>
            </a:r>
            <a:r>
              <a:rPr lang="en-US" altLang="ja-JP" dirty="0"/>
              <a:t>, Phase Noise and Frequency Stability in Oscillators</a:t>
            </a:r>
          </a:p>
        </p:txBody>
      </p:sp>
    </p:spTree>
    <p:extLst>
      <p:ext uri="{BB962C8B-B14F-4D97-AF65-F5344CB8AC3E}">
        <p14:creationId xmlns:p14="http://schemas.microsoft.com/office/powerpoint/2010/main" val="3550089105"/>
      </p:ext>
    </p:extLst>
  </p:cSld>
  <p:clrMapOvr>
    <a:masterClrMapping/>
  </p:clrMapOvr>
</p:sld>
</file>

<file path=ppt/theme/theme1.xml><?xml version="1.0" encoding="utf-8"?>
<a:theme xmlns:a="http://schemas.openxmlformats.org/drawingml/2006/main" name="mb_標準テンプレート01">
  <a:themeElements>
    <a:clrScheme name="ユーザー定義 1">
      <a:dk1>
        <a:srgbClr val="000000"/>
      </a:dk1>
      <a:lt1>
        <a:srgbClr val="FFFFFF"/>
      </a:lt1>
      <a:dk2>
        <a:srgbClr val="001279"/>
      </a:dk2>
      <a:lt2>
        <a:srgbClr val="636363"/>
      </a:lt2>
      <a:accent1>
        <a:srgbClr val="001279"/>
      </a:accent1>
      <a:accent2>
        <a:srgbClr val="FF0000"/>
      </a:accent2>
      <a:accent3>
        <a:srgbClr val="FFFFFF"/>
      </a:accent3>
      <a:accent4>
        <a:srgbClr val="000000"/>
      </a:accent4>
      <a:accent5>
        <a:srgbClr val="EBEBEB"/>
      </a:accent5>
      <a:accent6>
        <a:srgbClr val="AEAEAE"/>
      </a:accent6>
      <a:hlink>
        <a:srgbClr val="0066B3"/>
      </a:hlink>
      <a:folHlink>
        <a:srgbClr val="CC00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46709</TotalTime>
  <Words>1324</Words>
  <Application>Microsoft Macintosh PowerPoint</Application>
  <PresentationFormat>A4 210 x 297 mm</PresentationFormat>
  <Paragraphs>214</Paragraphs>
  <Slides>13</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Noto Sans Symbols</vt:lpstr>
      <vt:lpstr>Arial</vt:lpstr>
      <vt:lpstr>Cambria Math</vt:lpstr>
      <vt:lpstr>mb_標準テンプレート01</vt:lpstr>
      <vt:lpstr>PowerPoint プレゼンテーション</vt:lpstr>
      <vt:lpstr>PowerPoint プレゼンテーション</vt:lpstr>
      <vt:lpstr>01.研究背景 1-1.前提</vt:lpstr>
      <vt:lpstr>01.研究背景 1-2.TCXO文献値による位相ノイズ(ジッタ)の計算</vt:lpstr>
      <vt:lpstr>01.研究背景 1-3.先行研究</vt:lpstr>
      <vt:lpstr>研究概要 02.本研究の目標</vt:lpstr>
      <vt:lpstr>研究概要 02.本研究の目標</vt:lpstr>
      <vt:lpstr>03. 03.研究方法 </vt:lpstr>
      <vt:lpstr>04.実験と結果 4-1.分周回路の設定</vt:lpstr>
      <vt:lpstr>04.実験と結果 4-2.作成した分周回路による測定結果</vt:lpstr>
      <vt:lpstr>05 05.考察と今後の展望</vt:lpstr>
      <vt:lpstr>謝辞</vt:lpstr>
      <vt:lpstr>05 06.Appendix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事業承継およびM&amp;Aに関する打ち合わせ　#2</dc:title>
  <dc:creator>m-base</dc:creator>
  <cp:lastModifiedBy>福井　晴士郎</cp:lastModifiedBy>
  <cp:revision>124</cp:revision>
  <cp:lastPrinted>2025-01-31T09:29:12Z</cp:lastPrinted>
  <dcterms:created xsi:type="dcterms:W3CDTF">2005-06-08T01:35:16Z</dcterms:created>
  <dcterms:modified xsi:type="dcterms:W3CDTF">2025-02-05T06:26:44Z</dcterms:modified>
</cp:coreProperties>
</file>