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omments/modernComment_1A9_FA5B5987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84_484A4A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425" r:id="rId2"/>
    <p:sldId id="426" r:id="rId3"/>
    <p:sldId id="388" r:id="rId4"/>
    <p:sldId id="427" r:id="rId5"/>
    <p:sldId id="43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</p:sldIdLst>
  <p:sldSz cx="9906000" cy="6858000" type="A4"/>
  <p:notesSz cx="6858000" cy="98742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97">
          <p15:clr>
            <a:srgbClr val="A4A3A4"/>
          </p15:clr>
        </p15:guide>
        <p15:guide id="2" orient="horz" pos="4156">
          <p15:clr>
            <a:srgbClr val="A4A3A4"/>
          </p15:clr>
        </p15:guide>
        <p15:guide id="3" pos="727">
          <p15:clr>
            <a:srgbClr val="A4A3A4"/>
          </p15:clr>
        </p15:guide>
        <p15:guide id="4" pos="6082">
          <p15:clr>
            <a:srgbClr val="A4A3A4"/>
          </p15:clr>
        </p15:guide>
        <p15:guide id="5" pos="1876">
          <p15:clr>
            <a:srgbClr val="A4A3A4"/>
          </p15:clr>
        </p15:guide>
        <p15:guide id="6" pos="4481">
          <p15:clr>
            <a:srgbClr val="A4A3A4"/>
          </p15:clr>
        </p15:guide>
        <p15:guide id="7" pos="36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1" roundtripDataSignature="AMtx7mhGZ7uZ5vFhmAr7D05oSO2hGt9NU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89181F-4E05-7DF9-4E74-3E4183689D47}" name="福井　晴士郎" initials="晴福" userId="S::9209790505@utac.u-tokyo.ac.jp::c862c106-44b5-40b1-8b55-3249c1e6466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8D"/>
    <a:srgbClr val="0096FF"/>
    <a:srgbClr val="002060"/>
    <a:srgbClr val="FFAC40"/>
    <a:srgbClr val="BFBFBF"/>
    <a:srgbClr val="FF0011"/>
    <a:srgbClr val="F9F9F9"/>
    <a:srgbClr val="0070C0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F55246-B984-4F00-A051-4BF160ACBDB1}">
  <a:tblStyle styleId="{FFF55246-B984-4F00-A051-4BF160ACBDB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9F9F9"/>
          </a:solidFill>
        </a:fill>
      </a:tcStyle>
    </a:wholeTbl>
    <a:band1H>
      <a:tcTxStyle b="off" i="off"/>
      <a:tcStyle>
        <a:tcBdr/>
        <a:fill>
          <a:solidFill>
            <a:srgbClr val="F2F2F2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2F2F2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1EA581E-A1C8-4F62-88BD-5A6DA978B53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5A115FD-0512-4B44-A0B9-EB2B14077046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7" autoAdjust="0"/>
    <p:restoredTop sz="85211"/>
  </p:normalViewPr>
  <p:slideViewPr>
    <p:cSldViewPr snapToGrid="0">
      <p:cViewPr varScale="1">
        <p:scale>
          <a:sx n="75" d="100"/>
          <a:sy n="75" d="100"/>
        </p:scale>
        <p:origin x="845" y="58"/>
      </p:cViewPr>
      <p:guideLst>
        <p:guide orient="horz" pos="1797"/>
        <p:guide orient="horz" pos="4156"/>
        <p:guide pos="727"/>
        <p:guide pos="6082"/>
        <p:guide pos="1876"/>
        <p:guide pos="4481"/>
        <p:guide pos="3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84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51" Type="http://customschemas.google.com/relationships/presentationmetadata" Target="metadata"/><Relationship Id="rId3" Type="http://schemas.openxmlformats.org/officeDocument/2006/relationships/slide" Target="slides/slide2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microsoft.com/office/2018/10/relationships/authors" Target="authors.xml"/></Relationships>
</file>

<file path=ppt/comments/modernComment_1A9_FA5B598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B3DFEB-2883-A441-8412-D006ED897D7F}" authorId="{8E89181F-4E05-7DF9-4E74-3E4183689D47}" created="2025-01-30T04:22:47.4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0290695" sldId="425"/>
      <ac:spMk id="6" creationId="{685347EE-2965-C090-63D4-710A20C95107}"/>
    </ac:deMkLst>
    <p188:txBody>
      <a:bodyPr/>
      <a:lstStyle/>
      <a:p>
        <a:r>
          <a:rPr lang="ja-JP" altLang="en-US"/>
          <a:t>タイトルを修正</a:t>
        </a:r>
      </a:p>
    </p188:txBody>
  </p188:cm>
  <p188:cm id="{8EAFE6AB-7B75-CA43-8DFC-98EC95167DA2}" authorId="{8E89181F-4E05-7DF9-4E74-3E4183689D47}" created="2025-01-30T04:23:02.1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0290695" sldId="425"/>
      <ac:spMk id="7" creationId="{71FC25AB-DEB9-83EB-9860-9B53C72373B7}"/>
    </ac:deMkLst>
    <p188:txBody>
      <a:bodyPr/>
      <a:lstStyle/>
      <a:p>
        <a:r>
          <a:rPr lang="ja-JP" altLang="en-US"/>
          <a:t>所属を修正</a:t>
        </a:r>
      </a:p>
    </p188:txBody>
  </p188:cm>
</p188:cmLst>
</file>

<file path=ppt/comments/modernComment_184_484A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D40950E-7C22-224D-9946-B26097C0E8D0}" authorId="{8E89181F-4E05-7DF9-4E74-3E4183689D47}" created="2025-01-30T06:56:12.8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1" creationId="{D71EA5ED-C488-B94E-534D-ED24647218DE}"/>
    </ac:deMkLst>
    <p188:txBody>
      <a:bodyPr/>
      <a:lstStyle/>
      <a:p>
        <a:r>
          <a:rPr lang="ja-JP" altLang="en-US"/>
          <a:t>\mathbb{V}(j(t)) = \cfrac{\sqrt{\int_{f_1}^{f_2} 10^{\frac{dBc}{10}}df}}{2 \pi f_c}</a:t>
        </a:r>
      </a:p>
    </p188:txBody>
  </p188:cm>
  <p188:cm id="{1130F69C-6223-EC47-877E-6583B35D83A4}" authorId="{8E89181F-4E05-7DF9-4E74-3E4183689D47}" created="2025-01-30T07:02:34.32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2" creationId="{916ED799-CAF8-F4B3-828F-59176BCF743A}"/>
    </ac:deMkLst>
    <p188:txBody>
      <a:bodyPr/>
      <a:lstStyle/>
      <a:p>
        <a:r>
          <a:rPr lang="ja-JP" altLang="en-US"/>
          <a:t>A_0 cos(\omega (t + j(t)) \approx A_0 \cos\omega t - A_0\omega j(t)\sin \omega t</a:t>
        </a:r>
      </a:p>
    </p188:txBody>
  </p188:cm>
  <p188:cm id="{8375A50A-D565-6E45-8BC3-5AC60E55DD23}" authorId="{8E89181F-4E05-7DF9-4E74-3E4183689D47}" created="2025-01-30T07:09:01.5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3" creationId="{86061A11-EC5A-FDCC-D25A-4038E87F2A68}"/>
    </ac:deMkLst>
    <p188:txBody>
      <a:bodyPr/>
      <a:lstStyle/>
      <a:p>
        <a:r>
          <a:rPr lang="ja-JP" altLang="en-US"/>
          <a:t>Pc = (A_0 cos\omega t)^2 = \cfrac{A_0^2}{2} </a:t>
        </a:r>
      </a:p>
    </p188:txBody>
  </p188:cm>
  <p188:cm id="{6EAEA4E3-6FB4-1040-A61B-BB24F3EAC473}" authorId="{8E89181F-4E05-7DF9-4E74-3E4183689D47}" created="2025-01-30T07:10:47.2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4" creationId="{79100334-29CB-0FFD-DBA3-CE530FD52CE2}"/>
    </ac:deMkLst>
    <p188:txBody>
      <a:bodyPr/>
      <a:lstStyle/>
      <a:p>
        <a:r>
          <a:rPr lang="ja-JP" altLang="en-US"/>
          <a:t>P_{jitter} = (A_0\omega j(t)\sin \omega t)^2 = \cfrac{A_0^2 \omega^2 \mathbb{V}[j(t)]}{2}</a:t>
        </a:r>
      </a:p>
    </p188:txBody>
  </p188:cm>
  <p188:cm id="{F2AB3BC8-9B7B-A64C-8501-AF71A30DBF34}" authorId="{8E89181F-4E05-7DF9-4E74-3E4183689D47}" created="2025-01-30T07:32:40.9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5" creationId="{5919A426-2E8E-B793-235E-4067E32CEFE0}"/>
    </ac:deMkLst>
    <p188:txBody>
      <a:bodyPr/>
      <a:lstStyle/>
      <a:p>
        <a:r>
          <a:rPr lang="ja-JP" altLang="en-US"/>
          <a:t>L(f) = \cfrac{1}{2} \times 10 \log_{10}{\frac{P_{jitter}}{P_c}} =\cfrac{1}{2} \times 10 \log_{10} \omega^2 \mathbb{V}(j(t))</a:t>
        </a:r>
      </a:p>
    </p188:txBody>
  </p188:cm>
  <p188:cm id="{62A4E2A4-DF3A-7C4C-80E8-42AA7A5513B1}" authorId="{8E89181F-4E05-7DF9-4E74-3E4183689D47}" created="2025-01-30T07:36:00.0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6" creationId="{299064D2-5B71-6CAE-8C8C-3423B95B475C}"/>
    </ac:deMkLst>
    <p188:txBody>
      <a:bodyPr/>
      <a:lstStyle/>
      <a:p>
        <a:r>
          <a:rPr lang="ja-JP" altLang="en-US"/>
          <a:t>\sigma (j(t)) = \sqrt{\mathbb{V}(j(t))} = \cfrac{\sqrt{\int_{f_1}^{f_2} 10^{\frac{L(f)}{10}}df}}{2 \pi f_c}</a:t>
        </a:r>
      </a:p>
    </p188:txBody>
  </p188:cm>
  <p188:cm id="{F7E804A0-C5A7-5C4E-BC6C-E97DD6AF922A}" authorId="{8E89181F-4E05-7DF9-4E74-3E4183689D47}" created="2025-01-31T08:07:15.76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4" creationId="{9C195C08-8BEE-1A31-ED96-7CE559B150E4}"/>
    </ac:deMkLst>
    <p188:txBody>
      <a:bodyPr/>
      <a:lstStyle/>
      <a:p>
        <a:r>
          <a:rPr lang="ja-JP" altLang="en-US"/>
          <a:t>L(f) = \mathcal{F} \left[\cfrac{1}{2} \times 10 \log_{10}{\frac{P_{jitter}}{P_c}}\right] =\mathcal{F} \left[\cfrac{1}{2} \times 10 \log_{10} \omega^2 \mathbb{V}(j(t))\right]</a:t>
        </a:r>
      </a:p>
    </p188:txBody>
  </p188:cm>
  <p188:cm id="{C4B4C73C-927C-DF44-BEA1-D711E6FC1685}" authorId="{8E89181F-4E05-7DF9-4E74-3E4183689D47}" created="2025-01-31T08:31:31.2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" creationId="{1C5B4EEA-7429-3F14-CD8F-55BB9DA6BB36}"/>
    </ac:deMkLst>
    <p188:txBody>
      <a:bodyPr/>
      <a:lstStyle/>
      <a:p>
        <a:r>
          <a:rPr lang="ja-JP" altLang="en-US"/>
          <a:t>L(f) = \mathcal{F} \left[10 \log_{10}{\frac{P_{jitter}}{P_c}}\right] =\mathcal{F} \left[10 \log_{10} \omega^2 \mathbb{V}(j(t))\right]</a:t>
        </a:r>
      </a:p>
    </p188:txBody>
  </p188:cm>
  <p188:cm id="{63548348-4E7E-8347-A4D5-55FDD3CD38AB}" authorId="{8E89181F-4E05-7DF9-4E74-3E4183689D47}" created="2025-02-03T06:36:01.2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" creationId="{1C5B4EEA-7429-3F14-CD8F-55BB9DA6BB36}"/>
    </ac:deMkLst>
    <p188:txBody>
      <a:bodyPr/>
      <a:lstStyle/>
      <a:p>
        <a:r>
          <a:rPr lang="ja-JP" altLang="en-US"/>
          <a:t>j(t)のフーリエ変換の形に直す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2-03T06:36:06.445" authorId="{8E89181F-4E05-7DF9-4E74-3E4183689D47}"/>
          </p223:rxn>
        </p223:reactions>
      </p:ext>
    </p188:extLst>
  </p188:cm>
  <p188:cm id="{0A02BBD2-C7A3-484F-B8E4-951C05844045}" authorId="{8E89181F-4E05-7DF9-4E74-3E4183689D47}" created="2025-02-04T01:47:56.47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4" creationId="{9C195C08-8BEE-1A31-ED96-7CE559B150E4}"/>
    </ac:deMkLst>
    <p188:txBody>
      <a:bodyPr/>
      <a:lstStyle/>
      <a:p>
        <a:r>
          <a:rPr lang="ja-JP" altLang="en-US"/>
          <a:t>L(f) =  10 \log_{10}{\frac{P_{jitter}}{P_c}} =10 \log_{10} \mathcal{F} \left[\omega^2 \mathbb{V}(j(t))\right]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52475" y="739775"/>
            <a:ext cx="5351463" cy="37052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4213" y="4689475"/>
            <a:ext cx="5489575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718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378950"/>
            <a:ext cx="29718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684213" y="4689475"/>
            <a:ext cx="5489575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52475" y="739775"/>
            <a:ext cx="5351463" cy="37052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1990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・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では表現しづらいので、</a:t>
            </a:r>
            <a:r>
              <a:rPr kumimoji="1" lang="en-US" altLang="ja-JP" dirty="0"/>
              <a:t>L(f)</a:t>
            </a:r>
            <a:r>
              <a:rPr kumimoji="1" lang="ja-JP" altLang="en-US" dirty="0"/>
              <a:t>で表現する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のフーリエ変換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の分散</a:t>
            </a:r>
            <a:endParaRPr kumimoji="1" lang="en-US" altLang="ja-JP" dirty="0"/>
          </a:p>
          <a:p>
            <a:r>
              <a:rPr kumimoji="1" lang="ja-JP" altLang="en-US" dirty="0"/>
              <a:t>・位相ノイズが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なら</a:t>
            </a:r>
            <a:r>
              <a:rPr kumimoji="1" lang="en-US" altLang="ja-JP" dirty="0" err="1"/>
              <a:t>σ</a:t>
            </a:r>
            <a:r>
              <a:rPr kumimoji="1" lang="en-US" altLang="ja-JP" dirty="0"/>
              <a:t>(j(t))</a:t>
            </a:r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lang="ja-JP" alt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3812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行タイトル+本文">
  <p:cSld name="1行タイトル+本文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;p41">
            <a:extLst>
              <a:ext uri="{FF2B5EF4-FFF2-40B4-BE49-F238E27FC236}">
                <a16:creationId xmlns:a16="http://schemas.microsoft.com/office/drawing/2014/main" id="{D597FADB-FE53-9A2C-CE30-9A690B5E32D2}"/>
              </a:ext>
            </a:extLst>
          </p:cNvPr>
          <p:cNvSpPr txBox="1"/>
          <p:nvPr userDrawn="1"/>
        </p:nvSpPr>
        <p:spPr>
          <a:xfrm>
            <a:off x="201975" y="251988"/>
            <a:ext cx="9504000" cy="67129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44000" tIns="324000" rIns="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000F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6"/>
          <p:cNvSpPr txBox="1">
            <a:spLocks noGrp="1"/>
          </p:cNvSpPr>
          <p:nvPr>
            <p:ph type="title"/>
          </p:nvPr>
        </p:nvSpPr>
        <p:spPr>
          <a:xfrm>
            <a:off x="227025" y="259239"/>
            <a:ext cx="9477000" cy="628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75" b="0" i="0" u="none" strike="noStrike" cap="none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5" name="Google Shape;35;p46"/>
          <p:cNvSpPr txBox="1">
            <a:spLocks noGrp="1"/>
          </p:cNvSpPr>
          <p:nvPr>
            <p:ph type="body" idx="1"/>
          </p:nvPr>
        </p:nvSpPr>
        <p:spPr>
          <a:xfrm>
            <a:off x="213525" y="906114"/>
            <a:ext cx="9477000" cy="130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lvl1pPr marL="457200" lvl="0" indent="-331787" algn="l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SzPts val="1625"/>
              <a:buChar char="■"/>
              <a:defRPr sz="1800">
                <a:solidFill>
                  <a:schemeClr val="tx1"/>
                </a:solidFill>
              </a:defRPr>
            </a:lvl1pPr>
            <a:lvl2pPr marL="914400" lvl="1" indent="-321500" algn="l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SzPts val="1463"/>
              <a:buChar char="●"/>
              <a:defRPr sz="1463"/>
            </a:lvl2pPr>
            <a:lvl3pPr marL="1371600" lvl="2" indent="-31115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1300"/>
              <a:buFont typeface="Arial"/>
              <a:buChar char="▪"/>
              <a:defRPr sz="1300"/>
            </a:lvl3pPr>
            <a:lvl4pPr marL="1828800" lvl="3" indent="-300863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SzPts val="1138"/>
              <a:buFont typeface="Arial"/>
              <a:buChar char="▪"/>
              <a:defRPr sz="1138"/>
            </a:lvl4pPr>
            <a:lvl5pPr marL="2286000" lvl="4" indent="-290512" algn="l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SzPts val="975"/>
              <a:buFont typeface="Arial"/>
              <a:buChar char="▪"/>
              <a:defRPr sz="975"/>
            </a:lvl5pPr>
            <a:lvl6pPr marL="2743200" lvl="5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 dirty="0"/>
          </a:p>
        </p:txBody>
      </p:sp>
      <p:sp>
        <p:nvSpPr>
          <p:cNvPr id="4" name="Google Shape;26;p43">
            <a:extLst>
              <a:ext uri="{FF2B5EF4-FFF2-40B4-BE49-F238E27FC236}">
                <a16:creationId xmlns:a16="http://schemas.microsoft.com/office/drawing/2014/main" id="{4C692D73-7D54-2741-7DA0-F6127E9259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行タイトル+本文" preserve="1" userDrawn="1">
  <p:cSld name="1_1行タイトル+本文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;p41">
            <a:extLst>
              <a:ext uri="{FF2B5EF4-FFF2-40B4-BE49-F238E27FC236}">
                <a16:creationId xmlns:a16="http://schemas.microsoft.com/office/drawing/2014/main" id="{D597FADB-FE53-9A2C-CE30-9A690B5E32D2}"/>
              </a:ext>
            </a:extLst>
          </p:cNvPr>
          <p:cNvSpPr txBox="1"/>
          <p:nvPr userDrawn="1"/>
        </p:nvSpPr>
        <p:spPr>
          <a:xfrm>
            <a:off x="201975" y="251988"/>
            <a:ext cx="9504000" cy="67129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44000" tIns="324000" rIns="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000F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6"/>
          <p:cNvSpPr txBox="1">
            <a:spLocks noGrp="1"/>
          </p:cNvSpPr>
          <p:nvPr>
            <p:ph type="body" idx="1"/>
          </p:nvPr>
        </p:nvSpPr>
        <p:spPr>
          <a:xfrm>
            <a:off x="213525" y="906114"/>
            <a:ext cx="9477000" cy="130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lvl1pPr marL="457200" lvl="0" indent="-331787" algn="l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SzPts val="1625"/>
              <a:buChar char="■"/>
              <a:defRPr sz="1625">
                <a:solidFill>
                  <a:schemeClr val="bg2"/>
                </a:solidFill>
              </a:defRPr>
            </a:lvl1pPr>
            <a:lvl2pPr marL="914400" lvl="1" indent="-321500" algn="l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SzPts val="1463"/>
              <a:buChar char="●"/>
              <a:defRPr sz="1463"/>
            </a:lvl2pPr>
            <a:lvl3pPr marL="1371600" lvl="2" indent="-31115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1300"/>
              <a:buFont typeface="Arial"/>
              <a:buChar char="▪"/>
              <a:defRPr sz="1300"/>
            </a:lvl3pPr>
            <a:lvl4pPr marL="1828800" lvl="3" indent="-300863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SzPts val="1138"/>
              <a:buFont typeface="Arial"/>
              <a:buChar char="▪"/>
              <a:defRPr sz="1138"/>
            </a:lvl4pPr>
            <a:lvl5pPr marL="2286000" lvl="4" indent="-290512" algn="l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SzPts val="975"/>
              <a:buFont typeface="Arial"/>
              <a:buChar char="▪"/>
              <a:defRPr sz="975"/>
            </a:lvl5pPr>
            <a:lvl6pPr marL="2743200" lvl="5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 dirty="0"/>
          </a:p>
        </p:txBody>
      </p:sp>
      <p:sp>
        <p:nvSpPr>
          <p:cNvPr id="4" name="Google Shape;26;p43">
            <a:extLst>
              <a:ext uri="{FF2B5EF4-FFF2-40B4-BE49-F238E27FC236}">
                <a16:creationId xmlns:a16="http://schemas.microsoft.com/office/drawing/2014/main" id="{4C692D73-7D54-2741-7DA0-F6127E9259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8756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>
            <a:spLocks noGrp="1"/>
          </p:cNvSpPr>
          <p:nvPr>
            <p:ph type="title"/>
          </p:nvPr>
        </p:nvSpPr>
        <p:spPr>
          <a:xfrm>
            <a:off x="168640" y="1262921"/>
            <a:ext cx="9448800" cy="95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中表紙">
  <p:cSld name="中表紙">
    <p:bg>
      <p:bgPr>
        <a:solidFill>
          <a:srgbClr val="E4ECED">
            <a:alpha val="49411"/>
          </a:srgbClr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44"/>
          <p:cNvCxnSpPr/>
          <p:nvPr/>
        </p:nvCxnSpPr>
        <p:spPr>
          <a:xfrm>
            <a:off x="0" y="3564000"/>
            <a:ext cx="9906000" cy="0"/>
          </a:xfrm>
          <a:prstGeom prst="straightConnector1">
            <a:avLst/>
          </a:prstGeom>
          <a:noFill/>
          <a:ln w="9525" cap="flat" cmpd="sng">
            <a:solidFill>
              <a:srgbClr val="000F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44"/>
          <p:cNvSpPr txBox="1">
            <a:spLocks noGrp="1"/>
          </p:cNvSpPr>
          <p:nvPr>
            <p:ph type="title"/>
          </p:nvPr>
        </p:nvSpPr>
        <p:spPr>
          <a:xfrm>
            <a:off x="200025" y="3060000"/>
            <a:ext cx="9504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440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F7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F7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07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body" idx="1"/>
          </p:nvPr>
        </p:nvSpPr>
        <p:spPr>
          <a:xfrm>
            <a:off x="228600" y="1524000"/>
            <a:ext cx="94488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sldNum" idx="12"/>
          </p:nvPr>
        </p:nvSpPr>
        <p:spPr>
          <a:xfrm>
            <a:off x="9017000" y="6598761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9" r:id="rId2"/>
    <p:sldLayoutId id="2147483650" r:id="rId3"/>
    <p:sldLayoutId id="2147483655" r:id="rId4"/>
    <p:sldLayoutId id="214748366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A9_FA5B5987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microsoft.com/office/2018/10/relationships/comments" Target="../comments/modernComment_184_484A4A.xml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8DDC74B-379C-60AA-C6B0-F4616E96AD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mtClean="0"/>
              <a:t>0</a:t>
            </a:fld>
            <a:endParaRPr lang="ja-JP" altLang="en-US" dirty="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AA7F329-6046-8E5F-D683-3255C4F76CA1}"/>
              </a:ext>
            </a:extLst>
          </p:cNvPr>
          <p:cNvCxnSpPr/>
          <p:nvPr/>
        </p:nvCxnSpPr>
        <p:spPr>
          <a:xfrm>
            <a:off x="501015" y="4146319"/>
            <a:ext cx="890397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FC25AB-DEB9-83EB-9860-9B53C72373B7}"/>
              </a:ext>
            </a:extLst>
          </p:cNvPr>
          <p:cNvSpPr txBox="1"/>
          <p:nvPr/>
        </p:nvSpPr>
        <p:spPr>
          <a:xfrm>
            <a:off x="3510915" y="4417536"/>
            <a:ext cx="2884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斎藤晴雄研究室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190BDFC-58C0-7EBD-75E3-17EBBE924494}"/>
              </a:ext>
            </a:extLst>
          </p:cNvPr>
          <p:cNvCxnSpPr>
            <a:cxnSpLocks/>
          </p:cNvCxnSpPr>
          <p:nvPr/>
        </p:nvCxnSpPr>
        <p:spPr>
          <a:xfrm>
            <a:off x="7160895" y="6130290"/>
            <a:ext cx="274510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C6662F0-FEA1-B1A8-8DF6-0F41BB2511D8}"/>
              </a:ext>
            </a:extLst>
          </p:cNvPr>
          <p:cNvSpPr txBox="1"/>
          <p:nvPr/>
        </p:nvSpPr>
        <p:spPr>
          <a:xfrm>
            <a:off x="7160894" y="5822513"/>
            <a:ext cx="2745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2026/06/24 10:30-10:50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CBA681-9ACC-0BBE-1EB5-246173595B06}"/>
              </a:ext>
            </a:extLst>
          </p:cNvPr>
          <p:cNvSpPr txBox="1"/>
          <p:nvPr/>
        </p:nvSpPr>
        <p:spPr>
          <a:xfrm>
            <a:off x="2546509" y="4817646"/>
            <a:ext cx="4812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08-223022 </a:t>
            </a:r>
            <a:r>
              <a:rPr kumimoji="1" lang="ja-JP" altLang="en-US" sz="2000"/>
              <a:t>福井</a:t>
            </a:r>
            <a:r>
              <a:rPr kumimoji="1" lang="en-US" altLang="ja-JP" sz="2000" dirty="0"/>
              <a:t> </a:t>
            </a:r>
            <a:r>
              <a:rPr kumimoji="1" lang="ja-JP" altLang="en-US" sz="2000"/>
              <a:t>晴士郎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85347EE-2965-C090-63D4-710A20C95107}"/>
              </a:ext>
            </a:extLst>
          </p:cNvPr>
          <p:cNvSpPr txBox="1"/>
          <p:nvPr/>
        </p:nvSpPr>
        <p:spPr>
          <a:xfrm>
            <a:off x="501016" y="2828835"/>
            <a:ext cx="8903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/>
              <a:t>水晶基準発信器の</a:t>
            </a:r>
            <a:endParaRPr kumimoji="1" lang="en-US" altLang="ja-JP" sz="3600" dirty="0"/>
          </a:p>
          <a:p>
            <a:pPr algn="ctr"/>
            <a:r>
              <a:rPr kumimoji="1" lang="ja-JP" altLang="en-US" sz="3600" dirty="0"/>
              <a:t>位相同期制御による高純度信号作成</a:t>
            </a:r>
          </a:p>
        </p:txBody>
      </p:sp>
    </p:spTree>
    <p:extLst>
      <p:ext uri="{BB962C8B-B14F-4D97-AF65-F5344CB8AC3E}">
        <p14:creationId xmlns:p14="http://schemas.microsoft.com/office/powerpoint/2010/main" val="42002906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133643" y="175846"/>
            <a:ext cx="464234" cy="96363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9201989" y="65913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</a:pPr>
            <a:fld id="{00000000-1234-1234-1234-123412341234}" type="slidenum">
              <a:rPr lang="en-US" altLang="ja-JP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87F1A145-67EE-D989-0616-084884FAD21F}"/>
              </a:ext>
            </a:extLst>
          </p:cNvPr>
          <p:cNvGrpSpPr/>
          <p:nvPr/>
        </p:nvGrpSpPr>
        <p:grpSpPr>
          <a:xfrm>
            <a:off x="966349" y="2320887"/>
            <a:ext cx="7285338" cy="550196"/>
            <a:chOff x="966349" y="2235689"/>
            <a:chExt cx="7285338" cy="550196"/>
          </a:xfrm>
        </p:grpSpPr>
        <p:grpSp>
          <p:nvGrpSpPr>
            <p:cNvPr id="4" name="Google Shape;56;p2">
              <a:extLst>
                <a:ext uri="{FF2B5EF4-FFF2-40B4-BE49-F238E27FC236}">
                  <a16:creationId xmlns:a16="http://schemas.microsoft.com/office/drawing/2014/main" id="{FE881E70-03A8-C9EB-4648-77E20B2E1034}"/>
                </a:ext>
              </a:extLst>
            </p:cNvPr>
            <p:cNvGrpSpPr/>
            <p:nvPr/>
          </p:nvGrpSpPr>
          <p:grpSpPr>
            <a:xfrm>
              <a:off x="966349" y="2260867"/>
              <a:ext cx="5209544" cy="525018"/>
              <a:chOff x="1363626" y="1195448"/>
              <a:chExt cx="5209544" cy="525018"/>
            </a:xfrm>
          </p:grpSpPr>
          <p:sp>
            <p:nvSpPr>
              <p:cNvPr id="8" name="Google Shape;57;p2">
                <a:extLst>
                  <a:ext uri="{FF2B5EF4-FFF2-40B4-BE49-F238E27FC236}">
                    <a16:creationId xmlns:a16="http://schemas.microsoft.com/office/drawing/2014/main" id="{BE009C27-9EE4-2208-892F-EE7A83BE4376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58;p2">
                <a:extLst>
                  <a:ext uri="{FF2B5EF4-FFF2-40B4-BE49-F238E27FC236}">
                    <a16:creationId xmlns:a16="http://schemas.microsoft.com/office/drawing/2014/main" id="{62C0A97A-CCC7-9FE2-00E6-B7EC607BA7FE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" name="Google Shape;68;p2">
              <a:extLst>
                <a:ext uri="{FF2B5EF4-FFF2-40B4-BE49-F238E27FC236}">
                  <a16:creationId xmlns:a16="http://schemas.microsoft.com/office/drawing/2014/main" id="{67802ABC-BA82-98A3-50D8-837191BCD854}"/>
                </a:ext>
              </a:extLst>
            </p:cNvPr>
            <p:cNvSpPr/>
            <p:nvPr/>
          </p:nvSpPr>
          <p:spPr>
            <a:xfrm>
              <a:off x="966349" y="2235689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ja-JP" altLang="en-US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本研究の目標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326664E3-DC11-C842-2233-33D2E906848C}"/>
              </a:ext>
            </a:extLst>
          </p:cNvPr>
          <p:cNvGrpSpPr/>
          <p:nvPr/>
        </p:nvGrpSpPr>
        <p:grpSpPr>
          <a:xfrm>
            <a:off x="966349" y="3049829"/>
            <a:ext cx="7285338" cy="550196"/>
            <a:chOff x="966349" y="2854847"/>
            <a:chExt cx="7285338" cy="550196"/>
          </a:xfrm>
        </p:grpSpPr>
        <p:grpSp>
          <p:nvGrpSpPr>
            <p:cNvPr id="11" name="Google Shape;56;p2">
              <a:extLst>
                <a:ext uri="{FF2B5EF4-FFF2-40B4-BE49-F238E27FC236}">
                  <a16:creationId xmlns:a16="http://schemas.microsoft.com/office/drawing/2014/main" id="{5B99108C-3C98-59C1-BA22-035CD6D84C45}"/>
                </a:ext>
              </a:extLst>
            </p:cNvPr>
            <p:cNvGrpSpPr/>
            <p:nvPr/>
          </p:nvGrpSpPr>
          <p:grpSpPr>
            <a:xfrm>
              <a:off x="966349" y="2880025"/>
              <a:ext cx="5209544" cy="525018"/>
              <a:chOff x="1363626" y="1195448"/>
              <a:chExt cx="5209544" cy="525018"/>
            </a:xfrm>
          </p:grpSpPr>
          <p:sp>
            <p:nvSpPr>
              <p:cNvPr id="12" name="Google Shape;57;p2">
                <a:extLst>
                  <a:ext uri="{FF2B5EF4-FFF2-40B4-BE49-F238E27FC236}">
                    <a16:creationId xmlns:a16="http://schemas.microsoft.com/office/drawing/2014/main" id="{0BE9DA5C-86ED-6EAE-52BA-533BDEC6F87E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58;p2">
                <a:extLst>
                  <a:ext uri="{FF2B5EF4-FFF2-40B4-BE49-F238E27FC236}">
                    <a16:creationId xmlns:a16="http://schemas.microsoft.com/office/drawing/2014/main" id="{A0E59B47-6B25-FE76-5709-AFFB28EE80D0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" name="Google Shape;68;p2">
              <a:extLst>
                <a:ext uri="{FF2B5EF4-FFF2-40B4-BE49-F238E27FC236}">
                  <a16:creationId xmlns:a16="http://schemas.microsoft.com/office/drawing/2014/main" id="{2A6F96B4-7264-1FA6-3AC9-9E6497410E11}"/>
                </a:ext>
              </a:extLst>
            </p:cNvPr>
            <p:cNvSpPr/>
            <p:nvPr/>
          </p:nvSpPr>
          <p:spPr>
            <a:xfrm>
              <a:off x="966349" y="2854847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先行研究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841A2931-A659-0346-5CD4-D536C9AEE1A4}"/>
              </a:ext>
            </a:extLst>
          </p:cNvPr>
          <p:cNvGrpSpPr/>
          <p:nvPr/>
        </p:nvGrpSpPr>
        <p:grpSpPr>
          <a:xfrm>
            <a:off x="966349" y="3778771"/>
            <a:ext cx="7285338" cy="550196"/>
            <a:chOff x="966349" y="3476162"/>
            <a:chExt cx="7285338" cy="550196"/>
          </a:xfrm>
        </p:grpSpPr>
        <p:grpSp>
          <p:nvGrpSpPr>
            <p:cNvPr id="15" name="Google Shape;56;p2">
              <a:extLst>
                <a:ext uri="{FF2B5EF4-FFF2-40B4-BE49-F238E27FC236}">
                  <a16:creationId xmlns:a16="http://schemas.microsoft.com/office/drawing/2014/main" id="{C787518E-46B1-A0A7-B751-A1A66CF95DBC}"/>
                </a:ext>
              </a:extLst>
            </p:cNvPr>
            <p:cNvGrpSpPr/>
            <p:nvPr/>
          </p:nvGrpSpPr>
          <p:grpSpPr>
            <a:xfrm>
              <a:off x="966349" y="3501340"/>
              <a:ext cx="5209544" cy="525018"/>
              <a:chOff x="1363626" y="1195448"/>
              <a:chExt cx="5209544" cy="525018"/>
            </a:xfrm>
          </p:grpSpPr>
          <p:sp>
            <p:nvSpPr>
              <p:cNvPr id="16" name="Google Shape;57;p2">
                <a:extLst>
                  <a:ext uri="{FF2B5EF4-FFF2-40B4-BE49-F238E27FC236}">
                    <a16:creationId xmlns:a16="http://schemas.microsoft.com/office/drawing/2014/main" id="{CAF34C88-19F4-5A3F-904E-E4BB54EFA288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58;p2">
                <a:extLst>
                  <a:ext uri="{FF2B5EF4-FFF2-40B4-BE49-F238E27FC236}">
                    <a16:creationId xmlns:a16="http://schemas.microsoft.com/office/drawing/2014/main" id="{C6E13D04-1959-787E-E2E3-EF3F0A7382D9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" name="Google Shape;68;p2">
              <a:extLst>
                <a:ext uri="{FF2B5EF4-FFF2-40B4-BE49-F238E27FC236}">
                  <a16:creationId xmlns:a16="http://schemas.microsoft.com/office/drawing/2014/main" id="{77A0AFEF-9CEC-1345-7D86-F863612B480E}"/>
                </a:ext>
              </a:extLst>
            </p:cNvPr>
            <p:cNvSpPr/>
            <p:nvPr/>
          </p:nvSpPr>
          <p:spPr>
            <a:xfrm>
              <a:off x="966349" y="3476162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研究方法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270CE68A-EE4B-1058-5DEF-747E26FBF936}"/>
              </a:ext>
            </a:extLst>
          </p:cNvPr>
          <p:cNvGrpSpPr/>
          <p:nvPr/>
        </p:nvGrpSpPr>
        <p:grpSpPr>
          <a:xfrm>
            <a:off x="966349" y="4507713"/>
            <a:ext cx="7285338" cy="550196"/>
            <a:chOff x="966349" y="4068137"/>
            <a:chExt cx="7285338" cy="550196"/>
          </a:xfrm>
        </p:grpSpPr>
        <p:grpSp>
          <p:nvGrpSpPr>
            <p:cNvPr id="19" name="Google Shape;56;p2">
              <a:extLst>
                <a:ext uri="{FF2B5EF4-FFF2-40B4-BE49-F238E27FC236}">
                  <a16:creationId xmlns:a16="http://schemas.microsoft.com/office/drawing/2014/main" id="{6C9604AD-0804-F50F-68BE-C4FC8764BED9}"/>
                </a:ext>
              </a:extLst>
            </p:cNvPr>
            <p:cNvGrpSpPr/>
            <p:nvPr/>
          </p:nvGrpSpPr>
          <p:grpSpPr>
            <a:xfrm>
              <a:off x="966349" y="4093315"/>
              <a:ext cx="5209544" cy="525018"/>
              <a:chOff x="1363626" y="1195448"/>
              <a:chExt cx="5209544" cy="525018"/>
            </a:xfrm>
          </p:grpSpPr>
          <p:sp>
            <p:nvSpPr>
              <p:cNvPr id="20" name="Google Shape;57;p2">
                <a:extLst>
                  <a:ext uri="{FF2B5EF4-FFF2-40B4-BE49-F238E27FC236}">
                    <a16:creationId xmlns:a16="http://schemas.microsoft.com/office/drawing/2014/main" id="{110679F9-B8AA-5B19-0E99-11326BD66E72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58;p2">
                <a:extLst>
                  <a:ext uri="{FF2B5EF4-FFF2-40B4-BE49-F238E27FC236}">
                    <a16:creationId xmlns:a16="http://schemas.microsoft.com/office/drawing/2014/main" id="{DA223E69-B477-1B68-EAA2-DFA9D6D01569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68;p2">
              <a:extLst>
                <a:ext uri="{FF2B5EF4-FFF2-40B4-BE49-F238E27FC236}">
                  <a16:creationId xmlns:a16="http://schemas.microsoft.com/office/drawing/2014/main" id="{F761D5D0-7141-AE81-C392-23D8AD8829E1}"/>
                </a:ext>
              </a:extLst>
            </p:cNvPr>
            <p:cNvSpPr/>
            <p:nvPr/>
          </p:nvSpPr>
          <p:spPr>
            <a:xfrm>
              <a:off x="966349" y="4068137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実験と結果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13ABD878-DFB2-6205-FF5D-49881191621D}"/>
              </a:ext>
            </a:extLst>
          </p:cNvPr>
          <p:cNvGrpSpPr/>
          <p:nvPr/>
        </p:nvGrpSpPr>
        <p:grpSpPr>
          <a:xfrm>
            <a:off x="966349" y="1591945"/>
            <a:ext cx="7285338" cy="550196"/>
            <a:chOff x="966349" y="1614374"/>
            <a:chExt cx="7285338" cy="550196"/>
          </a:xfrm>
        </p:grpSpPr>
        <p:grpSp>
          <p:nvGrpSpPr>
            <p:cNvPr id="23" name="Google Shape;56;p2">
              <a:extLst>
                <a:ext uri="{FF2B5EF4-FFF2-40B4-BE49-F238E27FC236}">
                  <a16:creationId xmlns:a16="http://schemas.microsoft.com/office/drawing/2014/main" id="{74C13A1A-09E8-428D-27DA-09C0B3571617}"/>
                </a:ext>
              </a:extLst>
            </p:cNvPr>
            <p:cNvGrpSpPr/>
            <p:nvPr/>
          </p:nvGrpSpPr>
          <p:grpSpPr>
            <a:xfrm>
              <a:off x="966349" y="1639552"/>
              <a:ext cx="5209544" cy="525018"/>
              <a:chOff x="1363626" y="1195448"/>
              <a:chExt cx="5209544" cy="525018"/>
            </a:xfrm>
          </p:grpSpPr>
          <p:sp>
            <p:nvSpPr>
              <p:cNvPr id="24" name="Google Shape;57;p2">
                <a:extLst>
                  <a:ext uri="{FF2B5EF4-FFF2-40B4-BE49-F238E27FC236}">
                    <a16:creationId xmlns:a16="http://schemas.microsoft.com/office/drawing/2014/main" id="{F88788C3-F177-8F1C-E3BD-9B46A058BD7C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58;p2">
                <a:extLst>
                  <a:ext uri="{FF2B5EF4-FFF2-40B4-BE49-F238E27FC236}">
                    <a16:creationId xmlns:a16="http://schemas.microsoft.com/office/drawing/2014/main" id="{E9DAE931-8800-6403-E648-186C4E4E0913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" name="Google Shape;68;p2">
              <a:extLst>
                <a:ext uri="{FF2B5EF4-FFF2-40B4-BE49-F238E27FC236}">
                  <a16:creationId xmlns:a16="http://schemas.microsoft.com/office/drawing/2014/main" id="{E7DAC789-BAB3-37E1-722A-37EAE53CAD85}"/>
                </a:ext>
              </a:extLst>
            </p:cNvPr>
            <p:cNvSpPr/>
            <p:nvPr/>
          </p:nvSpPr>
          <p:spPr>
            <a:xfrm>
              <a:off x="966349" y="1614374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ja-JP" altLang="en-US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研究背景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12;p41">
            <a:extLst>
              <a:ext uri="{FF2B5EF4-FFF2-40B4-BE49-F238E27FC236}">
                <a16:creationId xmlns:a16="http://schemas.microsoft.com/office/drawing/2014/main" id="{65DABD37-B89A-F563-8D6B-40B5EC39E602}"/>
              </a:ext>
            </a:extLst>
          </p:cNvPr>
          <p:cNvSpPr txBox="1"/>
          <p:nvPr/>
        </p:nvSpPr>
        <p:spPr>
          <a:xfrm>
            <a:off x="201975" y="251988"/>
            <a:ext cx="9504000" cy="6712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44000" tIns="324000" rIns="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r>
              <a:rPr lang="en-US" sz="2000" b="1" dirty="0">
                <a:solidFill>
                  <a:srgbClr val="000F78"/>
                </a:solidFill>
              </a:rPr>
              <a:t>00.Index</a:t>
            </a:r>
            <a:endParaRPr sz="2000" b="1" i="0" u="none" strike="noStrike" cap="none" dirty="0">
              <a:solidFill>
                <a:srgbClr val="000F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9DC018A6-938B-EC91-B461-ECC4FC5AB921}"/>
              </a:ext>
            </a:extLst>
          </p:cNvPr>
          <p:cNvGrpSpPr/>
          <p:nvPr/>
        </p:nvGrpSpPr>
        <p:grpSpPr>
          <a:xfrm>
            <a:off x="966349" y="5236654"/>
            <a:ext cx="7285338" cy="550196"/>
            <a:chOff x="966349" y="4068137"/>
            <a:chExt cx="7285338" cy="550196"/>
          </a:xfrm>
        </p:grpSpPr>
        <p:grpSp>
          <p:nvGrpSpPr>
            <p:cNvPr id="36" name="Google Shape;56;p2">
              <a:extLst>
                <a:ext uri="{FF2B5EF4-FFF2-40B4-BE49-F238E27FC236}">
                  <a16:creationId xmlns:a16="http://schemas.microsoft.com/office/drawing/2014/main" id="{5146E329-5D15-89A8-7307-A1210A1C8CF0}"/>
                </a:ext>
              </a:extLst>
            </p:cNvPr>
            <p:cNvGrpSpPr/>
            <p:nvPr/>
          </p:nvGrpSpPr>
          <p:grpSpPr>
            <a:xfrm>
              <a:off x="966349" y="4093315"/>
              <a:ext cx="5209544" cy="525018"/>
              <a:chOff x="1363626" y="1195448"/>
              <a:chExt cx="5209544" cy="525018"/>
            </a:xfrm>
          </p:grpSpPr>
          <p:sp>
            <p:nvSpPr>
              <p:cNvPr id="38" name="Google Shape;57;p2">
                <a:extLst>
                  <a:ext uri="{FF2B5EF4-FFF2-40B4-BE49-F238E27FC236}">
                    <a16:creationId xmlns:a16="http://schemas.microsoft.com/office/drawing/2014/main" id="{E91C60B3-D8A8-F794-9389-307482A4BA26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58;p2">
                <a:extLst>
                  <a:ext uri="{FF2B5EF4-FFF2-40B4-BE49-F238E27FC236}">
                    <a16:creationId xmlns:a16="http://schemas.microsoft.com/office/drawing/2014/main" id="{3F18BB21-9800-9FEB-1845-2556CAE0798D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dirty="0">
                    <a:solidFill>
                      <a:schemeClr val="lt1"/>
                    </a:solidFill>
                  </a:rPr>
                  <a:t>6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68;p2">
              <a:extLst>
                <a:ext uri="{FF2B5EF4-FFF2-40B4-BE49-F238E27FC236}">
                  <a16:creationId xmlns:a16="http://schemas.microsoft.com/office/drawing/2014/main" id="{E5BCE9F3-880C-CC50-7FF6-6717695A2EE5}"/>
                </a:ext>
              </a:extLst>
            </p:cNvPr>
            <p:cNvSpPr/>
            <p:nvPr/>
          </p:nvSpPr>
          <p:spPr>
            <a:xfrm>
              <a:off x="966349" y="4068137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考察と今後の展望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6579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80CC7-C2AC-AC42-A69E-25BFFC79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1400" b="1" dirty="0"/>
              <a:t>01.</a:t>
            </a:r>
            <a:r>
              <a:rPr kumimoji="1" lang="ja-JP" altLang="en-US" sz="1400" b="1" dirty="0"/>
              <a:t>研究背景</a:t>
            </a:r>
            <a:br>
              <a:rPr kumimoji="1" lang="en-US" altLang="ja-JP" b="1" dirty="0"/>
            </a:br>
            <a:r>
              <a:rPr kumimoji="1" lang="en-US" altLang="ja-JP" b="1" dirty="0"/>
              <a:t>1-1.</a:t>
            </a:r>
            <a:r>
              <a:rPr kumimoji="1" lang="ja-JP" altLang="en-US" b="1" dirty="0"/>
              <a:t>位相ノイズとは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E80DAE-6024-3195-D2D4-EA3A5C54B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524" y="906114"/>
            <a:ext cx="9127246" cy="2428807"/>
          </a:xfrm>
        </p:spPr>
        <p:txBody>
          <a:bodyPr/>
          <a:lstStyle/>
          <a:p>
            <a:r>
              <a:rPr kumimoji="1" lang="ja-JP" altLang="en-US" sz="2000" dirty="0">
                <a:solidFill>
                  <a:schemeClr val="tx1"/>
                </a:solidFill>
              </a:rPr>
              <a:t>位相ノイズ</a:t>
            </a:r>
            <a:r>
              <a:rPr kumimoji="1" lang="en-US" altLang="ja-JP" sz="2000" dirty="0">
                <a:solidFill>
                  <a:schemeClr val="tx1"/>
                </a:solidFill>
              </a:rPr>
              <a:t>(</a:t>
            </a:r>
            <a:r>
              <a:rPr kumimoji="1" lang="ja-JP" altLang="en-US" sz="2000" dirty="0">
                <a:solidFill>
                  <a:schemeClr val="tx1"/>
                </a:solidFill>
              </a:rPr>
              <a:t>ジッ</a:t>
            </a:r>
            <a:r>
              <a:rPr kumimoji="1" lang="ja-JP" altLang="en-US" sz="2000" dirty="0"/>
              <a:t>タ</a:t>
            </a:r>
            <a:r>
              <a:rPr kumimoji="1" lang="en-US" altLang="ja-JP" sz="2000" dirty="0"/>
              <a:t>)</a:t>
            </a:r>
            <a:r>
              <a:rPr kumimoji="1" lang="ja-JP" altLang="en-US" sz="2000" dirty="0">
                <a:solidFill>
                  <a:schemeClr val="tx1"/>
                </a:solidFill>
              </a:rPr>
              <a:t>とは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lvl="1"/>
            <a:r>
              <a:rPr kumimoji="1" lang="ja-JP" altLang="en-US" sz="2000" dirty="0">
                <a:solidFill>
                  <a:schemeClr val="tx1"/>
                </a:solidFill>
              </a:rPr>
              <a:t>時間軸上の誤差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lvl="1"/>
            <a:r>
              <a:rPr kumimoji="1" lang="ja-JP" altLang="en-US" sz="2000" dirty="0">
                <a:solidFill>
                  <a:schemeClr val="tx1"/>
                </a:solidFill>
              </a:rPr>
              <a:t>理想的な波</a:t>
            </a:r>
            <a:r>
              <a:rPr kumimoji="1" lang="en-US" altLang="ja-JP" sz="2000" dirty="0">
                <a:solidFill>
                  <a:schemeClr val="tx1"/>
                </a:solidFill>
              </a:rPr>
              <a:t>cos(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ωt</a:t>
            </a:r>
            <a:r>
              <a:rPr kumimoji="1" lang="en-US" altLang="ja-JP" sz="2000" dirty="0">
                <a:solidFill>
                  <a:schemeClr val="tx1"/>
                </a:solidFill>
              </a:rPr>
              <a:t>)</a:t>
            </a:r>
            <a:r>
              <a:rPr kumimoji="1" lang="ja-JP" altLang="en-US" sz="2000" dirty="0">
                <a:solidFill>
                  <a:schemeClr val="tx1"/>
                </a:solidFill>
              </a:rPr>
              <a:t>に対して、</a:t>
            </a:r>
            <a:r>
              <a:rPr kumimoji="1" lang="en-US" altLang="ja-JP" sz="2000" dirty="0">
                <a:solidFill>
                  <a:schemeClr val="tx1"/>
                </a:solidFill>
              </a:rPr>
              <a:t>cos[(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ω</a:t>
            </a:r>
            <a:r>
              <a:rPr kumimoji="1" lang="en-US" altLang="ja-JP" sz="2000" dirty="0">
                <a:solidFill>
                  <a:schemeClr val="tx1"/>
                </a:solidFill>
              </a:rPr>
              <a:t>(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t+j</a:t>
            </a:r>
            <a:r>
              <a:rPr kumimoji="1" lang="en-US" altLang="ja-JP" sz="2000" dirty="0">
                <a:solidFill>
                  <a:schemeClr val="tx1"/>
                </a:solidFill>
              </a:rPr>
              <a:t>(t))]</a:t>
            </a:r>
            <a:r>
              <a:rPr kumimoji="1" lang="ja-JP" altLang="en-US" sz="2000" dirty="0">
                <a:solidFill>
                  <a:schemeClr val="tx1"/>
                </a:solidFill>
              </a:rPr>
              <a:t>となるときの</a:t>
            </a:r>
            <a:r>
              <a:rPr kumimoji="1" lang="en-US" altLang="ja-JP" sz="2000" dirty="0">
                <a:solidFill>
                  <a:schemeClr val="tx1"/>
                </a:solidFill>
              </a:rPr>
              <a:t>j(t)</a:t>
            </a:r>
            <a:r>
              <a:rPr kumimoji="1" lang="ja-JP" altLang="en-US" sz="2000" dirty="0">
                <a:solidFill>
                  <a:schemeClr val="tx1"/>
                </a:solidFill>
              </a:rPr>
              <a:t>に相当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marL="592900" lvl="1" indent="0">
              <a:buNone/>
            </a:pPr>
            <a:endParaRPr kumimoji="1" lang="en-US" altLang="ja-JP" sz="2000" dirty="0">
              <a:solidFill>
                <a:schemeClr val="tx1"/>
              </a:solidFill>
            </a:endParaRPr>
          </a:p>
          <a:p>
            <a:r>
              <a:rPr kumimoji="1" lang="ja-JP" altLang="en-US" sz="2000" dirty="0">
                <a:solidFill>
                  <a:schemeClr val="tx1"/>
                </a:solidFill>
              </a:rPr>
              <a:t>位相ノイズ</a:t>
            </a:r>
            <a:r>
              <a:rPr kumimoji="1" lang="en-US" altLang="ja-JP" sz="2000" dirty="0">
                <a:solidFill>
                  <a:schemeClr val="tx1"/>
                </a:solidFill>
              </a:rPr>
              <a:t>(</a:t>
            </a:r>
            <a:r>
              <a:rPr kumimoji="1" lang="ja-JP" altLang="en-US" sz="2000" dirty="0">
                <a:solidFill>
                  <a:schemeClr val="tx1"/>
                </a:solidFill>
              </a:rPr>
              <a:t>ジッ</a:t>
            </a:r>
            <a:r>
              <a:rPr kumimoji="1" lang="ja-JP" altLang="en-US" sz="2000" dirty="0"/>
              <a:t>タ</a:t>
            </a:r>
            <a:r>
              <a:rPr kumimoji="1" lang="en-US" altLang="ja-JP" sz="2000" dirty="0"/>
              <a:t>)</a:t>
            </a:r>
            <a:r>
              <a:rPr kumimoji="1" lang="ja-JP" altLang="en-US" sz="2000" dirty="0">
                <a:solidFill>
                  <a:schemeClr val="tx1"/>
                </a:solidFill>
              </a:rPr>
              <a:t>の表現方法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lvl="1"/>
            <a:r>
              <a:rPr kumimoji="1" lang="en-US" altLang="ja-JP" sz="1663" dirty="0">
                <a:solidFill>
                  <a:schemeClr val="tx1"/>
                </a:solidFill>
              </a:rPr>
              <a:t>j(t)</a:t>
            </a:r>
            <a:r>
              <a:rPr kumimoji="1" lang="ja-JP" altLang="en-US" sz="1663" dirty="0">
                <a:solidFill>
                  <a:schemeClr val="tx1"/>
                </a:solidFill>
              </a:rPr>
              <a:t>では表現しづらいため、一般的には周波数ドメイン</a:t>
            </a:r>
            <a:r>
              <a:rPr kumimoji="1" lang="en-US" altLang="ja-JP" sz="1663" dirty="0">
                <a:solidFill>
                  <a:schemeClr val="tx1"/>
                </a:solidFill>
              </a:rPr>
              <a:t>L(f)</a:t>
            </a:r>
            <a:r>
              <a:rPr kumimoji="1" lang="ja-JP" altLang="en-US" sz="1663" dirty="0">
                <a:solidFill>
                  <a:schemeClr val="tx1"/>
                </a:solidFill>
              </a:rPr>
              <a:t>：パワースペクトル密度で表現する</a:t>
            </a:r>
            <a:endParaRPr kumimoji="1" lang="en-US" altLang="ja-JP" sz="1663" dirty="0">
              <a:solidFill>
                <a:schemeClr val="tx1"/>
              </a:solidFill>
            </a:endParaRPr>
          </a:p>
          <a:p>
            <a:pPr lvl="1"/>
            <a:endParaRPr kumimoji="1" lang="ja-JP" altLang="en-US" sz="1663" dirty="0">
              <a:solidFill>
                <a:schemeClr val="tx1"/>
              </a:solidFill>
            </a:endParaRPr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07325878-10B4-AE98-C9B2-C2C361BF47E5}"/>
              </a:ext>
            </a:extLst>
          </p:cNvPr>
          <p:cNvGrpSpPr/>
          <p:nvPr/>
        </p:nvGrpSpPr>
        <p:grpSpPr>
          <a:xfrm>
            <a:off x="151265" y="2905001"/>
            <a:ext cx="8874033" cy="4097608"/>
            <a:chOff x="3985203" y="2194990"/>
            <a:chExt cx="9716719" cy="4407017"/>
          </a:xfrm>
        </p:grpSpPr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A87CA80D-A93E-9252-315C-1700819B5C47}"/>
                </a:ext>
              </a:extLst>
            </p:cNvPr>
            <p:cNvCxnSpPr>
              <a:cxnSpLocks/>
            </p:cNvCxnSpPr>
            <p:nvPr/>
          </p:nvCxnSpPr>
          <p:spPr>
            <a:xfrm>
              <a:off x="4352494" y="5983207"/>
              <a:ext cx="486850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円弧 7">
              <a:extLst>
                <a:ext uri="{FF2B5EF4-FFF2-40B4-BE49-F238E27FC236}">
                  <a16:creationId xmlns:a16="http://schemas.microsoft.com/office/drawing/2014/main" id="{01FC4031-D613-075B-3841-A334562CCCDA}"/>
                </a:ext>
              </a:extLst>
            </p:cNvPr>
            <p:cNvSpPr/>
            <p:nvPr/>
          </p:nvSpPr>
          <p:spPr>
            <a:xfrm>
              <a:off x="4811601" y="2194990"/>
              <a:ext cx="8890321" cy="3669790"/>
            </a:xfrm>
            <a:prstGeom prst="arc">
              <a:avLst>
                <a:gd name="adj1" fmla="val 5542347"/>
                <a:gd name="adj2" fmla="val 10819371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126F5EA9-F751-8131-059D-7FAC257771F2}"/>
                </a:ext>
              </a:extLst>
            </p:cNvPr>
            <p:cNvSpPr txBox="1"/>
            <p:nvPr/>
          </p:nvSpPr>
          <p:spPr>
            <a:xfrm>
              <a:off x="3985203" y="6270990"/>
              <a:ext cx="1840676" cy="331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3BA5A30-61DE-78DC-B0E6-C852F6186F6B}"/>
                </a:ext>
              </a:extLst>
            </p:cNvPr>
            <p:cNvCxnSpPr>
              <a:cxnSpLocks/>
            </p:cNvCxnSpPr>
            <p:nvPr/>
          </p:nvCxnSpPr>
          <p:spPr>
            <a:xfrm>
              <a:off x="5437676" y="4948132"/>
              <a:ext cx="0" cy="10350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F3D42A21-E820-0CB2-DC28-98D43D99AA4A}"/>
                </a:ext>
              </a:extLst>
            </p:cNvPr>
            <p:cNvCxnSpPr>
              <a:cxnSpLocks/>
            </p:cNvCxnSpPr>
            <p:nvPr/>
          </p:nvCxnSpPr>
          <p:spPr>
            <a:xfrm>
              <a:off x="6599479" y="5506902"/>
              <a:ext cx="0" cy="4763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5478CD42-AEE4-D8DC-47D7-31DC988AAE8B}"/>
                </a:ext>
              </a:extLst>
            </p:cNvPr>
            <p:cNvSpPr txBox="1"/>
            <p:nvPr/>
          </p:nvSpPr>
          <p:spPr>
            <a:xfrm>
              <a:off x="8077343" y="6001760"/>
              <a:ext cx="14183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Offset</a:t>
              </a:r>
              <a:r>
                <a:rPr kumimoji="1" lang="ja-JP" altLang="en-US"/>
                <a:t>周波数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4C93D636-95A6-7751-33E6-ED856E456386}"/>
                </a:ext>
              </a:extLst>
            </p:cNvPr>
            <p:cNvSpPr txBox="1"/>
            <p:nvPr/>
          </p:nvSpPr>
          <p:spPr>
            <a:xfrm>
              <a:off x="5039712" y="5986381"/>
              <a:ext cx="801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f1</a:t>
              </a:r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9E090944-7D41-859F-A440-D62C5EE93056}"/>
                </a:ext>
              </a:extLst>
            </p:cNvPr>
            <p:cNvSpPr txBox="1"/>
            <p:nvPr/>
          </p:nvSpPr>
          <p:spPr>
            <a:xfrm>
              <a:off x="6197595" y="5988636"/>
              <a:ext cx="801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f2</a:t>
              </a:r>
              <a:endParaRPr kumimoji="1" lang="ja-JP" altLang="en-US"/>
            </a:p>
          </p:txBody>
        </p: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53B8278C-4A35-4C41-EFA9-72EF926E504E}"/>
                </a:ext>
              </a:extLst>
            </p:cNvPr>
            <p:cNvCxnSpPr>
              <a:cxnSpLocks/>
            </p:cNvCxnSpPr>
            <p:nvPr/>
          </p:nvCxnSpPr>
          <p:spPr>
            <a:xfrm>
              <a:off x="4777147" y="5405530"/>
              <a:ext cx="66052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5183B514-577F-87A9-ACB0-3F7B38449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7775" y="5044849"/>
              <a:ext cx="903372" cy="4518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8580A410-4EF3-729A-0557-0B85C2D17955}"/>
                </a:ext>
              </a:extLst>
            </p:cNvPr>
            <p:cNvCxnSpPr>
              <a:cxnSpLocks/>
            </p:cNvCxnSpPr>
            <p:nvPr/>
          </p:nvCxnSpPr>
          <p:spPr>
            <a:xfrm>
              <a:off x="4777147" y="5781315"/>
              <a:ext cx="182120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29E27914-B388-4161-65A9-A7BFCDFE4D56}"/>
                </a:ext>
              </a:extLst>
            </p:cNvPr>
            <p:cNvCxnSpPr/>
            <p:nvPr/>
          </p:nvCxnSpPr>
          <p:spPr>
            <a:xfrm flipV="1">
              <a:off x="4777147" y="3632200"/>
              <a:ext cx="0" cy="26151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6EB72B0E-690E-3433-5339-14EA1CE4F3BB}"/>
                </a:ext>
              </a:extLst>
            </p:cNvPr>
            <p:cNvSpPr txBox="1"/>
            <p:nvPr/>
          </p:nvSpPr>
          <p:spPr>
            <a:xfrm>
              <a:off x="4837056" y="3478311"/>
              <a:ext cx="86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L(f) </a:t>
              </a:r>
              <a:r>
                <a:rPr kumimoji="1" lang="en-US" altLang="ja-JP" dirty="0" err="1"/>
                <a:t>dBc</a:t>
              </a:r>
              <a:r>
                <a:rPr kumimoji="1" lang="en-US" altLang="ja-JP" dirty="0"/>
                <a:t>/Hz</a:t>
              </a:r>
              <a:endParaRPr kumimoji="1" lang="ja-JP" altLang="en-US"/>
            </a:p>
          </p:txBody>
        </p:sp>
      </p:grpSp>
      <p:pic>
        <p:nvPicPr>
          <p:cNvPr id="62" name="図 61">
            <a:extLst>
              <a:ext uri="{FF2B5EF4-FFF2-40B4-BE49-F238E27FC236}">
                <a16:creationId xmlns:a16="http://schemas.microsoft.com/office/drawing/2014/main" id="{916ED799-CAF8-F4B3-828F-59176BCF7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620" y="3904365"/>
            <a:ext cx="4278405" cy="220168"/>
          </a:xfrm>
          <a:prstGeom prst="rect">
            <a:avLst/>
          </a:prstGeom>
        </p:spPr>
      </p:pic>
      <p:pic>
        <p:nvPicPr>
          <p:cNvPr id="63" name="図 62">
            <a:extLst>
              <a:ext uri="{FF2B5EF4-FFF2-40B4-BE49-F238E27FC236}">
                <a16:creationId xmlns:a16="http://schemas.microsoft.com/office/drawing/2014/main" id="{86061A11-EC5A-FDCC-D25A-4038E87F2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530" y="4151219"/>
            <a:ext cx="1814277" cy="41440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79100334-29CB-0FFD-DBA3-CE530FD52C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530" y="4571147"/>
            <a:ext cx="3531164" cy="449620"/>
          </a:xfrm>
          <a:prstGeom prst="rect">
            <a:avLst/>
          </a:prstGeom>
        </p:spPr>
      </p:pic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4AC923F3-F872-D659-BA62-7C910AEBF082}"/>
              </a:ext>
            </a:extLst>
          </p:cNvPr>
          <p:cNvSpPr txBox="1"/>
          <p:nvPr/>
        </p:nvSpPr>
        <p:spPr>
          <a:xfrm>
            <a:off x="5181393" y="5186614"/>
            <a:ext cx="4536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Offeset</a:t>
            </a:r>
            <a:r>
              <a:rPr kumimoji="1" lang="ja-JP" altLang="en-US"/>
              <a:t>周波数が</a:t>
            </a:r>
            <a:r>
              <a:rPr kumimoji="1" lang="en-US" altLang="ja-JP" dirty="0"/>
              <a:t>f1~f2</a:t>
            </a:r>
            <a:r>
              <a:rPr kumimoji="1" lang="ja-JP" altLang="en-US"/>
              <a:t>の区間の位相ノイズ</a:t>
            </a:r>
            <a:r>
              <a:rPr kumimoji="1" lang="en-US" altLang="ja-JP" dirty="0"/>
              <a:t>(</a:t>
            </a:r>
            <a:r>
              <a:rPr kumimoji="1" lang="ja-JP" altLang="en-US"/>
              <a:t>ジッタ</a:t>
            </a:r>
            <a:r>
              <a:rPr kumimoji="1" lang="en-US" altLang="ja-JP" dirty="0"/>
              <a:t>)</a:t>
            </a:r>
            <a:r>
              <a:rPr kumimoji="1" lang="ja-JP" altLang="en-US"/>
              <a:t>の</a:t>
            </a:r>
            <a:r>
              <a:rPr kumimoji="1" lang="en-US" altLang="ja-JP" dirty="0"/>
              <a:t>RMS</a:t>
            </a:r>
            <a:r>
              <a:rPr kumimoji="1" lang="ja-JP" altLang="en-US"/>
              <a:t>は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F735FEB5-A6C1-E808-6317-94EF27DFF27B}"/>
              </a:ext>
            </a:extLst>
          </p:cNvPr>
          <p:cNvSpPr txBox="1"/>
          <p:nvPr/>
        </p:nvSpPr>
        <p:spPr>
          <a:xfrm>
            <a:off x="5167651" y="3523080"/>
            <a:ext cx="4536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位相ノイズが存在する信号に対して</a:t>
            </a:r>
          </a:p>
        </p:txBody>
      </p: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4966CD35-22E0-3AA2-E340-750964D9B5FA}"/>
              </a:ext>
            </a:extLst>
          </p:cNvPr>
          <p:cNvGrpSpPr/>
          <p:nvPr/>
        </p:nvGrpSpPr>
        <p:grpSpPr>
          <a:xfrm>
            <a:off x="5620477" y="5758114"/>
            <a:ext cx="3919641" cy="868917"/>
            <a:chOff x="5669798" y="5316066"/>
            <a:chExt cx="3919641" cy="868917"/>
          </a:xfrm>
        </p:grpSpPr>
        <p:pic>
          <p:nvPicPr>
            <p:cNvPr id="66" name="図 65">
              <a:extLst>
                <a:ext uri="{FF2B5EF4-FFF2-40B4-BE49-F238E27FC236}">
                  <a16:creationId xmlns:a16="http://schemas.microsoft.com/office/drawing/2014/main" id="{299064D2-5B71-6CAE-8C8C-3423B95B4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4814" y="5405783"/>
              <a:ext cx="3608918" cy="689483"/>
            </a:xfrm>
            <a:prstGeom prst="rect">
              <a:avLst/>
            </a:prstGeom>
          </p:spPr>
        </p:pic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B2BA677E-F75E-C29F-40AE-9511BE7542A9}"/>
                </a:ext>
              </a:extLst>
            </p:cNvPr>
            <p:cNvSpPr/>
            <p:nvPr/>
          </p:nvSpPr>
          <p:spPr>
            <a:xfrm>
              <a:off x="5669798" y="5316066"/>
              <a:ext cx="3919641" cy="8689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CA2EF888-AF51-42BD-DD14-33F5E4212068}"/>
              </a:ext>
            </a:extLst>
          </p:cNvPr>
          <p:cNvSpPr txBox="1"/>
          <p:nvPr/>
        </p:nvSpPr>
        <p:spPr>
          <a:xfrm>
            <a:off x="2851026" y="5095518"/>
            <a:ext cx="16615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この面積が</a:t>
            </a:r>
            <a:endParaRPr kumimoji="1" lang="en-US" altLang="ja-JP" dirty="0"/>
          </a:p>
          <a:p>
            <a:r>
              <a:rPr kumimoji="1" lang="en-US" altLang="ja-JP" dirty="0"/>
              <a:t>f1~f2(Hz)</a:t>
            </a:r>
            <a:r>
              <a:rPr kumimoji="1" lang="ja-JP" altLang="en-US"/>
              <a:t>における位相ノイズの</a:t>
            </a:r>
            <a:r>
              <a:rPr kumimoji="1" lang="en-US" altLang="ja-JP" dirty="0"/>
              <a:t>RMS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C195C08-8BEE-1A31-ED96-7CE559B150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826" y="3485080"/>
            <a:ext cx="4282985" cy="46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6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Yu Gothic"/>
                <a:ea typeface="Yu Gothic"/>
              </a:rPr>
              <a:t>01. </a:t>
            </a:r>
            <a:r>
              <a:rPr sz="1400" b="1" dirty="0" err="1">
                <a:solidFill>
                  <a:srgbClr val="000F78"/>
                </a:solidFill>
                <a:latin typeface="Yu Gothic"/>
                <a:ea typeface="Yu Gothic"/>
              </a:rPr>
              <a:t>研究背景</a:t>
            </a:r>
            <a:endParaRPr sz="1400" b="1" dirty="0">
              <a:solidFill>
                <a:srgbClr val="000F78"/>
              </a:solidFill>
              <a:latin typeface="Yu Gothic"/>
              <a:ea typeface="Yu Gothic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Yu Gothic"/>
                <a:ea typeface="Yu Gothic"/>
              </a:rPr>
              <a:t>1-2. </a:t>
            </a:r>
            <a:r>
              <a:rPr b="1" dirty="0" err="1">
                <a:solidFill>
                  <a:srgbClr val="000F78"/>
                </a:solidFill>
                <a:latin typeface="Yu Gothic"/>
                <a:ea typeface="Yu Gothic"/>
              </a:rPr>
              <a:t>基準信号の純度と現状</a:t>
            </a:r>
            <a:endParaRPr b="1" dirty="0">
              <a:solidFill>
                <a:srgbClr val="000F78"/>
              </a:solidFill>
              <a:latin typeface="Yu Gothic"/>
              <a:ea typeface="Yu Gothic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55" y="2214879"/>
            <a:ext cx="7486593" cy="4121040"/>
          </a:xfrm>
          <a:prstGeom prst="rect">
            <a:avLst/>
          </a:prstGeom>
        </p:spPr>
      </p:pic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D6397270-59F0-9E44-6A0E-6658F3D67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525" y="906114"/>
            <a:ext cx="9590875" cy="969263"/>
          </a:xfrm>
        </p:spPr>
        <p:txBody>
          <a:bodyPr/>
          <a:lstStyle/>
          <a:p>
            <a:r>
              <a:rPr lang="ja-JP" altLang="en-US" b="1" dirty="0">
                <a:solidFill>
                  <a:srgbClr val="1B2A5A"/>
                </a:solidFill>
                <a:latin typeface="Yu Gothic"/>
                <a:ea typeface="Yu Gothic"/>
              </a:rPr>
              <a:t>通信・測位・計測は基準正弦波の位相雑音に支えられる。原子時計・水素メーザーは高純度だが高価で日単位の計測が必要、</a:t>
            </a:r>
            <a:r>
              <a:rPr lang="en-US" altLang="ja-JP" b="1" dirty="0">
                <a:solidFill>
                  <a:srgbClr val="1B2A5A"/>
                </a:solidFill>
                <a:latin typeface="Yu Gothic"/>
                <a:ea typeface="Yu Gothic"/>
              </a:rPr>
              <a:t>OCXO</a:t>
            </a:r>
            <a:r>
              <a:rPr lang="ja-JP" altLang="en-US" b="1" dirty="0">
                <a:solidFill>
                  <a:srgbClr val="1B2A5A"/>
                </a:solidFill>
                <a:latin typeface="Yu Gothic"/>
                <a:ea typeface="Yu Gothic"/>
              </a:rPr>
              <a:t>は安価で数秒</a:t>
            </a:r>
            <a:r>
              <a:rPr lang="en-US" altLang="ja-JP" b="1" dirty="0">
                <a:solidFill>
                  <a:srgbClr val="1B2A5A"/>
                </a:solidFill>
                <a:latin typeface="Yu Gothic"/>
                <a:ea typeface="Yu Gothic"/>
              </a:rPr>
              <a:t>〜</a:t>
            </a:r>
            <a:r>
              <a:rPr lang="ja-JP" altLang="en-US" b="1" dirty="0">
                <a:solidFill>
                  <a:srgbClr val="1B2A5A"/>
                </a:solidFill>
                <a:latin typeface="Yu Gothic"/>
                <a:ea typeface="Yu Gothic"/>
              </a:rPr>
              <a:t>数分の安定に優れるが単体に限界。</a:t>
            </a:r>
            <a:endParaRPr lang="ja-JP" altLang="en-US" dirty="0">
              <a:latin typeface="Yu Gothic"/>
              <a:ea typeface="Yu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05A1-D6BB-2DAB-DE08-627802D5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06395-12C2-0397-1CB8-37989F6EA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Yu Gothic"/>
                <a:ea typeface="Yu Gothic"/>
              </a:rPr>
              <a:t>01. </a:t>
            </a:r>
            <a:r>
              <a:rPr sz="1400" b="1" dirty="0" err="1">
                <a:solidFill>
                  <a:srgbClr val="000F78"/>
                </a:solidFill>
                <a:latin typeface="Yu Gothic"/>
                <a:ea typeface="Yu Gothic"/>
              </a:rPr>
              <a:t>研究背景</a:t>
            </a:r>
            <a:endParaRPr sz="1400" b="1" dirty="0">
              <a:solidFill>
                <a:srgbClr val="000F78"/>
              </a:solidFill>
              <a:latin typeface="Yu Gothic"/>
              <a:ea typeface="Yu Gothic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Yu Gothic"/>
                <a:ea typeface="Yu Gothic"/>
              </a:rPr>
              <a:t>1-2. </a:t>
            </a:r>
            <a:r>
              <a:rPr b="1" dirty="0" err="1">
                <a:solidFill>
                  <a:srgbClr val="000F78"/>
                </a:solidFill>
                <a:latin typeface="Yu Gothic"/>
                <a:ea typeface="Yu Gothic"/>
              </a:rPr>
              <a:t>基準信号の純度と現状</a:t>
            </a:r>
            <a:endParaRPr b="1" dirty="0">
              <a:solidFill>
                <a:srgbClr val="000F78"/>
              </a:solidFill>
              <a:latin typeface="Yu Gothic"/>
              <a:ea typeface="Yu Gothic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5884907-F411-83B8-7674-B4A9EDA18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55" y="2214879"/>
            <a:ext cx="7486593" cy="4121040"/>
          </a:xfrm>
          <a:prstGeom prst="rect">
            <a:avLst/>
          </a:prstGeom>
        </p:spPr>
      </p:pic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35C4104F-D17D-7399-C8EA-A70DA215C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525" y="906114"/>
            <a:ext cx="9590875" cy="969263"/>
          </a:xfrm>
        </p:spPr>
        <p:txBody>
          <a:bodyPr/>
          <a:lstStyle/>
          <a:p>
            <a:r>
              <a:rPr lang="ja-JP" altLang="en-US" b="1" dirty="0">
                <a:solidFill>
                  <a:srgbClr val="1B2A5A"/>
                </a:solidFill>
                <a:latin typeface="Yu Gothic"/>
                <a:ea typeface="Yu Gothic"/>
              </a:rPr>
              <a:t>通信・測位・計測は基準正弦波の位相雑音に支えられる。原子時計・水素メーザーは高純度だが高価で日単位の計測が必要、</a:t>
            </a:r>
            <a:r>
              <a:rPr lang="en-US" altLang="ja-JP" b="1" dirty="0">
                <a:solidFill>
                  <a:srgbClr val="1B2A5A"/>
                </a:solidFill>
                <a:latin typeface="Yu Gothic"/>
                <a:ea typeface="Yu Gothic"/>
              </a:rPr>
              <a:t>OCXO</a:t>
            </a:r>
            <a:r>
              <a:rPr lang="ja-JP" altLang="en-US" b="1" dirty="0">
                <a:solidFill>
                  <a:srgbClr val="1B2A5A"/>
                </a:solidFill>
                <a:latin typeface="Yu Gothic"/>
                <a:ea typeface="Yu Gothic"/>
              </a:rPr>
              <a:t>は安価で数秒</a:t>
            </a:r>
            <a:r>
              <a:rPr lang="en-US" altLang="ja-JP" b="1" dirty="0">
                <a:solidFill>
                  <a:srgbClr val="1B2A5A"/>
                </a:solidFill>
                <a:latin typeface="Yu Gothic"/>
                <a:ea typeface="Yu Gothic"/>
              </a:rPr>
              <a:t>〜</a:t>
            </a:r>
            <a:r>
              <a:rPr lang="ja-JP" altLang="en-US" b="1" dirty="0">
                <a:solidFill>
                  <a:srgbClr val="1B2A5A"/>
                </a:solidFill>
                <a:latin typeface="Yu Gothic"/>
                <a:ea typeface="Yu Gothic"/>
              </a:rPr>
              <a:t>数分の安定に優れるが単体に限界。</a:t>
            </a:r>
            <a:endParaRPr lang="ja-JP" altLang="en-US" dirty="0">
              <a:latin typeface="Yu Gothic"/>
              <a:ea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8267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Yu Gothic"/>
                <a:ea typeface="Yu Gothic"/>
              </a:rPr>
              <a:t>02. 本研究の目標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2212848"/>
            <a:ext cx="4526280" cy="4297680"/>
          </a:xfrm>
        </p:spPr>
        <p:txBody>
          <a:bodyPr wrap="square"/>
          <a:lstStyle/>
          <a:p>
            <a:r>
              <a:rPr lang="ja-JP" altLang="en-US" dirty="0">
                <a:latin typeface="Yu Gothic"/>
                <a:ea typeface="Yu Gothic"/>
              </a:rPr>
              <a:t>究極的な目標：安価な水晶発振器（</a:t>
            </a:r>
            <a:r>
              <a:rPr lang="en-US" altLang="ja-JP" dirty="0">
                <a:latin typeface="Yu Gothic"/>
                <a:ea typeface="Yu Gothic"/>
              </a:rPr>
              <a:t>OCXO</a:t>
            </a:r>
            <a:r>
              <a:rPr lang="ja-JP" altLang="en-US" dirty="0">
                <a:latin typeface="Yu Gothic"/>
                <a:ea typeface="Yu Gothic"/>
              </a:rPr>
              <a:t>）で高純度な基準信号源を実現</a:t>
            </a:r>
          </a:p>
          <a:p>
            <a:r>
              <a:rPr lang="ja-JP" altLang="en-US" dirty="0">
                <a:latin typeface="Yu Gothic"/>
                <a:ea typeface="Yu Gothic"/>
              </a:rPr>
              <a:t>アプローチ：複数</a:t>
            </a:r>
            <a:r>
              <a:rPr lang="en-US" altLang="ja-JP" dirty="0">
                <a:latin typeface="Yu Gothic"/>
                <a:ea typeface="Yu Gothic"/>
              </a:rPr>
              <a:t>OCXO</a:t>
            </a:r>
            <a:r>
              <a:rPr lang="ja-JP" altLang="en-US" dirty="0">
                <a:latin typeface="Yu Gothic"/>
                <a:ea typeface="Yu Gothic"/>
              </a:rPr>
              <a:t>を同期させ、</a:t>
            </a:r>
            <a:r>
              <a:rPr lang="en-US" altLang="ja-JP" dirty="0">
                <a:latin typeface="Yu Gothic"/>
                <a:ea typeface="Yu Gothic"/>
              </a:rPr>
              <a:t>1</a:t>
            </a:r>
            <a:r>
              <a:rPr lang="ja-JP" altLang="en-US" dirty="0">
                <a:latin typeface="Yu Gothic"/>
                <a:ea typeface="Yu Gothic"/>
              </a:rPr>
              <a:t>台では実現できない純度での計測を可能にする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35024"/>
            <a:ext cx="9354312" cy="731520"/>
          </a:xfrm>
          <a:prstGeom prst="roundRect">
            <a:avLst>
              <a:gd name="adj" fmla="val 8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rIns="127000" bIns="25400" rtlCol="0" anchor="ctr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00" b="1">
                <a:solidFill>
                  <a:srgbClr val="1B2A5A"/>
                </a:solidFill>
                <a:latin typeface="Yu Gothic"/>
                <a:ea typeface="Yu Gothic"/>
              </a:rPr>
              <a:t>安価なOCXOで可能な限り高純度な基準信号源を実現することを目標とする。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796677"/>
            <a:ext cx="4526280" cy="26362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F78"/>
                </a:solidFill>
                <a:latin typeface="Yu Gothic"/>
                <a:ea typeface="Yu Gothic"/>
              </a:rPr>
              <a:t>03. 先行研究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Yu Gothic"/>
                <a:ea typeface="Yu Gothic"/>
              </a:rPr>
              <a:t>3-1. 同期・平均による位相雑音の改善（1/N の原理）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2212848"/>
            <a:ext cx="4526280" cy="42976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無相関な雑音は平均すると電力が台数分の1（2台で 1/2）になり、近傍位相雑音が −3 dB 改善する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35024"/>
            <a:ext cx="9354312" cy="731520"/>
          </a:xfrm>
          <a:prstGeom prst="roundRect">
            <a:avLst>
              <a:gd name="adj" fmla="val 8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rIns="127000" bIns="25400" rtlCol="0" anchor="ctr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00" b="1">
                <a:solidFill>
                  <a:srgbClr val="1B2A5A"/>
                </a:solidFill>
                <a:latin typeface="Yu Gothic"/>
                <a:ea typeface="Yu Gothic"/>
              </a:rPr>
              <a:t>互いに無相関な雑音は平均で打ち消し合うため、位相を揃えた複数OCXOの出力を平均すると単体を超える純度になる。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333" y="2286000"/>
            <a:ext cx="4161453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F78"/>
                </a:solidFill>
                <a:latin typeface="Yu Gothic"/>
                <a:ea typeface="Yu Gothic"/>
              </a:rPr>
              <a:t>04. 研究方法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Yu Gothic"/>
                <a:ea typeface="Yu Gothic"/>
              </a:rPr>
              <a:t>4-1. アプローチ：能動的に同期して平均する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2212848"/>
            <a:ext cx="4526280" cy="42976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平均には各発振器の位相が揃うことが前提</a:t>
            </a:r>
          </a:p>
          <a:p>
            <a:r>
              <a:rPr>
                <a:latin typeface="Yu Gothic"/>
                <a:ea typeface="Yu Gothic"/>
              </a:rPr>
              <a:t>本研究の方式：能動的フィードバックで実時間同期し、出力を平均する</a:t>
            </a:r>
          </a:p>
          <a:p>
            <a:r>
              <a:rPr>
                <a:latin typeface="Yu Gothic"/>
                <a:ea typeface="Yu Gothic"/>
              </a:rPr>
              <a:t>同期を『雑音を加えずに』行うことが中核課題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35024"/>
            <a:ext cx="9354312" cy="731520"/>
          </a:xfrm>
          <a:prstGeom prst="roundRect">
            <a:avLst>
              <a:gd name="adj" fmla="val 8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rIns="127000" bIns="25400" rtlCol="0" anchor="ctr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00" b="1">
                <a:solidFill>
                  <a:srgbClr val="1B2A5A"/>
                </a:solidFill>
                <a:latin typeface="Yu Gothic"/>
                <a:ea typeface="Yu Gothic"/>
              </a:rPr>
              <a:t>互いに無相関な雑音は平均で打ち消し合う。位相を揃えた複数OCXOの出力を能動的フィードバックで実時間に同期・平均し、単体を超える純度を実現する（国際原子時のクロックアンサンブルを小規模・実時間で適用）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968671"/>
            <a:ext cx="4526280" cy="22922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F78"/>
                </a:solidFill>
                <a:latin typeface="Yu Gothic"/>
                <a:ea typeface="Yu Gothic"/>
              </a:rPr>
              <a:t>04. 研究方法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Yu Gothic"/>
                <a:ea typeface="Yu Gothic"/>
              </a:rPr>
              <a:t>4-2. 実験系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2212848"/>
            <a:ext cx="4526280" cy="42976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制御系統（オシロ FRFR）と精度評価系統（録音→ヒルベルト変換）の二系統で構成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35024"/>
            <a:ext cx="9354312" cy="731520"/>
          </a:xfrm>
          <a:prstGeom prst="roundRect">
            <a:avLst>
              <a:gd name="adj" fmla="val 8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rIns="127000" bIns="25400" rtlCol="0" anchor="ctr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00" b="1">
                <a:solidFill>
                  <a:srgbClr val="1B2A5A"/>
                </a:solidFill>
                <a:latin typeface="Yu Gothic"/>
                <a:ea typeface="Yu Gothic"/>
              </a:rPr>
              <a:t>OCXO2台に対し、位相差FRFRをターゲットとしてオシロスコープで計測。計測結果を基に片方のOCXOへフィードバック電圧を印加する。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2286000"/>
            <a:ext cx="4526280" cy="35661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595959"/>
                </a:solidFill>
                <a:latin typeface="Yu Gothic"/>
                <a:ea typeface="Yu Gothic"/>
              </a:rPr>
              <a:t>実験系ブロック図
（image1.png を白黒で清書。
FB→OCXO 帰還矢印・PC(MATLAB) ラベルを追記）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F78"/>
                </a:solidFill>
                <a:latin typeface="Yu Gothic"/>
                <a:ea typeface="Yu Gothic"/>
              </a:rPr>
              <a:t>04. 研究方法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Yu Gothic"/>
                <a:ea typeface="Yu Gothic"/>
              </a:rPr>
              <a:t>4-3. 測定法：オーディオレコーダを使う理由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2212848"/>
            <a:ext cx="4526280" cy="42976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オシロの FRFR は精度が要る／録音は高精度・長時間測定が可能</a:t>
            </a:r>
          </a:p>
          <a:p>
            <a:r>
              <a:rPr>
                <a:latin typeface="Yu Gothic"/>
                <a:ea typeface="Yu Gothic"/>
              </a:rPr>
              <a:t>卒論で確立した測定法を継承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35024"/>
            <a:ext cx="9354312" cy="731520"/>
          </a:xfrm>
          <a:prstGeom prst="roundRect">
            <a:avLst>
              <a:gd name="adj" fmla="val 8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rIns="127000" bIns="25400" rtlCol="0" anchor="ctr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00" b="1">
                <a:solidFill>
                  <a:srgbClr val="1B2A5A"/>
                </a:solidFill>
                <a:latin typeface="Yu Gothic"/>
                <a:ea typeface="Yu Gothic"/>
              </a:rPr>
              <a:t>オーディオレコーディングは高分解能（10秒測定で std 20–30 ps）かつ長時間測定が可能で、0.1–1 Hz の評価に向いている。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2286000"/>
            <a:ext cx="4526280" cy="35661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595959"/>
                </a:solidFill>
                <a:latin typeface="Yu Gothic"/>
                <a:ea typeface="Yu Gothic"/>
              </a:rPr>
              <a:t>録音系統図・分周・サンプル数比較表
（卒論PPTXの該当図を流用）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F78"/>
                </a:solidFill>
                <a:latin typeface="Yu Gothic"/>
                <a:ea typeface="Yu Gothic"/>
              </a:rPr>
              <a:t>04. 研究方法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Yu Gothic"/>
                <a:ea typeface="Yu Gothic"/>
              </a:rPr>
              <a:t>4-4. 予備実験：フィードバック電圧の感応度同定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2212848"/>
            <a:ext cx="4526280" cy="42976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1 LSB（≈305 µV）ずつ階段状に電圧を変え、各段の FRFR 傾きを電圧増分に直線回帰</a:t>
            </a:r>
          </a:p>
          <a:p>
            <a:r>
              <a:rPr>
                <a:latin typeface="Yu Gothic"/>
                <a:ea typeface="Yu Gothic"/>
              </a:rPr>
              <a:t>→ プラントゲイン K≈860 ns/(V·s) が得られた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35024"/>
            <a:ext cx="9354312" cy="731520"/>
          </a:xfrm>
          <a:prstGeom prst="roundRect">
            <a:avLst>
              <a:gd name="adj" fmla="val 8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rIns="127000" bIns="25400" rtlCol="0" anchor="ctr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00" b="1">
                <a:solidFill>
                  <a:srgbClr val="1B2A5A"/>
                </a:solidFill>
                <a:latin typeface="Yu Gothic"/>
                <a:ea typeface="Yu Gothic"/>
              </a:rPr>
              <a:t>フィードバック電圧のLSBを測定し回帰検証することで、フィードバックロジックのパラメータをチューニングした。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860414"/>
            <a:ext cx="4526280" cy="25087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F78"/>
                </a:solidFill>
                <a:latin typeface="Yu Gothic"/>
                <a:ea typeface="Yu Gothic"/>
              </a:rPr>
              <a:t>04. 研究方法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Yu Gothic"/>
                <a:ea typeface="Yu Gothic"/>
              </a:rPr>
              <a:t>4-5. フィードバックロジック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2212848"/>
            <a:ext cx="4526280" cy="42976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出自：ACC（車両追従制御）の状態方程式を波動系へ置き換え</a:t>
            </a:r>
          </a:p>
          <a:p>
            <a:r>
              <a:rPr>
                <a:latin typeface="Yu Gothic"/>
                <a:ea typeface="Yu Gothic"/>
              </a:rPr>
              <a:t>更新：Δf_des=clamp(Kp_e·e) → 必要段数 dN=round(...) → 電圧更新</a:t>
            </a:r>
          </a:p>
          <a:p>
            <a:r>
              <a:rPr>
                <a:latin typeface="Yu Gothic"/>
                <a:ea typeface="Yu Gothic"/>
              </a:rPr>
              <a:t>不感帯で静かに同期。比例・微分（PID）は過剰動作で短期雑音（対比）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35024"/>
            <a:ext cx="9354312" cy="731520"/>
          </a:xfrm>
          <a:prstGeom prst="roundRect">
            <a:avLst>
              <a:gd name="adj" fmla="val 8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rIns="127000" bIns="25400" rtlCol="0" anchor="ctr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00" b="1">
                <a:solidFill>
                  <a:srgbClr val="1B2A5A"/>
                </a:solidFill>
                <a:latin typeface="Yu Gothic"/>
                <a:ea typeface="Yu Gothic"/>
              </a:rPr>
              <a:t>位相のズレ e と周波数のズレ Δf を使う2状態フィードバックで、必要な分だけ電圧を動かす（1 LSB 未満は動かさない＝不感帯）。同期動作そのものが位相雑音を持ち込まない。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288603"/>
            <a:ext cx="4526280" cy="173215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325" y="4224528"/>
            <a:ext cx="3201469" cy="18105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Yu Gothic"/>
                <a:ea typeface="Yu Gothic"/>
              </a:rPr>
              <a:t>05. 実験と結果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2212848"/>
            <a:ext cx="4526280" cy="42976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モデルFB と HOLD の近傍位相雑音がほぼ一致（差≈0 dB）</a:t>
            </a:r>
          </a:p>
          <a:p>
            <a:r>
              <a:rPr>
                <a:latin typeface="Yu Gothic"/>
                <a:ea typeface="Yu Gothic"/>
              </a:rPr>
              <a:t>比例・微分（PID）制御は過剰動作で短期ジッタを注入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35024"/>
            <a:ext cx="9354312" cy="731520"/>
          </a:xfrm>
          <a:prstGeom prst="roundRect">
            <a:avLst>
              <a:gd name="adj" fmla="val 8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rIns="127000" bIns="25400" rtlCol="0" anchor="ctr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00" b="1">
                <a:solidFill>
                  <a:srgbClr val="1B2A5A"/>
                </a:solidFill>
                <a:latin typeface="Yu Gothic"/>
                <a:ea typeface="Yu Gothic"/>
              </a:rPr>
              <a:t>実測モデルに基づくモデルFB（Kp_e=0.08）は、無制御HOLDと同等の近傍位相雑音のまま同期できる（差≈0 dB）＝同期時に位相雑音を持ち込まない。PID制御は短期雑音を生む（対比）。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449" y="2249424"/>
            <a:ext cx="2601220" cy="1810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449" y="4224528"/>
            <a:ext cx="2601220" cy="18105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Yu Gothic"/>
                <a:ea typeface="Yu Gothic"/>
              </a:rPr>
              <a:t>06. 考察と今後の展望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2212848"/>
            <a:ext cx="4526280" cy="42976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現状：実測モデルに基づくFBで近傍位相雑音を注入せず同期を実現</a:t>
            </a:r>
          </a:p>
          <a:p>
            <a:r>
              <a:rPr>
                <a:latin typeface="Yu Gothic"/>
                <a:ea typeface="Yu Gothic"/>
              </a:rPr>
              <a:t>Step1：二つのOCXOの平均に対して同期させる</a:t>
            </a:r>
          </a:p>
          <a:p>
            <a:r>
              <a:rPr>
                <a:latin typeface="Yu Gothic"/>
                <a:ea typeface="Yu Gothic"/>
              </a:rPr>
              <a:t>Step2：同期したOCXOを合成器で平均し測定</a:t>
            </a:r>
          </a:p>
          <a:p>
            <a:r>
              <a:rPr>
                <a:latin typeface="Yu Gothic"/>
                <a:ea typeface="Yu Gothic"/>
              </a:rPr>
              <a:t>Step3：N台へ拡張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35024"/>
            <a:ext cx="9354312" cy="731520"/>
          </a:xfrm>
          <a:prstGeom prst="roundRect">
            <a:avLst>
              <a:gd name="adj" fmla="val 8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rIns="127000" bIns="25400" rtlCol="0" anchor="ctr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00" b="1">
                <a:solidFill>
                  <a:srgbClr val="1B2A5A"/>
                </a:solidFill>
                <a:latin typeface="Yu Gothic"/>
                <a:ea typeface="Yu Gothic"/>
              </a:rPr>
              <a:t>フィードバック制御により、近傍位相雑音（同期動作に伴う短期の位相ゆらぎ）を持ち込まずに同期させることに成功した。今後は2台を同時制御・合成器で平均して −3 dB を実証し、N台へ拡張する。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2286000"/>
            <a:ext cx="4526280" cy="35661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595959"/>
                </a:solidFill>
                <a:latin typeface="Yu Gothic"/>
                <a:ea typeface="Yu Gothic"/>
              </a:rPr>
              <a:t>今後のロードマップ
片方向同期 → 平均で −3 dB → N台 → 双方向結合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b_標準テンプレート01">
  <a:themeElements>
    <a:clrScheme name="ユーザー定義 1">
      <a:dk1>
        <a:srgbClr val="000000"/>
      </a:dk1>
      <a:lt1>
        <a:srgbClr val="FFFFFF"/>
      </a:lt1>
      <a:dk2>
        <a:srgbClr val="001279"/>
      </a:dk2>
      <a:lt2>
        <a:srgbClr val="636363"/>
      </a:lt2>
      <a:accent1>
        <a:srgbClr val="001279"/>
      </a:accent1>
      <a:accent2>
        <a:srgbClr val="FF0000"/>
      </a:accent2>
      <a:accent3>
        <a:srgbClr val="FFFFFF"/>
      </a:accent3>
      <a:accent4>
        <a:srgbClr val="000000"/>
      </a:accent4>
      <a:accent5>
        <a:srgbClr val="EBEBEB"/>
      </a:accent5>
      <a:accent6>
        <a:srgbClr val="AEAEAE"/>
      </a:accent6>
      <a:hlink>
        <a:srgbClr val="0066B3"/>
      </a:hlink>
      <a:folHlink>
        <a:srgbClr val="CC00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46719</TotalTime>
  <Words>761</Words>
  <Application>Microsoft Office PowerPoint</Application>
  <PresentationFormat>A4 210 x 297 mm</PresentationFormat>
  <Paragraphs>93</Paragraphs>
  <Slides>14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Noto Sans Symbols</vt:lpstr>
      <vt:lpstr>Yu Gothic</vt:lpstr>
      <vt:lpstr>Arial</vt:lpstr>
      <vt:lpstr>mb_標準テンプレート01</vt:lpstr>
      <vt:lpstr>PowerPoint プレゼンテーション</vt:lpstr>
      <vt:lpstr>PowerPoint プレゼンテーション</vt:lpstr>
      <vt:lpstr>01.研究背景 1-1.位相ノイズとは</vt:lpstr>
      <vt:lpstr>01. 研究背景 1-2. 基準信号の純度と現状</vt:lpstr>
      <vt:lpstr>01. 研究背景 1-2. 基準信号の純度と現状</vt:lpstr>
      <vt:lpstr>02. 本研究の目標</vt:lpstr>
      <vt:lpstr>03. 先行研究 3-1. 同期・平均による位相雑音の改善（1/N の原理）</vt:lpstr>
      <vt:lpstr>04. 研究方法 4-1. アプローチ：能動的に同期して平均する</vt:lpstr>
      <vt:lpstr>04. 研究方法 4-2. 実験系</vt:lpstr>
      <vt:lpstr>04. 研究方法 4-3. 測定法：オーディオレコーダを使う理由</vt:lpstr>
      <vt:lpstr>04. 研究方法 4-4. 予備実験：フィードバック電圧の感応度同定</vt:lpstr>
      <vt:lpstr>04. 研究方法 4-5. フィードバックロジック</vt:lpstr>
      <vt:lpstr>05. 実験と結果</vt:lpstr>
      <vt:lpstr>06. 考察と今後の展望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事業承継およびM&amp;Aに関する打ち合わせ　#2</dc:title>
  <dc:creator>m-base</dc:creator>
  <cp:lastModifiedBy>福井　晴士郎</cp:lastModifiedBy>
  <cp:revision>127</cp:revision>
  <cp:lastPrinted>2025-01-31T09:29:12Z</cp:lastPrinted>
  <dcterms:created xsi:type="dcterms:W3CDTF">2005-06-08T01:35:16Z</dcterms:created>
  <dcterms:modified xsi:type="dcterms:W3CDTF">2026-06-23T22:18:36Z</dcterms:modified>
</cp:coreProperties>
</file>