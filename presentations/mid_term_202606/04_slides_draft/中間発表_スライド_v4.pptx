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A9_FA5B598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84_484A4A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425" r:id="rId2"/>
    <p:sldId id="426" r:id="rId3"/>
    <p:sldId id="388" r:id="rId4"/>
    <p:sldId id="427" r:id="rId5"/>
    <p:sldId id="438" r:id="rId6"/>
    <p:sldId id="439" r:id="rId7"/>
    <p:sldId id="441" r:id="rId8"/>
    <p:sldId id="442" r:id="rId9"/>
    <p:sldId id="440" r:id="rId10"/>
    <p:sldId id="447" r:id="rId11"/>
    <p:sldId id="443" r:id="rId12"/>
    <p:sldId id="448" r:id="rId13"/>
    <p:sldId id="444" r:id="rId14"/>
    <p:sldId id="445" r:id="rId15"/>
    <p:sldId id="446" r:id="rId16"/>
    <p:sldId id="413" r:id="rId17"/>
  </p:sldIdLst>
  <p:sldSz cx="9906000" cy="6858000" type="A4"/>
  <p:notesSz cx="6858000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97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pos="727">
          <p15:clr>
            <a:srgbClr val="A4A3A4"/>
          </p15:clr>
        </p15:guide>
        <p15:guide id="4" pos="6082">
          <p15:clr>
            <a:srgbClr val="A4A3A4"/>
          </p15:clr>
        </p15:guide>
        <p15:guide id="5" pos="1876">
          <p15:clr>
            <a:srgbClr val="A4A3A4"/>
          </p15:clr>
        </p15:guide>
        <p15:guide id="6" pos="4481">
          <p15:clr>
            <a:srgbClr val="A4A3A4"/>
          </p15:clr>
        </p15:guide>
        <p15:guide id="7" pos="3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hGZ7uZ5vFhmAr7D05oSO2hGt9NU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9181F-4E05-7DF9-4E74-3E4183689D47}" name="福井　晴士郎" initials="晴福" userId="S::9209790505@utac.u-tokyo.ac.jp::c862c106-44b5-40b1-8b55-3249c1e646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8D"/>
    <a:srgbClr val="0096FF"/>
    <a:srgbClr val="002060"/>
    <a:srgbClr val="FFAC40"/>
    <a:srgbClr val="BFBFBF"/>
    <a:srgbClr val="FF0011"/>
    <a:srgbClr val="F9F9F9"/>
    <a:srgbClr val="0070C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55246-B984-4F00-A051-4BF160ACBDB1}">
  <a:tblStyle styleId="{FFF55246-B984-4F00-A051-4BF160ACBD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1EA581E-A1C8-4F62-88BD-5A6DA978B5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A115FD-0512-4B44-A0B9-EB2B1407704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7" autoAdjust="0"/>
    <p:restoredTop sz="85211"/>
  </p:normalViewPr>
  <p:slideViewPr>
    <p:cSldViewPr snapToGrid="0">
      <p:cViewPr>
        <p:scale>
          <a:sx n="84" d="100"/>
          <a:sy n="84" d="100"/>
        </p:scale>
        <p:origin x="702" y="-84"/>
      </p:cViewPr>
      <p:guideLst>
        <p:guide orient="horz" pos="1797"/>
        <p:guide orient="horz" pos="4156"/>
        <p:guide pos="727"/>
        <p:guide pos="6082"/>
        <p:guide pos="1876"/>
        <p:guide pos="4481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8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microsoft.com/office/2018/10/relationships/authors" Target="authors.xml"/></Relationships>
</file>

<file path=ppt/comments/modernComment_1A9_FA5B59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B3DFEB-2883-A441-8412-D006ED897D7F}" authorId="{8E89181F-4E05-7DF9-4E74-3E4183689D47}" created="2025-01-30T04:22:47.4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6" creationId="{685347EE-2965-C090-63D4-710A20C95107}"/>
    </ac:deMkLst>
    <p188:txBody>
      <a:bodyPr/>
      <a:lstStyle/>
      <a:p>
        <a:r>
          <a:rPr lang="ja-JP" altLang="en-US"/>
          <a:t>タイトルを修正</a:t>
        </a:r>
      </a:p>
    </p188:txBody>
  </p188:cm>
  <p188:cm id="{8EAFE6AB-7B75-CA43-8DFC-98EC95167DA2}" authorId="{8E89181F-4E05-7DF9-4E74-3E4183689D47}" created="2025-01-30T04:23:02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7" creationId="{71FC25AB-DEB9-83EB-9860-9B53C72373B7}"/>
    </ac:deMkLst>
    <p188:txBody>
      <a:bodyPr/>
      <a:lstStyle/>
      <a:p>
        <a:r>
          <a:rPr lang="ja-JP" altLang="en-US"/>
          <a:t>所属を修正</a:t>
        </a:r>
      </a:p>
    </p188:txBody>
  </p188:cm>
</p188:cmLst>
</file>

<file path=ppt/comments/modernComment_184_484A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40950E-7C22-224D-9946-B26097C0E8D0}" authorId="{8E89181F-4E05-7DF9-4E74-3E4183689D47}" created="2025-01-30T06:56:12.8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1" creationId="{D71EA5ED-C488-B94E-534D-ED24647218DE}"/>
    </ac:deMkLst>
    <p188:txBody>
      <a:bodyPr/>
      <a:lstStyle/>
      <a:p>
        <a:r>
          <a:rPr lang="ja-JP" altLang="en-US"/>
          <a:t>\mathbb{V}(j(t)) = \cfrac{\sqrt{\int_{f_1}^{f_2} 10^{\frac{dBc}{10}}df}}{2 \pi f_c}</a:t>
        </a:r>
      </a:p>
    </p188:txBody>
  </p188:cm>
  <p188:cm id="{1130F69C-6223-EC47-877E-6583B35D83A4}" authorId="{8E89181F-4E05-7DF9-4E74-3E4183689D47}" created="2025-01-30T07:02:34.3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2" creationId="{916ED799-CAF8-F4B3-828F-59176BCF743A}"/>
    </ac:deMkLst>
    <p188:txBody>
      <a:bodyPr/>
      <a:lstStyle/>
      <a:p>
        <a:r>
          <a:rPr lang="ja-JP" altLang="en-US"/>
          <a:t>A_0 cos(\omega (t + j(t)) \approx A_0 \cos\omega t - A_0\omega j(t)\sin \omega t</a:t>
        </a:r>
      </a:p>
    </p188:txBody>
  </p188:cm>
  <p188:cm id="{8375A50A-D565-6E45-8BC3-5AC60E55DD23}" authorId="{8E89181F-4E05-7DF9-4E74-3E4183689D47}" created="2025-01-30T07:09:01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3" creationId="{86061A11-EC5A-FDCC-D25A-4038E87F2A68}"/>
    </ac:deMkLst>
    <p188:txBody>
      <a:bodyPr/>
      <a:lstStyle/>
      <a:p>
        <a:r>
          <a:rPr lang="ja-JP" altLang="en-US"/>
          <a:t>Pc = (A_0 cos\omega t)^2 = \cfrac{A_0^2}{2} </a:t>
        </a:r>
      </a:p>
    </p188:txBody>
  </p188:cm>
  <p188:cm id="{6EAEA4E3-6FB4-1040-A61B-BB24F3EAC473}" authorId="{8E89181F-4E05-7DF9-4E74-3E4183689D47}" created="2025-01-30T07:10:47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4" creationId="{79100334-29CB-0FFD-DBA3-CE530FD52CE2}"/>
    </ac:deMkLst>
    <p188:txBody>
      <a:bodyPr/>
      <a:lstStyle/>
      <a:p>
        <a:r>
          <a:rPr lang="ja-JP" altLang="en-US"/>
          <a:t>P_{jitter} = (A_0\omega j(t)\sin \omega t)^2 = \cfrac{A_0^2 \omega^2 \mathbb{V}[j(t)]}{2}</a:t>
        </a:r>
      </a:p>
    </p188:txBody>
  </p188:cm>
  <p188:cm id="{F2AB3BC8-9B7B-A64C-8501-AF71A30DBF34}" authorId="{8E89181F-4E05-7DF9-4E74-3E4183689D47}" created="2025-01-30T07:32:40.9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5" creationId="{5919A426-2E8E-B793-235E-4067E32CEFE0}"/>
    </ac:deMkLst>
    <p188:txBody>
      <a:bodyPr/>
      <a:lstStyle/>
      <a:p>
        <a:r>
          <a:rPr lang="ja-JP" altLang="en-US"/>
          <a:t>L(f) = \cfrac{1}{2} \times 10 \log_{10}{\frac{P_{jitter}}{P_c}} =\cfrac{1}{2} \times 10 \log_{10} \omega^2 \mathbb{V}(j(t))</a:t>
        </a:r>
      </a:p>
    </p188:txBody>
  </p188:cm>
  <p188:cm id="{62A4E2A4-DF3A-7C4C-80E8-42AA7A5513B1}" authorId="{8E89181F-4E05-7DF9-4E74-3E4183689D47}" created="2025-01-30T07:36:00.0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6" creationId="{299064D2-5B71-6CAE-8C8C-3423B95B475C}"/>
    </ac:deMkLst>
    <p188:txBody>
      <a:bodyPr/>
      <a:lstStyle/>
      <a:p>
        <a:r>
          <a:rPr lang="ja-JP" altLang="en-US"/>
          <a:t>\sigma (j(t)) = \sqrt{\mathbb{V}(j(t))} = \cfrac{\sqrt{\int_{f_1}^{f_2} 10^{\frac{L(f)}{10}}df}}{2 \pi f_c}</a:t>
        </a:r>
      </a:p>
    </p188:txBody>
  </p188:cm>
  <p188:cm id="{F7E804A0-C5A7-5C4E-BC6C-E97DD6AF922A}" authorId="{8E89181F-4E05-7DF9-4E74-3E4183689D47}" created="2025-01-31T08:07:15.7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\mathcal{F} \left[\cfrac{1}{2} \times 10 \log_{10}{\frac{P_{jitter}}{P_c}}\right] =\mathcal{F} \left[\cfrac{1}{2} \times 10 \log_{10} \omega^2 \mathbb{V}(j(t))\right]</a:t>
        </a:r>
      </a:p>
    </p188:txBody>
  </p188:cm>
  <p188:cm id="{C4B4C73C-927C-DF44-BEA1-D711E6FC1685}" authorId="{8E89181F-4E05-7DF9-4E74-3E4183689D47}" created="2025-01-31T08:31:3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L(f) = \mathcal{F} \left[10 \log_{10}{\frac{P_{jitter}}{P_c}}\right] =\mathcal{F} \left[10 \log_{10} \omega^2 \mathbb{V}(j(t))\right]</a:t>
        </a:r>
      </a:p>
    </p188:txBody>
  </p188:cm>
  <p188:cm id="{63548348-4E7E-8347-A4D5-55FDD3CD38AB}" authorId="{8E89181F-4E05-7DF9-4E74-3E4183689D47}" created="2025-02-03T06:36:01.2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j(t)のフーリエ変換の形に直す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2-03T06:36:06.445" authorId="{8E89181F-4E05-7DF9-4E74-3E4183689D47}"/>
          </p223:rxn>
        </p223:reactions>
      </p:ext>
    </p188:extLst>
  </p188:cm>
  <p188:cm id="{0A02BBD2-C7A3-484F-B8E4-951C05844045}" authorId="{8E89181F-4E05-7DF9-4E74-3E4183689D47}" created="2025-02-04T01:47:56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 10 \log_{10}{\frac{P_{jitter}}{P_c}} =10 \log_{10} \mathcal{F} \left[\omega^2 \mathbb{V}(j(t))\right]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1990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では表現しづらいので、</a:t>
            </a:r>
            <a:r>
              <a:rPr kumimoji="1" lang="en-US" altLang="ja-JP" dirty="0"/>
              <a:t>L(f)</a:t>
            </a:r>
            <a:r>
              <a:rPr kumimoji="1" lang="ja-JP" altLang="en-US" dirty="0"/>
              <a:t>で表現する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のフーリエ変換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の分散</a:t>
            </a:r>
            <a:endParaRPr kumimoji="1" lang="en-US" altLang="ja-JP" dirty="0"/>
          </a:p>
          <a:p>
            <a:r>
              <a:rPr kumimoji="1" lang="ja-JP" altLang="en-US" dirty="0"/>
              <a:t>・位相ノイズが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なら</a:t>
            </a:r>
            <a:r>
              <a:rPr kumimoji="1" lang="en-US" altLang="ja-JP" dirty="0" err="1"/>
              <a:t>σ</a:t>
            </a:r>
            <a:r>
              <a:rPr kumimoji="1" lang="en-US" altLang="ja-JP" dirty="0"/>
              <a:t>(j(t))</a:t>
            </a:r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812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8616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329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>
  <p:cSld name="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6"/>
          <p:cNvSpPr txBox="1">
            <a:spLocks noGrp="1"/>
          </p:cNvSpPr>
          <p:nvPr>
            <p:ph type="title"/>
          </p:nvPr>
        </p:nvSpPr>
        <p:spPr>
          <a:xfrm>
            <a:off x="227025" y="259239"/>
            <a:ext cx="9477000" cy="6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75" b="0" i="0" u="none" strike="noStrike" cap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800">
                <a:solidFill>
                  <a:schemeClr val="tx1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 preserve="1" userDrawn="1">
  <p:cSld name="1_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625">
                <a:solidFill>
                  <a:schemeClr val="bg2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168640" y="1262921"/>
            <a:ext cx="94488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中表紙">
  <p:cSld name="中表紙">
    <p:bg>
      <p:bgPr>
        <a:solidFill>
          <a:srgbClr val="E4ECED">
            <a:alpha val="49411"/>
          </a:srgbClr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44"/>
          <p:cNvCxnSpPr/>
          <p:nvPr/>
        </p:nvCxnSpPr>
        <p:spPr>
          <a:xfrm>
            <a:off x="0" y="3564000"/>
            <a:ext cx="9906000" cy="0"/>
          </a:xfrm>
          <a:prstGeom prst="straightConnector1">
            <a:avLst/>
          </a:prstGeom>
          <a:noFill/>
          <a:ln w="9525" cap="flat" cmpd="sng">
            <a:solidFill>
              <a:srgbClr val="000F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9504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44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F7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F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0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9448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sldNum" idx="12"/>
          </p:nvPr>
        </p:nvSpPr>
        <p:spPr>
          <a:xfrm>
            <a:off x="9017000" y="6598761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9" r:id="rId2"/>
    <p:sldLayoutId id="2147483650" r:id="rId3"/>
    <p:sldLayoutId id="2147483655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9_FA5B5987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microsoft.com/office/2018/10/relationships/comments" Target="../comments/modernComment_184_484A4A.xml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DDC74B-379C-60AA-C6B0-F4616E96A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0</a:t>
            </a:fld>
            <a:endParaRPr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A7F329-6046-8E5F-D683-3255C4F76CA1}"/>
              </a:ext>
            </a:extLst>
          </p:cNvPr>
          <p:cNvCxnSpPr/>
          <p:nvPr/>
        </p:nvCxnSpPr>
        <p:spPr>
          <a:xfrm>
            <a:off x="501015" y="4146319"/>
            <a:ext cx="890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FC25AB-DEB9-83EB-9860-9B53C72373B7}"/>
              </a:ext>
            </a:extLst>
          </p:cNvPr>
          <p:cNvSpPr txBox="1"/>
          <p:nvPr/>
        </p:nvSpPr>
        <p:spPr>
          <a:xfrm>
            <a:off x="3510915" y="4417536"/>
            <a:ext cx="2884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Arial"/>
                <a:ea typeface="Arial"/>
              </a:rPr>
              <a:t>斎藤晴雄研究室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90BDFC-58C0-7EBD-75E3-17EBBE924494}"/>
              </a:ext>
            </a:extLst>
          </p:cNvPr>
          <p:cNvCxnSpPr>
            <a:cxnSpLocks/>
          </p:cNvCxnSpPr>
          <p:nvPr/>
        </p:nvCxnSpPr>
        <p:spPr>
          <a:xfrm>
            <a:off x="7160895" y="6130290"/>
            <a:ext cx="274510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6662F0-FEA1-B1A8-8DF6-0F41BB2511D8}"/>
              </a:ext>
            </a:extLst>
          </p:cNvPr>
          <p:cNvSpPr txBox="1"/>
          <p:nvPr/>
        </p:nvSpPr>
        <p:spPr>
          <a:xfrm>
            <a:off x="7160894" y="5822513"/>
            <a:ext cx="274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2026/06/24 10:30-10:50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CBA681-9ACC-0BBE-1EB5-246173595B06}"/>
              </a:ext>
            </a:extLst>
          </p:cNvPr>
          <p:cNvSpPr txBox="1"/>
          <p:nvPr/>
        </p:nvSpPr>
        <p:spPr>
          <a:xfrm>
            <a:off x="2546509" y="4817646"/>
            <a:ext cx="4812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Arial"/>
                <a:ea typeface="Arial"/>
              </a:rPr>
              <a:t>08-223022 </a:t>
            </a:r>
            <a:r>
              <a:rPr kumimoji="1" lang="ja-JP" altLang="en-US" sz="2000">
                <a:latin typeface="Arial"/>
                <a:ea typeface="Arial"/>
              </a:rPr>
              <a:t>福井</a:t>
            </a:r>
            <a:r>
              <a:rPr kumimoji="1" lang="en-US" altLang="ja-JP" sz="2000" dirty="0">
                <a:latin typeface="Arial"/>
                <a:ea typeface="Arial"/>
              </a:rPr>
              <a:t> </a:t>
            </a:r>
            <a:r>
              <a:rPr kumimoji="1" lang="ja-JP" altLang="en-US" sz="2000">
                <a:latin typeface="Arial"/>
                <a:ea typeface="Arial"/>
              </a:rPr>
              <a:t>晴士郎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5347EE-2965-C090-63D4-710A20C95107}"/>
              </a:ext>
            </a:extLst>
          </p:cNvPr>
          <p:cNvSpPr txBox="1"/>
          <p:nvPr/>
        </p:nvSpPr>
        <p:spPr>
          <a:xfrm>
            <a:off x="501016" y="2828835"/>
            <a:ext cx="8903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Arial"/>
                <a:ea typeface="Arial"/>
              </a:rPr>
              <a:t>水晶基準発信器の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>
                <a:latin typeface="Arial"/>
                <a:ea typeface="Arial"/>
              </a:rPr>
              <a:t>位相同期制御による高純度信号作成</a:t>
            </a:r>
          </a:p>
        </p:txBody>
      </p:sp>
    </p:spTree>
    <p:extLst>
      <p:ext uri="{BB962C8B-B14F-4D97-AF65-F5344CB8AC3E}">
        <p14:creationId xmlns:p14="http://schemas.microsoft.com/office/powerpoint/2010/main" val="4200290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33643" y="175846"/>
            <a:ext cx="464234" cy="9636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201989" y="65913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</a:pPr>
            <a:fld id="{00000000-1234-1234-1234-123412341234}" type="slidenum">
              <a:rPr lang="en-US" alt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7F1A145-67EE-D989-0616-084884FAD21F}"/>
              </a:ext>
            </a:extLst>
          </p:cNvPr>
          <p:cNvGrpSpPr/>
          <p:nvPr/>
        </p:nvGrpSpPr>
        <p:grpSpPr>
          <a:xfrm>
            <a:off x="966349" y="2320887"/>
            <a:ext cx="7285338" cy="550196"/>
            <a:chOff x="966349" y="2235689"/>
            <a:chExt cx="7285338" cy="550196"/>
          </a:xfrm>
        </p:grpSpPr>
        <p:grpSp>
          <p:nvGrpSpPr>
            <p:cNvPr id="4" name="Google Shape;56;p2">
              <a:extLst>
                <a:ext uri="{FF2B5EF4-FFF2-40B4-BE49-F238E27FC236}">
                  <a16:creationId xmlns:a16="http://schemas.microsoft.com/office/drawing/2014/main" id="{FE881E70-03A8-C9EB-4648-77E20B2E1034}"/>
                </a:ext>
              </a:extLst>
            </p:cNvPr>
            <p:cNvGrpSpPr/>
            <p:nvPr/>
          </p:nvGrpSpPr>
          <p:grpSpPr>
            <a:xfrm>
              <a:off x="966349" y="2260867"/>
              <a:ext cx="5209544" cy="525018"/>
              <a:chOff x="1363626" y="1195448"/>
              <a:chExt cx="5209544" cy="525018"/>
            </a:xfrm>
          </p:grpSpPr>
          <p:sp>
            <p:nvSpPr>
              <p:cNvPr id="8" name="Google Shape;57;p2">
                <a:extLst>
                  <a:ext uri="{FF2B5EF4-FFF2-40B4-BE49-F238E27FC236}">
                    <a16:creationId xmlns:a16="http://schemas.microsoft.com/office/drawing/2014/main" id="{BE009C27-9EE4-2208-892F-EE7A83BE437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58;p2">
                <a:extLst>
                  <a:ext uri="{FF2B5EF4-FFF2-40B4-BE49-F238E27FC236}">
                    <a16:creationId xmlns:a16="http://schemas.microsoft.com/office/drawing/2014/main" id="{62C0A97A-CCC7-9FE2-00E6-B7EC607BA7FE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" name="Google Shape;68;p2">
              <a:extLst>
                <a:ext uri="{FF2B5EF4-FFF2-40B4-BE49-F238E27FC236}">
                  <a16:creationId xmlns:a16="http://schemas.microsoft.com/office/drawing/2014/main" id="{67802ABC-BA82-98A3-50D8-837191BCD854}"/>
                </a:ext>
              </a:extLst>
            </p:cNvPr>
            <p:cNvSpPr/>
            <p:nvPr/>
          </p:nvSpPr>
          <p:spPr>
            <a:xfrm>
              <a:off x="966349" y="2235689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本研究の目標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26664E3-DC11-C842-2233-33D2E906848C}"/>
              </a:ext>
            </a:extLst>
          </p:cNvPr>
          <p:cNvGrpSpPr/>
          <p:nvPr/>
        </p:nvGrpSpPr>
        <p:grpSpPr>
          <a:xfrm>
            <a:off x="966349" y="3049829"/>
            <a:ext cx="7285338" cy="550196"/>
            <a:chOff x="966349" y="2854847"/>
            <a:chExt cx="7285338" cy="550196"/>
          </a:xfrm>
        </p:grpSpPr>
        <p:grpSp>
          <p:nvGrpSpPr>
            <p:cNvPr id="11" name="Google Shape;56;p2">
              <a:extLst>
                <a:ext uri="{FF2B5EF4-FFF2-40B4-BE49-F238E27FC236}">
                  <a16:creationId xmlns:a16="http://schemas.microsoft.com/office/drawing/2014/main" id="{5B99108C-3C98-59C1-BA22-035CD6D84C45}"/>
                </a:ext>
              </a:extLst>
            </p:cNvPr>
            <p:cNvGrpSpPr/>
            <p:nvPr/>
          </p:nvGrpSpPr>
          <p:grpSpPr>
            <a:xfrm>
              <a:off x="966349" y="2880025"/>
              <a:ext cx="5209544" cy="525018"/>
              <a:chOff x="1363626" y="1195448"/>
              <a:chExt cx="5209544" cy="525018"/>
            </a:xfrm>
          </p:grpSpPr>
          <p:sp>
            <p:nvSpPr>
              <p:cNvPr id="12" name="Google Shape;57;p2">
                <a:extLst>
                  <a:ext uri="{FF2B5EF4-FFF2-40B4-BE49-F238E27FC236}">
                    <a16:creationId xmlns:a16="http://schemas.microsoft.com/office/drawing/2014/main" id="{0BE9DA5C-86ED-6EAE-52BA-533BDEC6F87E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58;p2">
                <a:extLst>
                  <a:ext uri="{FF2B5EF4-FFF2-40B4-BE49-F238E27FC236}">
                    <a16:creationId xmlns:a16="http://schemas.microsoft.com/office/drawing/2014/main" id="{A0E59B47-6B25-FE76-5709-AFFB28EE80D0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68;p2">
              <a:extLst>
                <a:ext uri="{FF2B5EF4-FFF2-40B4-BE49-F238E27FC236}">
                  <a16:creationId xmlns:a16="http://schemas.microsoft.com/office/drawing/2014/main" id="{2A6F96B4-7264-1FA6-3AC9-9E6497410E11}"/>
                </a:ext>
              </a:extLst>
            </p:cNvPr>
            <p:cNvSpPr/>
            <p:nvPr/>
          </p:nvSpPr>
          <p:spPr>
            <a:xfrm>
              <a:off x="966349" y="285484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先行研究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41A2931-A659-0346-5CD4-D536C9AEE1A4}"/>
              </a:ext>
            </a:extLst>
          </p:cNvPr>
          <p:cNvGrpSpPr/>
          <p:nvPr/>
        </p:nvGrpSpPr>
        <p:grpSpPr>
          <a:xfrm>
            <a:off x="966349" y="3778771"/>
            <a:ext cx="7285338" cy="550196"/>
            <a:chOff x="966349" y="3476162"/>
            <a:chExt cx="7285338" cy="550196"/>
          </a:xfrm>
        </p:grpSpPr>
        <p:grpSp>
          <p:nvGrpSpPr>
            <p:cNvPr id="15" name="Google Shape;56;p2">
              <a:extLst>
                <a:ext uri="{FF2B5EF4-FFF2-40B4-BE49-F238E27FC236}">
                  <a16:creationId xmlns:a16="http://schemas.microsoft.com/office/drawing/2014/main" id="{C787518E-46B1-A0A7-B751-A1A66CF95DBC}"/>
                </a:ext>
              </a:extLst>
            </p:cNvPr>
            <p:cNvGrpSpPr/>
            <p:nvPr/>
          </p:nvGrpSpPr>
          <p:grpSpPr>
            <a:xfrm>
              <a:off x="966349" y="3501340"/>
              <a:ext cx="5209544" cy="525018"/>
              <a:chOff x="1363626" y="1195448"/>
              <a:chExt cx="5209544" cy="525018"/>
            </a:xfrm>
          </p:grpSpPr>
          <p:sp>
            <p:nvSpPr>
              <p:cNvPr id="16" name="Google Shape;57;p2">
                <a:extLst>
                  <a:ext uri="{FF2B5EF4-FFF2-40B4-BE49-F238E27FC236}">
                    <a16:creationId xmlns:a16="http://schemas.microsoft.com/office/drawing/2014/main" id="{CAF34C88-19F4-5A3F-904E-E4BB54EFA288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58;p2">
                <a:extLst>
                  <a:ext uri="{FF2B5EF4-FFF2-40B4-BE49-F238E27FC236}">
                    <a16:creationId xmlns:a16="http://schemas.microsoft.com/office/drawing/2014/main" id="{C6E13D04-1959-787E-E2E3-EF3F0A7382D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68;p2">
              <a:extLst>
                <a:ext uri="{FF2B5EF4-FFF2-40B4-BE49-F238E27FC236}">
                  <a16:creationId xmlns:a16="http://schemas.microsoft.com/office/drawing/2014/main" id="{77A0AFEF-9CEC-1345-7D86-F863612B480E}"/>
                </a:ext>
              </a:extLst>
            </p:cNvPr>
            <p:cNvSpPr/>
            <p:nvPr/>
          </p:nvSpPr>
          <p:spPr>
            <a:xfrm>
              <a:off x="966349" y="3476162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研究方法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70CE68A-EE4B-1058-5DEF-747E26FBF936}"/>
              </a:ext>
            </a:extLst>
          </p:cNvPr>
          <p:cNvGrpSpPr/>
          <p:nvPr/>
        </p:nvGrpSpPr>
        <p:grpSpPr>
          <a:xfrm>
            <a:off x="966349" y="4507713"/>
            <a:ext cx="7285338" cy="550196"/>
            <a:chOff x="966349" y="4068137"/>
            <a:chExt cx="7285338" cy="550196"/>
          </a:xfrm>
        </p:grpSpPr>
        <p:grpSp>
          <p:nvGrpSpPr>
            <p:cNvPr id="19" name="Google Shape;56;p2">
              <a:extLst>
                <a:ext uri="{FF2B5EF4-FFF2-40B4-BE49-F238E27FC236}">
                  <a16:creationId xmlns:a16="http://schemas.microsoft.com/office/drawing/2014/main" id="{6C9604AD-0804-F50F-68BE-C4FC8764BED9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20" name="Google Shape;57;p2">
                <a:extLst>
                  <a:ext uri="{FF2B5EF4-FFF2-40B4-BE49-F238E27FC236}">
                    <a16:creationId xmlns:a16="http://schemas.microsoft.com/office/drawing/2014/main" id="{110679F9-B8AA-5B19-0E99-11326BD66E72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58;p2">
                <a:extLst>
                  <a:ext uri="{FF2B5EF4-FFF2-40B4-BE49-F238E27FC236}">
                    <a16:creationId xmlns:a16="http://schemas.microsoft.com/office/drawing/2014/main" id="{DA223E69-B477-1B68-EAA2-DFA9D6D0156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68;p2">
              <a:extLst>
                <a:ext uri="{FF2B5EF4-FFF2-40B4-BE49-F238E27FC236}">
                  <a16:creationId xmlns:a16="http://schemas.microsoft.com/office/drawing/2014/main" id="{F761D5D0-7141-AE81-C392-23D8AD8829E1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実験と結果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3ABD878-DFB2-6205-FF5D-49881191621D}"/>
              </a:ext>
            </a:extLst>
          </p:cNvPr>
          <p:cNvGrpSpPr/>
          <p:nvPr/>
        </p:nvGrpSpPr>
        <p:grpSpPr>
          <a:xfrm>
            <a:off x="966349" y="1591945"/>
            <a:ext cx="7285338" cy="550196"/>
            <a:chOff x="966349" y="1614374"/>
            <a:chExt cx="7285338" cy="550196"/>
          </a:xfrm>
        </p:grpSpPr>
        <p:grpSp>
          <p:nvGrpSpPr>
            <p:cNvPr id="23" name="Google Shape;56;p2">
              <a:extLst>
                <a:ext uri="{FF2B5EF4-FFF2-40B4-BE49-F238E27FC236}">
                  <a16:creationId xmlns:a16="http://schemas.microsoft.com/office/drawing/2014/main" id="{74C13A1A-09E8-428D-27DA-09C0B3571617}"/>
                </a:ext>
              </a:extLst>
            </p:cNvPr>
            <p:cNvGrpSpPr/>
            <p:nvPr/>
          </p:nvGrpSpPr>
          <p:grpSpPr>
            <a:xfrm>
              <a:off x="966349" y="1639552"/>
              <a:ext cx="5209544" cy="525018"/>
              <a:chOff x="1363626" y="1195448"/>
              <a:chExt cx="5209544" cy="525018"/>
            </a:xfrm>
          </p:grpSpPr>
          <p:sp>
            <p:nvSpPr>
              <p:cNvPr id="24" name="Google Shape;57;p2">
                <a:extLst>
                  <a:ext uri="{FF2B5EF4-FFF2-40B4-BE49-F238E27FC236}">
                    <a16:creationId xmlns:a16="http://schemas.microsoft.com/office/drawing/2014/main" id="{F88788C3-F177-8F1C-E3BD-9B46A058BD7C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58;p2">
                <a:extLst>
                  <a:ext uri="{FF2B5EF4-FFF2-40B4-BE49-F238E27FC236}">
                    <a16:creationId xmlns:a16="http://schemas.microsoft.com/office/drawing/2014/main" id="{E9DAE931-8800-6403-E648-186C4E4E0913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68;p2">
              <a:extLst>
                <a:ext uri="{FF2B5EF4-FFF2-40B4-BE49-F238E27FC236}">
                  <a16:creationId xmlns:a16="http://schemas.microsoft.com/office/drawing/2014/main" id="{E7DAC789-BAB3-37E1-722A-37EAE53CAD85}"/>
                </a:ext>
              </a:extLst>
            </p:cNvPr>
            <p:cNvSpPr/>
            <p:nvPr/>
          </p:nvSpPr>
          <p:spPr>
            <a:xfrm>
              <a:off x="966349" y="1614374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研究背景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12;p41">
            <a:extLst>
              <a:ext uri="{FF2B5EF4-FFF2-40B4-BE49-F238E27FC236}">
                <a16:creationId xmlns:a16="http://schemas.microsoft.com/office/drawing/2014/main" id="{65DABD37-B89A-F563-8D6B-40B5EC39E602}"/>
              </a:ext>
            </a:extLst>
          </p:cNvPr>
          <p:cNvSpPr txBox="1"/>
          <p:nvPr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US" sz="2000" b="1" dirty="0">
                <a:solidFill>
                  <a:srgbClr val="000F78"/>
                </a:solidFill>
                <a:latin typeface="Arial"/>
                <a:ea typeface="Arial"/>
              </a:rPr>
              <a:t>00.Index</a:t>
            </a: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DC018A6-938B-EC91-B461-ECC4FC5AB921}"/>
              </a:ext>
            </a:extLst>
          </p:cNvPr>
          <p:cNvGrpSpPr/>
          <p:nvPr/>
        </p:nvGrpSpPr>
        <p:grpSpPr>
          <a:xfrm>
            <a:off x="966349" y="5236654"/>
            <a:ext cx="7285338" cy="550196"/>
            <a:chOff x="966349" y="4068137"/>
            <a:chExt cx="7285338" cy="550196"/>
          </a:xfrm>
        </p:grpSpPr>
        <p:grpSp>
          <p:nvGrpSpPr>
            <p:cNvPr id="36" name="Google Shape;56;p2">
              <a:extLst>
                <a:ext uri="{FF2B5EF4-FFF2-40B4-BE49-F238E27FC236}">
                  <a16:creationId xmlns:a16="http://schemas.microsoft.com/office/drawing/2014/main" id="{5146E329-5D15-89A8-7307-A1210A1C8CF0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38" name="Google Shape;57;p2">
                <a:extLst>
                  <a:ext uri="{FF2B5EF4-FFF2-40B4-BE49-F238E27FC236}">
                    <a16:creationId xmlns:a16="http://schemas.microsoft.com/office/drawing/2014/main" id="{E91C60B3-D8A8-F794-9389-307482A4BA2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58;p2">
                <a:extLst>
                  <a:ext uri="{FF2B5EF4-FFF2-40B4-BE49-F238E27FC236}">
                    <a16:creationId xmlns:a16="http://schemas.microsoft.com/office/drawing/2014/main" id="{3F18BB21-9800-9FEB-1845-2556CAE0798D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dirty="0">
                    <a:solidFill>
                      <a:schemeClr val="lt1"/>
                    </a:solidFill>
                    <a:latin typeface="Arial"/>
                    <a:ea typeface="Arial"/>
                  </a:rPr>
                  <a:t>6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68;p2">
              <a:extLst>
                <a:ext uri="{FF2B5EF4-FFF2-40B4-BE49-F238E27FC236}">
                  <a16:creationId xmlns:a16="http://schemas.microsoft.com/office/drawing/2014/main" id="{E5BCE9F3-880C-CC50-7FF6-6717695A2EE5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考察と今後の展望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57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>
                <a:latin typeface="Arial"/>
                <a:ea typeface="Arial"/>
              </a:rPr>
              <a:t>01.</a:t>
            </a:r>
            <a:r>
              <a:rPr kumimoji="1" lang="ja-JP" altLang="en-US" sz="1400" b="1" dirty="0">
                <a:latin typeface="Arial"/>
                <a:ea typeface="Arial"/>
              </a:rPr>
              <a:t>研究背景</a:t>
            </a:r>
            <a:br>
              <a:rPr kumimoji="1" lang="en-US" altLang="ja-JP" b="1" dirty="0"/>
            </a:br>
            <a:r>
              <a:rPr kumimoji="1" lang="en-US" altLang="ja-JP" b="1" dirty="0">
                <a:latin typeface="Arial"/>
                <a:ea typeface="Arial"/>
              </a:rPr>
              <a:t>1-1.</a:t>
            </a:r>
            <a:r>
              <a:rPr kumimoji="1" lang="ja-JP" altLang="en-US" b="1" dirty="0">
                <a:latin typeface="Arial"/>
                <a:ea typeface="Arial"/>
              </a:rPr>
              <a:t>位相ノイズとは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4" y="906114"/>
            <a:ext cx="9127246" cy="2428807"/>
          </a:xfrm>
        </p:spPr>
        <p:txBody>
          <a:bodyPr/>
          <a:lstStyle/>
          <a:p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ジッ</a:t>
            </a:r>
            <a:r>
              <a:rPr kumimoji="1" lang="ja-JP" altLang="en-US" sz="2000" dirty="0">
                <a:latin typeface="Arial"/>
                <a:ea typeface="Arial"/>
              </a:rPr>
              <a:t>タ</a:t>
            </a:r>
            <a:r>
              <a:rPr kumimoji="1" lang="en-US" altLang="ja-JP" sz="2000" dirty="0"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とは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時間軸上の誤差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理想的な波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cos(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ωt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に対して、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cos[(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ω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t+j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(t))]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となるときの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j(t)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に相当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ジッ</a:t>
            </a:r>
            <a:r>
              <a:rPr kumimoji="1" lang="ja-JP" altLang="en-US" sz="2000" dirty="0">
                <a:latin typeface="Arial"/>
                <a:ea typeface="Arial"/>
              </a:rPr>
              <a:t>タ</a:t>
            </a:r>
            <a:r>
              <a:rPr kumimoji="1" lang="en-US" altLang="ja-JP" sz="2000" dirty="0"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の表現方法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en-US" altLang="ja-JP" sz="1663" dirty="0">
                <a:solidFill>
                  <a:schemeClr val="tx1"/>
                </a:solidFill>
                <a:latin typeface="Arial"/>
                <a:ea typeface="Arial"/>
              </a:rPr>
              <a:t>j(t)</a:t>
            </a:r>
            <a:r>
              <a:rPr kumimoji="1" lang="ja-JP" altLang="en-US" sz="1663" dirty="0">
                <a:solidFill>
                  <a:schemeClr val="tx1"/>
                </a:solidFill>
                <a:latin typeface="Arial"/>
                <a:ea typeface="Arial"/>
              </a:rPr>
              <a:t>では表現しづらいため、一般的には周波数ドメイン</a:t>
            </a:r>
            <a:r>
              <a:rPr kumimoji="1" lang="en-US" altLang="ja-JP" sz="1663" dirty="0">
                <a:solidFill>
                  <a:schemeClr val="tx1"/>
                </a:solidFill>
                <a:latin typeface="Arial"/>
                <a:ea typeface="Arial"/>
              </a:rPr>
              <a:t>L(f)</a:t>
            </a:r>
            <a:r>
              <a:rPr kumimoji="1" lang="ja-JP" altLang="en-US" sz="1663" dirty="0">
                <a:solidFill>
                  <a:schemeClr val="tx1"/>
                </a:solidFill>
                <a:latin typeface="Arial"/>
                <a:ea typeface="Arial"/>
              </a:rPr>
              <a:t>：パワースペクトル密度で表現する</a:t>
            </a:r>
            <a:endParaRPr kumimoji="1" lang="en-US" altLang="ja-JP" sz="1663" dirty="0">
              <a:solidFill>
                <a:schemeClr val="tx1"/>
              </a:solidFill>
            </a:endParaRPr>
          </a:p>
          <a:p>
            <a:pPr lvl="1"/>
            <a:endParaRPr kumimoji="1" lang="ja-JP" altLang="en-US" sz="1663" dirty="0">
              <a:solidFill>
                <a:schemeClr val="tx1"/>
              </a:solidFill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7325878-10B4-AE98-C9B2-C2C361BF47E5}"/>
              </a:ext>
            </a:extLst>
          </p:cNvPr>
          <p:cNvGrpSpPr/>
          <p:nvPr/>
        </p:nvGrpSpPr>
        <p:grpSpPr>
          <a:xfrm>
            <a:off x="151265" y="2905001"/>
            <a:ext cx="8874033" cy="4097608"/>
            <a:chOff x="3985203" y="2194990"/>
            <a:chExt cx="9716719" cy="4407017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A87CA80D-A93E-9252-315C-1700819B5C47}"/>
                </a:ext>
              </a:extLst>
            </p:cNvPr>
            <p:cNvCxnSpPr>
              <a:cxnSpLocks/>
            </p:cNvCxnSpPr>
            <p:nvPr/>
          </p:nvCxnSpPr>
          <p:spPr>
            <a:xfrm>
              <a:off x="4352494" y="5983207"/>
              <a:ext cx="486850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01FC4031-D613-075B-3841-A334562CCCDA}"/>
                </a:ext>
              </a:extLst>
            </p:cNvPr>
            <p:cNvSpPr/>
            <p:nvPr/>
          </p:nvSpPr>
          <p:spPr>
            <a:xfrm>
              <a:off x="4811601" y="2194990"/>
              <a:ext cx="8890321" cy="3669790"/>
            </a:xfrm>
            <a:prstGeom prst="arc">
              <a:avLst>
                <a:gd name="adj1" fmla="val 5542347"/>
                <a:gd name="adj2" fmla="val 10819371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26F5EA9-F751-8131-059D-7FAC257771F2}"/>
                </a:ext>
              </a:extLst>
            </p:cNvPr>
            <p:cNvSpPr txBox="1"/>
            <p:nvPr/>
          </p:nvSpPr>
          <p:spPr>
            <a:xfrm>
              <a:off x="3985203" y="6270990"/>
              <a:ext cx="1840676" cy="33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3BA5A30-61DE-78DC-B0E6-C852F6186F6B}"/>
                </a:ext>
              </a:extLst>
            </p:cNvPr>
            <p:cNvCxnSpPr>
              <a:cxnSpLocks/>
            </p:cNvCxnSpPr>
            <p:nvPr/>
          </p:nvCxnSpPr>
          <p:spPr>
            <a:xfrm>
              <a:off x="5437676" y="4948132"/>
              <a:ext cx="0" cy="10350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3D42A21-E820-0CB2-DC28-98D43D99AA4A}"/>
                </a:ext>
              </a:extLst>
            </p:cNvPr>
            <p:cNvCxnSpPr>
              <a:cxnSpLocks/>
            </p:cNvCxnSpPr>
            <p:nvPr/>
          </p:nvCxnSpPr>
          <p:spPr>
            <a:xfrm>
              <a:off x="6599479" y="5506902"/>
              <a:ext cx="0" cy="4763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478CD42-AEE4-D8DC-47D7-31DC988AAE8B}"/>
                </a:ext>
              </a:extLst>
            </p:cNvPr>
            <p:cNvSpPr txBox="1"/>
            <p:nvPr/>
          </p:nvSpPr>
          <p:spPr>
            <a:xfrm>
              <a:off x="8077343" y="6001760"/>
              <a:ext cx="14183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Offset</a:t>
              </a:r>
              <a:r>
                <a:rPr kumimoji="1" lang="ja-JP" altLang="en-US">
                  <a:latin typeface="Arial"/>
                  <a:ea typeface="Arial"/>
                </a:rPr>
                <a:t>周波数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C93D636-95A6-7751-33E6-ED856E456386}"/>
                </a:ext>
              </a:extLst>
            </p:cNvPr>
            <p:cNvSpPr txBox="1"/>
            <p:nvPr/>
          </p:nvSpPr>
          <p:spPr>
            <a:xfrm>
              <a:off x="5039712" y="5986381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f1</a:t>
              </a:r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E090944-7D41-859F-A440-D62C5EE93056}"/>
                </a:ext>
              </a:extLst>
            </p:cNvPr>
            <p:cNvSpPr txBox="1"/>
            <p:nvPr/>
          </p:nvSpPr>
          <p:spPr>
            <a:xfrm>
              <a:off x="6197595" y="5988636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f2</a:t>
              </a:r>
              <a:endParaRPr kumimoji="1" lang="ja-JP" altLang="en-US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53B8278C-4A35-4C41-EFA9-72EF926E504E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405530"/>
              <a:ext cx="6605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183B514-577F-87A9-ACB0-3F7B38449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7775" y="5044849"/>
              <a:ext cx="903372" cy="451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580A410-4EF3-729A-0557-0B85C2D17955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781315"/>
              <a:ext cx="18212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9E27914-B388-4161-65A9-A7BFCDFE4D56}"/>
                </a:ext>
              </a:extLst>
            </p:cNvPr>
            <p:cNvCxnSpPr/>
            <p:nvPr/>
          </p:nvCxnSpPr>
          <p:spPr>
            <a:xfrm flipV="1">
              <a:off x="4777147" y="3632200"/>
              <a:ext cx="0" cy="261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EB72B0E-690E-3433-5339-14EA1CE4F3BB}"/>
                </a:ext>
              </a:extLst>
            </p:cNvPr>
            <p:cNvSpPr txBox="1"/>
            <p:nvPr/>
          </p:nvSpPr>
          <p:spPr>
            <a:xfrm>
              <a:off x="4837056" y="3478311"/>
              <a:ext cx="86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Arial"/>
                  <a:ea typeface="Arial"/>
                </a:rPr>
                <a:t>L(f) </a:t>
              </a:r>
              <a:r>
                <a:rPr kumimoji="1" lang="en-US" altLang="ja-JP" dirty="0" err="1">
                  <a:latin typeface="Arial"/>
                  <a:ea typeface="Arial"/>
                </a:rPr>
                <a:t>dBc</a:t>
              </a:r>
              <a:r>
                <a:rPr kumimoji="1" lang="en-US" altLang="ja-JP" dirty="0">
                  <a:latin typeface="Arial"/>
                  <a:ea typeface="Arial"/>
                </a:rPr>
                <a:t>/Hz</a:t>
              </a:r>
              <a:endParaRPr kumimoji="1" lang="ja-JP" altLang="en-US"/>
            </a:p>
          </p:txBody>
        </p:sp>
      </p:grpSp>
      <p:pic>
        <p:nvPicPr>
          <p:cNvPr id="62" name="図 61">
            <a:extLst>
              <a:ext uri="{FF2B5EF4-FFF2-40B4-BE49-F238E27FC236}">
                <a16:creationId xmlns:a16="http://schemas.microsoft.com/office/drawing/2014/main" id="{916ED799-CAF8-F4B3-828F-59176BCF7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620" y="3904365"/>
            <a:ext cx="4278405" cy="220168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86061A11-EC5A-FDCC-D25A-4038E87F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530" y="4151219"/>
            <a:ext cx="1814277" cy="41440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79100334-29CB-0FFD-DBA3-CE530FD52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530" y="4571147"/>
            <a:ext cx="3531164" cy="449620"/>
          </a:xfrm>
          <a:prstGeom prst="rect">
            <a:avLst/>
          </a:prstGeom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AC923F3-F872-D659-BA62-7C910AEBF082}"/>
              </a:ext>
            </a:extLst>
          </p:cNvPr>
          <p:cNvSpPr txBox="1"/>
          <p:nvPr/>
        </p:nvSpPr>
        <p:spPr>
          <a:xfrm>
            <a:off x="5181393" y="5186614"/>
            <a:ext cx="453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latin typeface="Arial"/>
                <a:ea typeface="Arial"/>
              </a:rPr>
              <a:t>Offeset</a:t>
            </a:r>
            <a:r>
              <a:rPr kumimoji="1" lang="ja-JP" altLang="en-US">
                <a:latin typeface="Arial"/>
                <a:ea typeface="Arial"/>
              </a:rPr>
              <a:t>周波数が</a:t>
            </a:r>
            <a:r>
              <a:rPr kumimoji="1" lang="en-US" altLang="ja-JP" dirty="0">
                <a:latin typeface="Arial"/>
                <a:ea typeface="Arial"/>
              </a:rPr>
              <a:t>f1~f2</a:t>
            </a:r>
            <a:r>
              <a:rPr kumimoji="1" lang="ja-JP" altLang="en-US">
                <a:latin typeface="Arial"/>
                <a:ea typeface="Arial"/>
              </a:rPr>
              <a:t>の区間の位相ノイズ</a:t>
            </a:r>
            <a:r>
              <a:rPr kumimoji="1" lang="en-US" altLang="ja-JP" dirty="0">
                <a:latin typeface="Arial"/>
                <a:ea typeface="Arial"/>
              </a:rPr>
              <a:t>(</a:t>
            </a:r>
            <a:r>
              <a:rPr kumimoji="1" lang="ja-JP" altLang="en-US">
                <a:latin typeface="Arial"/>
                <a:ea typeface="Arial"/>
              </a:rPr>
              <a:t>ジッタ</a:t>
            </a:r>
            <a:r>
              <a:rPr kumimoji="1" lang="en-US" altLang="ja-JP" dirty="0">
                <a:latin typeface="Arial"/>
                <a:ea typeface="Arial"/>
              </a:rPr>
              <a:t>)</a:t>
            </a:r>
            <a:r>
              <a:rPr kumimoji="1" lang="ja-JP" altLang="en-US">
                <a:latin typeface="Arial"/>
                <a:ea typeface="Arial"/>
              </a:rPr>
              <a:t>の</a:t>
            </a:r>
            <a:r>
              <a:rPr kumimoji="1" lang="en-US" altLang="ja-JP" dirty="0">
                <a:latin typeface="Arial"/>
                <a:ea typeface="Arial"/>
              </a:rPr>
              <a:t>RMS</a:t>
            </a:r>
            <a:r>
              <a:rPr kumimoji="1" lang="ja-JP" altLang="en-US">
                <a:latin typeface="Arial"/>
                <a:ea typeface="Arial"/>
              </a:rPr>
              <a:t>は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735FEB5-A6C1-E808-6317-94EF27DFF27B}"/>
              </a:ext>
            </a:extLst>
          </p:cNvPr>
          <p:cNvSpPr txBox="1"/>
          <p:nvPr/>
        </p:nvSpPr>
        <p:spPr>
          <a:xfrm>
            <a:off x="5167651" y="3523080"/>
            <a:ext cx="453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Arial"/>
                <a:ea typeface="Arial"/>
              </a:rPr>
              <a:t>位相ノイズが存在する信号に対して</a:t>
            </a: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4966CD35-22E0-3AA2-E340-750964D9B5FA}"/>
              </a:ext>
            </a:extLst>
          </p:cNvPr>
          <p:cNvGrpSpPr/>
          <p:nvPr/>
        </p:nvGrpSpPr>
        <p:grpSpPr>
          <a:xfrm>
            <a:off x="5620477" y="5758114"/>
            <a:ext cx="3919641" cy="868917"/>
            <a:chOff x="5669798" y="5316066"/>
            <a:chExt cx="3919641" cy="868917"/>
          </a:xfrm>
        </p:grpSpPr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299064D2-5B71-6CAE-8C8C-3423B95B4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4814" y="5405783"/>
              <a:ext cx="3608918" cy="689483"/>
            </a:xfrm>
            <a:prstGeom prst="rect">
              <a:avLst/>
            </a:prstGeom>
          </p:spPr>
        </p:pic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B2BA677E-F75E-C29F-40AE-9511BE7542A9}"/>
                </a:ext>
              </a:extLst>
            </p:cNvPr>
            <p:cNvSpPr/>
            <p:nvPr/>
          </p:nvSpPr>
          <p:spPr>
            <a:xfrm>
              <a:off x="5669798" y="5316066"/>
              <a:ext cx="3919641" cy="868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A2EF888-AF51-42BD-DD14-33F5E4212068}"/>
              </a:ext>
            </a:extLst>
          </p:cNvPr>
          <p:cNvSpPr txBox="1"/>
          <p:nvPr/>
        </p:nvSpPr>
        <p:spPr>
          <a:xfrm>
            <a:off x="2851026" y="5095518"/>
            <a:ext cx="1661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Arial"/>
                <a:ea typeface="Arial"/>
              </a:rPr>
              <a:t>この面積が</a:t>
            </a:r>
            <a:endParaRPr kumimoji="1" lang="en-US" altLang="ja-JP" dirty="0"/>
          </a:p>
          <a:p>
            <a:r>
              <a:rPr kumimoji="1" lang="en-US" altLang="ja-JP" dirty="0">
                <a:latin typeface="Arial"/>
                <a:ea typeface="Arial"/>
              </a:rPr>
              <a:t>f1~f2(Hz)</a:t>
            </a:r>
            <a:r>
              <a:rPr kumimoji="1" lang="ja-JP" altLang="en-US">
                <a:latin typeface="Arial"/>
                <a:ea typeface="Arial"/>
              </a:rPr>
              <a:t>における位相ノイズの</a:t>
            </a:r>
            <a:r>
              <a:rPr kumimoji="1" lang="en-US" altLang="ja-JP" dirty="0">
                <a:latin typeface="Arial"/>
                <a:ea typeface="Arial"/>
              </a:rPr>
              <a:t>RMS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95C08-8BEE-1A31-ED96-7CE559B15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26" y="3485080"/>
            <a:ext cx="4282985" cy="4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01.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研究背景</a:t>
            </a:r>
            <a:endParaRPr sz="1400" b="1" dirty="0">
              <a:solidFill>
                <a:srgbClr val="000F78"/>
              </a:solidFill>
              <a:latin typeface="Yu Gothic"/>
              <a:ea typeface="Yu Gothic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1-2.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基準信号の純度と現状</a:t>
            </a:r>
            <a:endParaRPr b="1" dirty="0">
              <a:solidFill>
                <a:srgbClr val="000F78"/>
              </a:solidFill>
              <a:latin typeface="Yu Gothic"/>
              <a:ea typeface="Yu Gothic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65" y="1986279"/>
            <a:ext cx="7486593" cy="4121040"/>
          </a:xfrm>
          <a:prstGeom prst="rect">
            <a:avLst/>
          </a:prstGeom>
        </p:spPr>
      </p:pic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6397270-59F0-9E44-6A0E-6658F3D67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06114"/>
            <a:ext cx="9590875" cy="969263"/>
          </a:xfrm>
        </p:spPr>
        <p:txBody>
          <a:bodyPr/>
          <a:lstStyle/>
          <a:p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通信・測位・計測は基準正弦波の位相雑音に支えられる。原子時計・水素メーザーは高純度だが高価で日単位の計測が必要、</a:t>
            </a:r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OCXO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は安価で数秒</a:t>
            </a:r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〜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数分の安定に優れるが単体に限界。</a:t>
            </a:r>
            <a:endParaRPr lang="ja-JP" altLang="en-US" dirty="0">
              <a:latin typeface="Yu Gothic"/>
              <a:ea typeface="Yu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02. 本研究の目標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安価なOCXOで可能な限り高純度な基準信号源を実現</a:t>
            </a:r>
            <a:r>
              <a:rPr lang="ja-JP" altLang="en-US" b="1" dirty="0">
                <a:solidFill>
                  <a:srgbClr val="1B2A5A"/>
                </a:solidFill>
              </a:rPr>
              <a:t>し、</a:t>
            </a:r>
            <a:r>
              <a:rPr lang="en-US" altLang="ja-JP" b="1" dirty="0">
                <a:solidFill>
                  <a:srgbClr val="1B2A5A"/>
                </a:solidFill>
              </a:rPr>
              <a:t>0.1-1Hz</a:t>
            </a:r>
            <a:r>
              <a:rPr lang="ja-JP" altLang="en-US" b="1" dirty="0">
                <a:solidFill>
                  <a:srgbClr val="1B2A5A"/>
                </a:solidFill>
              </a:rPr>
              <a:t>での位相ノイズ測定を実現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することを目標とする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</a:p>
          <a:p>
            <a:pPr lvl="1"/>
            <a:r>
              <a:rPr dirty="0" err="1">
                <a:latin typeface="Arial"/>
                <a:ea typeface="Arial"/>
              </a:rPr>
              <a:t>究極的な目標：安価な水晶発振器（OCXO）で高純度な基準信号源を実現</a:t>
            </a:r>
            <a:endParaRPr dirty="0">
              <a:latin typeface="Arial"/>
              <a:ea typeface="Arial"/>
            </a:endParaRPr>
          </a:p>
          <a:p>
            <a:pPr lvl="1"/>
            <a:r>
              <a:rPr dirty="0">
                <a:latin typeface="Arial"/>
                <a:ea typeface="Arial"/>
              </a:rPr>
              <a:t>アプローチ：複数OCXOを同期させ、1台では実現できない純度での計測を可能にする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701A711-972D-9916-5160-05066857D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10" y="2552756"/>
            <a:ext cx="6630628" cy="364986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D50DD32-78AD-194A-2282-9D9904666D64}"/>
              </a:ext>
            </a:extLst>
          </p:cNvPr>
          <p:cNvSpPr/>
          <p:nvPr/>
        </p:nvSpPr>
        <p:spPr>
          <a:xfrm>
            <a:off x="2045970" y="2468880"/>
            <a:ext cx="662940" cy="3733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03.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先行研究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3-1.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同期・平均による位相雑音の改善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原理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472184"/>
          </a:xfrm>
        </p:spPr>
        <p:txBody>
          <a:bodyPr wrap="square"/>
          <a:lstStyle/>
          <a:p>
            <a:r>
              <a:rPr b="1">
                <a:solidFill>
                  <a:srgbClr val="1B2A5A"/>
                </a:solidFill>
                <a:latin typeface="Arial"/>
                <a:ea typeface="Arial"/>
              </a:rPr>
              <a:t>互いに無相関な雑音は平均で打ち消し合うため、位相を揃えた複数OCXOの出力を平均すると単体を超える純度になる。</a:t>
            </a:r>
          </a:p>
          <a:p>
            <a:pPr lvl="1"/>
            <a:r>
              <a:rPr>
                <a:latin typeface="Arial"/>
                <a:ea typeface="Arial"/>
              </a:rPr>
              <a:t>無相関な雑音は平均すると電力が台数分の1（2台で 1/2）になり、近傍位相雑音が −3 dB 改善する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7" y="2929814"/>
            <a:ext cx="2718281" cy="2389161"/>
          </a:xfrm>
          <a:prstGeom prst="rect">
            <a:avLst/>
          </a:prstGeom>
        </p:spPr>
      </p:pic>
      <p:pic>
        <p:nvPicPr>
          <p:cNvPr id="5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278" y="2354708"/>
            <a:ext cx="6719922" cy="3913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1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実験系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876539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OCXO2台に対し、位相差FRFRをターゲットとしてオシロスコープで計測。計測結果を基に片方のOCXOへフィードバック電圧を印加する。</a:t>
            </a:r>
            <a:endParaRPr dirty="0">
              <a:latin typeface="Arial"/>
              <a:ea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B4D475-FEC0-D141-EB98-8F8357F26004}"/>
              </a:ext>
            </a:extLst>
          </p:cNvPr>
          <p:cNvSpPr/>
          <p:nvPr/>
        </p:nvSpPr>
        <p:spPr>
          <a:xfrm>
            <a:off x="425003" y="2358261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KIKUSUI</a:t>
            </a:r>
            <a:br>
              <a:rPr kumimoji="1" lang="en-US" altLang="ja-JP" dirty="0"/>
            </a:br>
            <a:r>
              <a:rPr kumimoji="1" lang="en-US" altLang="ja-JP" dirty="0"/>
              <a:t>7.54V</a:t>
            </a:r>
          </a:p>
          <a:p>
            <a:pPr algn="ctr"/>
            <a:r>
              <a:rPr kumimoji="1" lang="en-US" altLang="ja-JP" dirty="0"/>
              <a:t>0.19A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308EFD-6798-EE51-2175-30D5A9DCCD2D}"/>
              </a:ext>
            </a:extLst>
          </p:cNvPr>
          <p:cNvSpPr/>
          <p:nvPr/>
        </p:nvSpPr>
        <p:spPr>
          <a:xfrm>
            <a:off x="2612694" y="2358260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OCXO</a:t>
            </a:r>
          </a:p>
          <a:p>
            <a:pPr algn="ctr"/>
            <a:r>
              <a:rPr kumimoji="1" lang="en-US" altLang="ja-JP" dirty="0"/>
              <a:t>F1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65712B-70B8-A811-2639-31C93F61E6C3}"/>
              </a:ext>
            </a:extLst>
          </p:cNvPr>
          <p:cNvSpPr/>
          <p:nvPr/>
        </p:nvSpPr>
        <p:spPr>
          <a:xfrm>
            <a:off x="4800385" y="2358260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PIC1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00F7E5-3C39-270C-FF22-AE73DD95BADC}"/>
              </a:ext>
            </a:extLst>
          </p:cNvPr>
          <p:cNvSpPr/>
          <p:nvPr/>
        </p:nvSpPr>
        <p:spPr>
          <a:xfrm>
            <a:off x="7873489" y="3179547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TASCAM</a:t>
            </a:r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D1A4AFF-E8B5-ADDA-6AA4-6A1ECDDB781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047741" y="2854097"/>
            <a:ext cx="564953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B0A7-A6D8-80C9-0C08-04D48EB371D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235432" y="2854097"/>
            <a:ext cx="56495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131CDBB-47CF-F27E-78E0-1A103F66C0A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7321919" y="3675384"/>
            <a:ext cx="55157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2A0921F-7A7B-B667-60D8-6A31F6139E09}"/>
              </a:ext>
            </a:extLst>
          </p:cNvPr>
          <p:cNvSpPr/>
          <p:nvPr/>
        </p:nvSpPr>
        <p:spPr>
          <a:xfrm>
            <a:off x="425003" y="4000835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KIKUSUI</a:t>
            </a:r>
            <a:br>
              <a:rPr kumimoji="1" lang="en-US" altLang="ja-JP" dirty="0"/>
            </a:br>
            <a:r>
              <a:rPr kumimoji="1" lang="en-US" altLang="ja-JP" dirty="0"/>
              <a:t>5.06V</a:t>
            </a:r>
          </a:p>
          <a:p>
            <a:pPr algn="ctr"/>
            <a:r>
              <a:rPr kumimoji="1" lang="en-US" altLang="ja-JP" dirty="0"/>
              <a:t>0.24A</a:t>
            </a:r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F441E8A-F446-7172-0F6C-75683941B7BA}"/>
              </a:ext>
            </a:extLst>
          </p:cNvPr>
          <p:cNvSpPr/>
          <p:nvPr/>
        </p:nvSpPr>
        <p:spPr>
          <a:xfrm>
            <a:off x="2612694" y="4000834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OCXO</a:t>
            </a:r>
          </a:p>
          <a:p>
            <a:pPr algn="ctr"/>
            <a:r>
              <a:rPr kumimoji="1" lang="en-US" altLang="ja-JP" dirty="0"/>
              <a:t>F2</a:t>
            </a:r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F57625B-E1BC-4CA8-0D02-37A9E1C57F42}"/>
              </a:ext>
            </a:extLst>
          </p:cNvPr>
          <p:cNvSpPr/>
          <p:nvPr/>
        </p:nvSpPr>
        <p:spPr>
          <a:xfrm>
            <a:off x="4800385" y="4000834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PIC2</a:t>
            </a:r>
            <a:endParaRPr kumimoji="1" lang="ja-JP" altLang="en-US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86E6675-7451-DDE9-9D8B-5575F833DFC1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2047741" y="4496671"/>
            <a:ext cx="564953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58195FB-2E42-7097-F735-7C6B10EBB0BD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4235432" y="4496671"/>
            <a:ext cx="56495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AFBA4B9-2648-93F4-DD1F-E3291BBD193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423123" y="2854097"/>
            <a:ext cx="693294" cy="673622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6EDE228B-CA5E-5B59-5A0B-710D94FA463E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6423123" y="3894452"/>
            <a:ext cx="693294" cy="602219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CE4BE48-911B-AD27-7315-14A2D379986F}"/>
              </a:ext>
            </a:extLst>
          </p:cNvPr>
          <p:cNvSpPr/>
          <p:nvPr/>
        </p:nvSpPr>
        <p:spPr>
          <a:xfrm>
            <a:off x="7008533" y="3349934"/>
            <a:ext cx="313386" cy="650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L</a:t>
            </a:r>
          </a:p>
          <a:p>
            <a:pPr algn="ctr"/>
            <a:r>
              <a:rPr kumimoji="1" lang="en-US" altLang="ja-JP" dirty="0"/>
              <a:t>R</a:t>
            </a:r>
            <a:endParaRPr kumimoji="1" lang="ja-JP" altLang="en-US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5B8F234-DFFB-2AAE-672B-9EE93D78A5FF}"/>
              </a:ext>
            </a:extLst>
          </p:cNvPr>
          <p:cNvSpPr/>
          <p:nvPr/>
        </p:nvSpPr>
        <p:spPr>
          <a:xfrm>
            <a:off x="6101606" y="5374378"/>
            <a:ext cx="115073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SIGLENT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ABFFBBC-DF02-C6A0-019D-C2AD73CD7F2A}"/>
              </a:ext>
            </a:extLst>
          </p:cNvPr>
          <p:cNvCxnSpPr>
            <a:cxnSpLocks/>
          </p:cNvCxnSpPr>
          <p:nvPr/>
        </p:nvCxnSpPr>
        <p:spPr>
          <a:xfrm>
            <a:off x="6676976" y="2873749"/>
            <a:ext cx="0" cy="25006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9F5A5923-F960-537A-FE3A-0C549E7FA179}"/>
              </a:ext>
            </a:extLst>
          </p:cNvPr>
          <p:cNvCxnSpPr>
            <a:cxnSpLocks/>
          </p:cNvCxnSpPr>
          <p:nvPr/>
        </p:nvCxnSpPr>
        <p:spPr>
          <a:xfrm>
            <a:off x="6551080" y="4496671"/>
            <a:ext cx="0" cy="87770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415AE24-7109-E992-051B-D92C6811BC37}"/>
              </a:ext>
            </a:extLst>
          </p:cNvPr>
          <p:cNvSpPr/>
          <p:nvPr/>
        </p:nvSpPr>
        <p:spPr>
          <a:xfrm>
            <a:off x="5087111" y="5374377"/>
            <a:ext cx="72776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FB</a:t>
            </a:r>
          </a:p>
          <a:p>
            <a:pPr algn="ctr"/>
            <a:r>
              <a:rPr kumimoji="1" lang="ja-JP" altLang="en-US" dirty="0"/>
              <a:t>制御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9675660-B371-2219-4791-276D349372AE}"/>
              </a:ext>
            </a:extLst>
          </p:cNvPr>
          <p:cNvSpPr/>
          <p:nvPr/>
        </p:nvSpPr>
        <p:spPr>
          <a:xfrm>
            <a:off x="4072616" y="5387253"/>
            <a:ext cx="72776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NI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5BF876E-E4B6-C171-6897-C772E99B4FB9}"/>
              </a:ext>
            </a:extLst>
          </p:cNvPr>
          <p:cNvCxnSpPr>
            <a:cxnSpLocks/>
            <a:stCxn id="43" idx="3"/>
            <a:endCxn id="38" idx="1"/>
          </p:cNvCxnSpPr>
          <p:nvPr/>
        </p:nvCxnSpPr>
        <p:spPr>
          <a:xfrm>
            <a:off x="5814880" y="5643407"/>
            <a:ext cx="286726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1855D12C-CCE1-6B62-EC61-6997AF892EC5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 flipV="1">
            <a:off x="4800385" y="5643407"/>
            <a:ext cx="286726" cy="1287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2C12AC0-5503-6545-2797-97B315567D81}"/>
              </a:ext>
            </a:extLst>
          </p:cNvPr>
          <p:cNvCxnSpPr>
            <a:cxnSpLocks/>
            <a:stCxn id="44" idx="1"/>
            <a:endCxn id="24" idx="2"/>
          </p:cNvCxnSpPr>
          <p:nvPr/>
        </p:nvCxnSpPr>
        <p:spPr>
          <a:xfrm rot="10800000">
            <a:off x="3424064" y="4992507"/>
            <a:ext cx="648553" cy="663776"/>
          </a:xfrm>
          <a:prstGeom prst="bentConnector2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4E3AE74-DE72-E04B-7DD7-80139974F851}"/>
              </a:ext>
            </a:extLst>
          </p:cNvPr>
          <p:cNvSpPr txBox="1"/>
          <p:nvPr/>
        </p:nvSpPr>
        <p:spPr>
          <a:xfrm>
            <a:off x="4815516" y="1953578"/>
            <a:ext cx="1622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10MHz</a:t>
            </a:r>
            <a:r>
              <a:rPr kumimoji="1" lang="ja-JP" altLang="en-US" dirty="0"/>
              <a:t>→</a:t>
            </a:r>
            <a:r>
              <a:rPr kumimoji="1" lang="en-US" altLang="ja-JP" dirty="0"/>
              <a:t>48kHz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D5DC596-5B58-1E30-7804-DC0F2D4458B5}"/>
              </a:ext>
            </a:extLst>
          </p:cNvPr>
          <p:cNvSpPr txBox="1"/>
          <p:nvPr/>
        </p:nvSpPr>
        <p:spPr>
          <a:xfrm>
            <a:off x="4800385" y="3618962"/>
            <a:ext cx="1622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10MHz</a:t>
            </a:r>
            <a:r>
              <a:rPr kumimoji="1" lang="ja-JP" altLang="en-US" dirty="0"/>
              <a:t>→</a:t>
            </a:r>
            <a:r>
              <a:rPr kumimoji="1" lang="en-US" altLang="ja-JP" dirty="0"/>
              <a:t>48kHz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2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測定法：オーディオレコーダを使う理由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オーディオレコーディングは高分解能（10秒測定で std 20–30 ps）かつ長時間測定が可能で、0.1–1 Hz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の評価に向いている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  <a:endParaRPr b="1" dirty="0">
              <a:solidFill>
                <a:srgbClr val="1B2A5A"/>
              </a:solidFill>
              <a:latin typeface="Arial"/>
              <a:ea typeface="Arial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743FFDF0-7939-69C6-101F-4FD83094F5E2}"/>
              </a:ext>
            </a:extLst>
          </p:cNvPr>
          <p:cNvSpPr txBox="1">
            <a:spLocks/>
          </p:cNvSpPr>
          <p:nvPr/>
        </p:nvSpPr>
        <p:spPr>
          <a:xfrm>
            <a:off x="274320" y="2515110"/>
            <a:ext cx="9049008" cy="1461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1787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lt2"/>
              </a:buClr>
              <a:buSzPts val="1625"/>
              <a:buFont typeface="Noto Sans Symbols"/>
              <a:buChar char="■"/>
              <a:defRPr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150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chemeClr val="lt2"/>
              </a:buClr>
              <a:buSzPts val="1463"/>
              <a:buFont typeface="Noto Sans Symbols"/>
              <a:buChar char="●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▪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863" algn="l" rtl="0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38"/>
              <a:buFont typeface="Arial"/>
              <a:buChar char="▪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0512" algn="l" rtl="0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ja-JP" altLang="en-US" dirty="0"/>
              <a:t>なぜオシロスコープでは、下限</a:t>
            </a:r>
            <a:r>
              <a:rPr kumimoji="1" lang="en-US" altLang="ja-JP" dirty="0"/>
              <a:t>0.1Hz</a:t>
            </a:r>
            <a:r>
              <a:rPr kumimoji="1" lang="ja-JP" altLang="en-US" dirty="0"/>
              <a:t>の測定が行えないか。</a:t>
            </a:r>
            <a:endParaRPr kumimoji="1" lang="en-US" altLang="ja-JP" dirty="0"/>
          </a:p>
          <a:p>
            <a:pPr lvl="1"/>
            <a:r>
              <a:rPr kumimoji="1" lang="en-US" altLang="ja-JP" sz="1637" dirty="0">
                <a:solidFill>
                  <a:schemeClr val="tx1"/>
                </a:solidFill>
              </a:rPr>
              <a:t>DFT</a:t>
            </a:r>
            <a:r>
              <a:rPr kumimoji="1" lang="ja-JP" altLang="en-US" sz="1637" dirty="0">
                <a:solidFill>
                  <a:schemeClr val="tx1"/>
                </a:solidFill>
              </a:rPr>
              <a:t>による解析時に最小周波数単位</a:t>
            </a:r>
            <a:r>
              <a:rPr kumimoji="1" lang="en-US" altLang="ja-JP" sz="1637" dirty="0" err="1">
                <a:solidFill>
                  <a:schemeClr val="tx1"/>
                </a:solidFill>
              </a:rPr>
              <a:t>Δf</a:t>
            </a:r>
            <a:r>
              <a:rPr kumimoji="1" lang="en-US" altLang="ja-JP" sz="1637" dirty="0">
                <a:solidFill>
                  <a:schemeClr val="tx1"/>
                </a:solidFill>
              </a:rPr>
              <a:t>=0.1Hz</a:t>
            </a:r>
            <a:r>
              <a:rPr kumimoji="1" lang="ja-JP" altLang="en-US" sz="1637" dirty="0">
                <a:solidFill>
                  <a:schemeClr val="tx1"/>
                </a:solidFill>
              </a:rPr>
              <a:t>でなければならない。</a:t>
            </a:r>
            <a:endParaRPr kumimoji="1" lang="en-US" altLang="ja-JP" sz="1637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r>
              <a:rPr kumimoji="1" lang="en-US" altLang="ja-JP" sz="1637" dirty="0">
                <a:solidFill>
                  <a:schemeClr val="tx1"/>
                </a:solidFill>
              </a:rPr>
              <a:t>      </a:t>
            </a:r>
            <a:r>
              <a:rPr kumimoji="1" lang="ja-JP" altLang="en-US" sz="1637" dirty="0">
                <a:solidFill>
                  <a:schemeClr val="tx1"/>
                </a:solidFill>
              </a:rPr>
              <a:t>→</a:t>
            </a:r>
            <a:r>
              <a:rPr kumimoji="1" lang="en-US" altLang="ja-JP" sz="1637" dirty="0">
                <a:solidFill>
                  <a:schemeClr val="tx1"/>
                </a:solidFill>
              </a:rPr>
              <a:t>10s</a:t>
            </a:r>
            <a:r>
              <a:rPr kumimoji="1" lang="ja-JP" altLang="en-US" sz="1637" dirty="0">
                <a:solidFill>
                  <a:schemeClr val="tx1"/>
                </a:solidFill>
              </a:rPr>
              <a:t>の測定が必要。</a:t>
            </a:r>
            <a:r>
              <a:rPr kumimoji="1" lang="en-US" altLang="ja-JP" sz="1600" dirty="0">
                <a:solidFill>
                  <a:schemeClr val="tx1"/>
                </a:solidFill>
              </a:rPr>
              <a:t>	</a:t>
            </a:r>
            <a:endParaRPr kumimoji="1" lang="en-US" altLang="ja-JP" sz="1637" dirty="0">
              <a:solidFill>
                <a:schemeClr val="tx1"/>
              </a:solidFill>
            </a:endParaRPr>
          </a:p>
          <a:p>
            <a:endParaRPr kumimoji="1" lang="en-US" altLang="ja-JP" sz="2137" dirty="0"/>
          </a:p>
          <a:p>
            <a:pPr marL="592900" lvl="1" indent="0">
              <a:buFont typeface="Noto Sans Symbols"/>
              <a:buNone/>
            </a:pPr>
            <a:r>
              <a:rPr kumimoji="1" lang="en-US" altLang="ja-JP" sz="1800" dirty="0">
                <a:solidFill>
                  <a:schemeClr val="tx1"/>
                </a:solidFill>
              </a:rPr>
              <a:t>	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ED9071B2-E2DC-5E0A-25D9-390051D71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31467"/>
              </p:ext>
            </p:extLst>
          </p:nvPr>
        </p:nvGraphicFramePr>
        <p:xfrm>
          <a:off x="1943112" y="3782403"/>
          <a:ext cx="6474460" cy="1756400"/>
        </p:xfrm>
        <a:graphic>
          <a:graphicData uri="http://schemas.openxmlformats.org/drawingml/2006/table">
            <a:tbl>
              <a:tblPr firstRow="1" bandRow="1">
                <a:tableStyleId>{FFF55246-B984-4F00-A051-4BF160ACBDB1}</a:tableStyleId>
              </a:tblPr>
              <a:tblGrid>
                <a:gridCol w="2158153">
                  <a:extLst>
                    <a:ext uri="{9D8B030D-6E8A-4147-A177-3AD203B41FA5}">
                      <a16:colId xmlns:a16="http://schemas.microsoft.com/office/drawing/2014/main" val="1379942070"/>
                    </a:ext>
                  </a:extLst>
                </a:gridCol>
                <a:gridCol w="2192085">
                  <a:extLst>
                    <a:ext uri="{9D8B030D-6E8A-4147-A177-3AD203B41FA5}">
                      <a16:colId xmlns:a16="http://schemas.microsoft.com/office/drawing/2014/main" val="4021740923"/>
                    </a:ext>
                  </a:extLst>
                </a:gridCol>
                <a:gridCol w="2124222">
                  <a:extLst>
                    <a:ext uri="{9D8B030D-6E8A-4147-A177-3AD203B41FA5}">
                      <a16:colId xmlns:a16="http://schemas.microsoft.com/office/drawing/2014/main" val="1910060141"/>
                    </a:ext>
                  </a:extLst>
                </a:gridCol>
              </a:tblGrid>
              <a:tr h="726786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測定器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サンプルレート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サンプル数</a:t>
                      </a:r>
                      <a:endParaRPr kumimoji="1" lang="en-US" altLang="ja-JP" dirty="0"/>
                    </a:p>
                    <a:p>
                      <a:r>
                        <a:rPr kumimoji="1" lang="ja-JP" altLang="en-US"/>
                        <a:t>（</a:t>
                      </a:r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/>
                        <a:t>秒測定の場合）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43233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Oscilloscope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2.5G</a:t>
                      </a:r>
                      <a:r>
                        <a:rPr kumimoji="1" lang="ja-JP" altLang="en-US"/>
                        <a:t>サンプル</a:t>
                      </a:r>
                      <a:r>
                        <a:rPr kumimoji="1" lang="en-US" altLang="ja-JP" dirty="0"/>
                        <a:t>/s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25G</a:t>
                      </a:r>
                      <a:r>
                        <a:rPr kumimoji="1" lang="ja-JP" altLang="en-US"/>
                        <a:t>サンプル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37629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Audio Recorder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192k</a:t>
                      </a:r>
                      <a:r>
                        <a:rPr kumimoji="1" lang="ja-JP" altLang="en-US"/>
                        <a:t>サンプル</a:t>
                      </a:r>
                      <a:r>
                        <a:rPr kumimoji="1" lang="en-US" altLang="ja-JP" dirty="0"/>
                        <a:t>/s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1.92M</a:t>
                      </a:r>
                      <a:r>
                        <a:rPr kumimoji="1" lang="ja-JP" altLang="en-US"/>
                        <a:t>サンプル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152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</a:rPr>
              <a:t>3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en-US" altLang="ja-JP" b="1" dirty="0">
                <a:solidFill>
                  <a:srgbClr val="000F78"/>
                </a:solidFill>
                <a:latin typeface="Arial"/>
                <a:ea typeface="Arial"/>
              </a:rPr>
              <a:t>OCXO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の同期制御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771875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互いに無相関な雑音は平均で打ち消し合う。位相を揃えた複数OCXOの出力をフィードバックで実時間に同期・平均し</a:t>
            </a:r>
            <a:r>
              <a:rPr lang="ja-JP" altLang="en-US" b="1" dirty="0">
                <a:solidFill>
                  <a:srgbClr val="1B2A5A"/>
                </a:solidFill>
              </a:rPr>
              <a:t>、</a:t>
            </a:r>
            <a:r>
              <a:rPr lang="en-US" altLang="ja-JP" b="1" dirty="0">
                <a:solidFill>
                  <a:srgbClr val="1B2A5A"/>
                </a:solidFill>
              </a:rPr>
              <a:t>OXCO</a:t>
            </a:r>
            <a:r>
              <a:rPr lang="ja-JP" altLang="en-US" b="1" dirty="0">
                <a:solidFill>
                  <a:srgbClr val="1B2A5A"/>
                </a:solidFill>
              </a:rPr>
              <a:t>一台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を超える純度を実現する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  <a:endParaRPr b="1" dirty="0">
              <a:solidFill>
                <a:srgbClr val="1B2A5A"/>
              </a:solidFill>
              <a:latin typeface="Arial"/>
              <a:ea typeface="Arial"/>
            </a:endParaRPr>
          </a:p>
          <a:p>
            <a:pPr lvl="1"/>
            <a:r>
              <a:rPr lang="ja-JP" altLang="en-US" dirty="0">
                <a:latin typeface="Arial"/>
                <a:ea typeface="Arial"/>
              </a:rPr>
              <a:t>力学系における車両追従制御（</a:t>
            </a:r>
            <a:r>
              <a:rPr lang="en-US" altLang="ja-JP" dirty="0">
                <a:latin typeface="Arial"/>
                <a:ea typeface="Arial"/>
              </a:rPr>
              <a:t>ACC</a:t>
            </a:r>
            <a:r>
              <a:rPr lang="ja-JP" altLang="en-US" dirty="0">
                <a:latin typeface="Arial"/>
                <a:ea typeface="Arial"/>
              </a:rPr>
              <a:t>）を本実験における波動系に応用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6" name="図 5" descr="The image illustrates a diagram showing various components of an automated control system, including vehicle distance, speed, oscillation, and control elements like OCXO-1 and OCXO-2, with a focus on phase difference and control voltage.&#10;&#10;AI 生成コンテンツは誤りを含む可能性があります。">
            <a:extLst>
              <a:ext uri="{FF2B5EF4-FFF2-40B4-BE49-F238E27FC236}">
                <a16:creationId xmlns:a16="http://schemas.microsoft.com/office/drawing/2014/main" id="{1BA0518F-A2AD-4737-69B5-0D21DD84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543" y="2529768"/>
            <a:ext cx="6500949" cy="2590872"/>
          </a:xfrm>
          <a:prstGeom prst="rect">
            <a:avLst/>
          </a:prstGeom>
        </p:spPr>
      </p:pic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540B0B4D-43C3-BDDD-A8ED-67E17D674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652254"/>
              </p:ext>
            </p:extLst>
          </p:nvPr>
        </p:nvGraphicFramePr>
        <p:xfrm>
          <a:off x="3371850" y="6332538"/>
          <a:ext cx="27813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パッケージャー シェル オブジェクト" showAsIcon="1" r:id="rId3" imgW="2781229" imgH="517998" progId="Package">
                  <p:embed/>
                </p:oleObj>
              </mc:Choice>
              <mc:Fallback>
                <p:oleObj name="パッケージャー シェル オブジェクト" showAsIcon="1" r:id="rId3" imgW="2781229" imgH="51799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1850" y="6332538"/>
                        <a:ext cx="27813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B907-215E-803C-0B72-6B8E6417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D6EF-6374-2AC3-8489-DF262FB5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4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ja-JP" altLang="en-US" b="1" dirty="0">
                <a:solidFill>
                  <a:srgbClr val="000F78"/>
                </a:solidFill>
              </a:rPr>
              <a:t>状態方程式による制御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06936-9F10-92B8-038E-96B52E85C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771875"/>
          </a:xfrm>
        </p:spPr>
        <p:txBody>
          <a:bodyPr wrap="square"/>
          <a:lstStyle/>
          <a:p>
            <a:r>
              <a:rPr lang="en-US" altLang="ja-JP" dirty="0">
                <a:latin typeface="Arial"/>
                <a:ea typeface="Arial"/>
              </a:rPr>
              <a:t>XX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5" name="図 4" descr="The image depicts a velocity-time graph showing the movement of two vehicles, with Vehicle 1 moving at a constant speed and Vehicle 2 accelerating over time.&#10;&#10;AI 生成コンテンツは誤りを含む可能性があります。">
            <a:extLst>
              <a:ext uri="{FF2B5EF4-FFF2-40B4-BE49-F238E27FC236}">
                <a16:creationId xmlns:a16="http://schemas.microsoft.com/office/drawing/2014/main" id="{57973489-C92E-DF72-0EEA-B48A6A5C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69" y="1743204"/>
            <a:ext cx="3626614" cy="2410234"/>
          </a:xfrm>
          <a:prstGeom prst="rect">
            <a:avLst/>
          </a:prstGeom>
        </p:spPr>
      </p:pic>
      <p:pic>
        <p:nvPicPr>
          <p:cNvPr id="9" name="図 8" descr="The diagram shows the positions of two vehicles, one leading and one following, over time, with their positions marked in meters.&#10;&#10;AI 生成コンテンツは誤りを含む可能性があります。">
            <a:extLst>
              <a:ext uri="{FF2B5EF4-FFF2-40B4-BE49-F238E27FC236}">
                <a16:creationId xmlns:a16="http://schemas.microsoft.com/office/drawing/2014/main" id="{25F5D005-1374-A746-DCE1-A10DB5B69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4153438"/>
            <a:ext cx="3633473" cy="241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6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5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予備実験：フィードバック電圧の感応度同定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フィードバック電圧のLSBを測定し回帰検証することで、フィードバックロジックのパラメータをチューニングした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</a:p>
          <a:p>
            <a:pPr lvl="1"/>
            <a:r>
              <a:rPr dirty="0">
                <a:latin typeface="Arial"/>
                <a:ea typeface="Arial"/>
              </a:rPr>
              <a:t>1 LSB（≈305 µ</a:t>
            </a:r>
            <a:r>
              <a:rPr dirty="0" err="1">
                <a:latin typeface="Arial"/>
                <a:ea typeface="Arial"/>
              </a:rPr>
              <a:t>V）ずつ階段状に電圧を変え、各段の</a:t>
            </a:r>
            <a:r>
              <a:rPr dirty="0">
                <a:latin typeface="Arial"/>
                <a:ea typeface="Arial"/>
              </a:rPr>
              <a:t> FRFR </a:t>
            </a:r>
            <a:r>
              <a:rPr dirty="0" err="1">
                <a:latin typeface="Arial"/>
                <a:ea typeface="Arial"/>
              </a:rPr>
              <a:t>傾きを電圧増分に直線回帰</a:t>
            </a:r>
            <a:endParaRPr dirty="0">
              <a:latin typeface="Arial"/>
              <a:ea typeface="Arial"/>
            </a:endParaRPr>
          </a:p>
          <a:p>
            <a:pPr lvl="1"/>
            <a:r>
              <a:rPr dirty="0">
                <a:latin typeface="Arial"/>
                <a:ea typeface="Arial"/>
              </a:rPr>
              <a:t>→ </a:t>
            </a:r>
            <a:r>
              <a:rPr dirty="0" err="1">
                <a:latin typeface="Arial"/>
                <a:ea typeface="Arial"/>
              </a:rPr>
              <a:t>プラントゲイン</a:t>
            </a:r>
            <a:r>
              <a:rPr dirty="0">
                <a:latin typeface="Arial"/>
                <a:ea typeface="Arial"/>
              </a:rPr>
              <a:t> K≈860 ns/(V·s) </a:t>
            </a:r>
            <a:r>
              <a:rPr dirty="0" err="1">
                <a:latin typeface="Arial"/>
                <a:ea typeface="Arial"/>
              </a:rPr>
              <a:t>が得られた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35" y="2432304"/>
            <a:ext cx="7555829" cy="418795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56B7F1F-EE88-5D45-1AA0-641DA6F5D3F6}"/>
              </a:ext>
            </a:extLst>
          </p:cNvPr>
          <p:cNvSpPr/>
          <p:nvPr/>
        </p:nvSpPr>
        <p:spPr>
          <a:xfrm>
            <a:off x="1997476" y="2432304"/>
            <a:ext cx="6267635" cy="248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図　</a:t>
            </a:r>
            <a:r>
              <a:rPr kumimoji="1" lang="en-US" altLang="ja-JP" b="1" dirty="0">
                <a:solidFill>
                  <a:schemeClr val="tx1"/>
                </a:solidFill>
              </a:rPr>
              <a:t>LSB</a:t>
            </a:r>
            <a:r>
              <a:rPr kumimoji="1" lang="ja-JP" altLang="en-US" b="1" dirty="0">
                <a:solidFill>
                  <a:schemeClr val="tx1"/>
                </a:solidFill>
              </a:rPr>
              <a:t>感応度</a:t>
            </a:r>
            <a:r>
              <a:rPr kumimoji="1" lang="en-US" altLang="ja-JP" b="1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FC93-6711-C2B9-E69F-E57837F7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3245-55E9-B407-3252-FBD65DDD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</a:rPr>
              <a:t>6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ja-JP" altLang="en-US" b="1" dirty="0">
                <a:solidFill>
                  <a:srgbClr val="000F78"/>
                </a:solidFill>
              </a:rPr>
              <a:t>制御ターゲット：</a:t>
            </a:r>
            <a:r>
              <a:rPr lang="en-US" altLang="ja-JP" b="1" dirty="0">
                <a:solidFill>
                  <a:srgbClr val="000F78"/>
                </a:solidFill>
              </a:rPr>
              <a:t>FRFR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E9D7A-9BE3-02A0-BFE1-98487BDBA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XX</a:t>
            </a:r>
            <a:endParaRPr dirty="0"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19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</a:rPr>
              <a:t>7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フィードバックロジック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2487168"/>
          </a:xfrm>
        </p:spPr>
        <p:txBody>
          <a:bodyPr wrap="square"/>
          <a:lstStyle/>
          <a:p>
            <a:r>
              <a:rPr b="1">
                <a:solidFill>
                  <a:srgbClr val="1B2A5A"/>
                </a:solidFill>
                <a:latin typeface="Arial"/>
                <a:ea typeface="Arial"/>
              </a:rPr>
              <a:t>位相のズレ e と周波数のズレ Δf を使う2状態フィードバックで、必要な分だけ電圧を動かす（1 LSB 未満は動かさない＝不感帯）。同期動作そのものが位相雑音を持ち込まない。</a:t>
            </a:r>
          </a:p>
          <a:p>
            <a:pPr lvl="1"/>
            <a:r>
              <a:rPr>
                <a:latin typeface="Arial"/>
                <a:ea typeface="Arial"/>
              </a:rPr>
              <a:t>出自：ACC（車両追従制御）の状態方程式を波動系へ置き換え</a:t>
            </a:r>
          </a:p>
          <a:p>
            <a:pPr lvl="1"/>
            <a:r>
              <a:rPr>
                <a:latin typeface="Arial"/>
                <a:ea typeface="Arial"/>
              </a:rPr>
              <a:t>更新：Δf_des=clamp(Kp_e·e) → 必要段数 dN=round(...) → 電圧更新</a:t>
            </a:r>
          </a:p>
          <a:p>
            <a:pPr lvl="1"/>
            <a:r>
              <a:rPr>
                <a:latin typeface="Arial"/>
                <a:ea typeface="Arial"/>
              </a:rPr>
              <a:t>不感帯で静かに同期。比例・微分（PID）は過剰動作で短期雑音（対比）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03997"/>
            <a:ext cx="4449927" cy="17029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67" y="3597190"/>
            <a:ext cx="4449927" cy="25165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05. 実験と結果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>
                <a:solidFill>
                  <a:srgbClr val="1B2A5A"/>
                </a:solidFill>
                <a:latin typeface="Arial"/>
                <a:ea typeface="Arial"/>
              </a:rPr>
              <a:t>実測モデルに基づくモデルFB（Kp_e=0.08）は、無制御HOLDと同等の近傍位相雑音のまま同期できる（差≈0 dB）＝同期時に位相雑音を持ち込まない。PID制御は短期雑音を生む（対比）。</a:t>
            </a:r>
          </a:p>
          <a:p>
            <a:pPr lvl="1"/>
            <a:r>
              <a:rPr>
                <a:latin typeface="Arial"/>
                <a:ea typeface="Arial"/>
              </a:rPr>
              <a:t>モデルFB と HOLD の近傍位相雑音がほぼ一致（差≈0 dB）</a:t>
            </a:r>
          </a:p>
          <a:p>
            <a:pPr lvl="1"/>
            <a:r>
              <a:rPr>
                <a:latin typeface="Arial"/>
                <a:ea typeface="Arial"/>
              </a:rPr>
              <a:t>比例・微分（PID）制御は過剰動作で短期ジッタを注入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68507"/>
            <a:ext cx="4449927" cy="3097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67" y="2968507"/>
            <a:ext cx="4449927" cy="30972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06. 考察と今後の展望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424146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フィードバック制御により、近傍位相雑音（同期動作に伴う短期の位相ゆらぎ）を持ち込まずに同期させることに成功した。今後は2台を同時制御・合成器で平均して −3 dB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を実証し、N台へ拡張する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</a:p>
        </p:txBody>
      </p:sp>
      <p:sp>
        <p:nvSpPr>
          <p:cNvPr id="5" name="フローチャート: 他ページ結合子 4">
            <a:extLst>
              <a:ext uri="{FF2B5EF4-FFF2-40B4-BE49-F238E27FC236}">
                <a16:creationId xmlns:a16="http://schemas.microsoft.com/office/drawing/2014/main" id="{05C5E4A2-40EA-3831-00BD-9F2BE282D4C3}"/>
              </a:ext>
            </a:extLst>
          </p:cNvPr>
          <p:cNvSpPr/>
          <p:nvPr/>
        </p:nvSpPr>
        <p:spPr>
          <a:xfrm>
            <a:off x="656822" y="2589684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+mj-lt"/>
              </a:rPr>
              <a:t>現状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CBBC37-475A-1459-4A2A-9A3A8910950D}"/>
              </a:ext>
            </a:extLst>
          </p:cNvPr>
          <p:cNvSpPr txBox="1"/>
          <p:nvPr/>
        </p:nvSpPr>
        <p:spPr>
          <a:xfrm>
            <a:off x="2461797" y="2850882"/>
            <a:ext cx="7005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dirty="0">
                <a:latin typeface="Arial"/>
                <a:ea typeface="Arial"/>
              </a:rPr>
              <a:t>実測モデルに基づく</a:t>
            </a:r>
            <a:r>
              <a:rPr lang="en-US" altLang="ja-JP" dirty="0">
                <a:latin typeface="Arial"/>
                <a:ea typeface="Arial"/>
              </a:rPr>
              <a:t>FB</a:t>
            </a:r>
            <a:r>
              <a:rPr lang="ja-JP" altLang="en-US" dirty="0">
                <a:latin typeface="Arial"/>
                <a:ea typeface="Arial"/>
              </a:rPr>
              <a:t>で近傍位相雑音を注入せず同期を実現</a:t>
            </a:r>
          </a:p>
        </p:txBody>
      </p:sp>
      <p:sp>
        <p:nvSpPr>
          <p:cNvPr id="8" name="フローチャート: 他ページ結合子 7">
            <a:extLst>
              <a:ext uri="{FF2B5EF4-FFF2-40B4-BE49-F238E27FC236}">
                <a16:creationId xmlns:a16="http://schemas.microsoft.com/office/drawing/2014/main" id="{08EBF897-D13F-E212-8B3E-C73BAA19611E}"/>
              </a:ext>
            </a:extLst>
          </p:cNvPr>
          <p:cNvSpPr/>
          <p:nvPr/>
        </p:nvSpPr>
        <p:spPr>
          <a:xfrm>
            <a:off x="656822" y="3460167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+mj-lt"/>
              </a:rPr>
              <a:t>Step1</a:t>
            </a:r>
          </a:p>
        </p:txBody>
      </p:sp>
      <p:sp>
        <p:nvSpPr>
          <p:cNvPr id="9" name="フローチャート: 他ページ結合子 8">
            <a:extLst>
              <a:ext uri="{FF2B5EF4-FFF2-40B4-BE49-F238E27FC236}">
                <a16:creationId xmlns:a16="http://schemas.microsoft.com/office/drawing/2014/main" id="{AD683D8F-C9D3-4078-B2A6-FA1663C3D490}"/>
              </a:ext>
            </a:extLst>
          </p:cNvPr>
          <p:cNvSpPr/>
          <p:nvPr/>
        </p:nvSpPr>
        <p:spPr>
          <a:xfrm>
            <a:off x="656822" y="4330650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+mj-lt"/>
              </a:rPr>
              <a:t>Step2</a:t>
            </a:r>
            <a:endParaRPr kumimoji="1" lang="ja-JP" altLang="en-US" sz="1600" b="1" dirty="0">
              <a:latin typeface="+mj-lt"/>
            </a:endParaRPr>
          </a:p>
        </p:txBody>
      </p:sp>
      <p:sp>
        <p:nvSpPr>
          <p:cNvPr id="10" name="フローチャート: 他ページ結合子 9">
            <a:extLst>
              <a:ext uri="{FF2B5EF4-FFF2-40B4-BE49-F238E27FC236}">
                <a16:creationId xmlns:a16="http://schemas.microsoft.com/office/drawing/2014/main" id="{9DDC8AEE-0D00-7D7F-387D-0E6422E6B24E}"/>
              </a:ext>
            </a:extLst>
          </p:cNvPr>
          <p:cNvSpPr/>
          <p:nvPr/>
        </p:nvSpPr>
        <p:spPr>
          <a:xfrm>
            <a:off x="656821" y="5201134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+mj-lt"/>
              </a:rPr>
              <a:t>Step3</a:t>
            </a:r>
            <a:endParaRPr kumimoji="1" lang="ja-JP" altLang="en-US" sz="1600" b="1" dirty="0">
              <a:latin typeface="+mj-lt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894E7B0-12D2-45A5-A463-7CAFAB8F40AA}"/>
              </a:ext>
            </a:extLst>
          </p:cNvPr>
          <p:cNvSpPr txBox="1"/>
          <p:nvPr/>
        </p:nvSpPr>
        <p:spPr>
          <a:xfrm>
            <a:off x="2461797" y="3721365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dirty="0">
                <a:latin typeface="Arial"/>
                <a:ea typeface="Arial"/>
              </a:rPr>
              <a:t>二つの</a:t>
            </a:r>
            <a:r>
              <a:rPr lang="en-US" altLang="ja-JP" dirty="0">
                <a:latin typeface="Arial"/>
                <a:ea typeface="Arial"/>
              </a:rPr>
              <a:t>OCXO</a:t>
            </a:r>
            <a:r>
              <a:rPr lang="ja-JP" altLang="en-US" dirty="0">
                <a:latin typeface="Arial"/>
                <a:ea typeface="Arial"/>
              </a:rPr>
              <a:t>の平均に対して同期させる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56E0D7-3BE7-7AB1-F460-7CA6A1FDFC7F}"/>
              </a:ext>
            </a:extLst>
          </p:cNvPr>
          <p:cNvSpPr txBox="1"/>
          <p:nvPr/>
        </p:nvSpPr>
        <p:spPr>
          <a:xfrm>
            <a:off x="2461797" y="4591848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dirty="0">
                <a:latin typeface="Arial"/>
                <a:ea typeface="Arial"/>
              </a:rPr>
              <a:t>同期した</a:t>
            </a:r>
            <a:r>
              <a:rPr lang="en-US" altLang="ja-JP" dirty="0">
                <a:latin typeface="Arial"/>
                <a:ea typeface="Arial"/>
              </a:rPr>
              <a:t>OCXO</a:t>
            </a:r>
            <a:r>
              <a:rPr lang="ja-JP" altLang="en-US" dirty="0">
                <a:latin typeface="Arial"/>
                <a:ea typeface="Arial"/>
              </a:rPr>
              <a:t>を合成器で平均し</a:t>
            </a:r>
            <a:r>
              <a:rPr lang="ja-JP" altLang="en-US" dirty="0"/>
              <a:t>測定</a:t>
            </a:r>
            <a:endParaRPr lang="ja-JP" altLang="en-US" dirty="0">
              <a:latin typeface="Arial"/>
              <a:ea typeface="Arial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A08A95-5A30-5DC1-F2F7-4B6B98949581}"/>
              </a:ext>
            </a:extLst>
          </p:cNvPr>
          <p:cNvSpPr txBox="1"/>
          <p:nvPr/>
        </p:nvSpPr>
        <p:spPr>
          <a:xfrm>
            <a:off x="2461797" y="5462332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ja-JP" dirty="0">
                <a:latin typeface="Arial"/>
                <a:ea typeface="Arial"/>
              </a:rPr>
              <a:t>N</a:t>
            </a:r>
            <a:r>
              <a:rPr lang="ja-JP" altLang="en-US" dirty="0">
                <a:latin typeface="Arial"/>
                <a:ea typeface="Arial"/>
              </a:rPr>
              <a:t>台へ拡張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>
                <a:solidFill>
                  <a:schemeClr val="bg1"/>
                </a:solidFill>
              </a:rPr>
              <a:t>05</a:t>
            </a:r>
            <a:br>
              <a:rPr kumimoji="1" lang="en-US" altLang="ja-JP" b="1" dirty="0"/>
            </a:br>
            <a:r>
              <a:rPr kumimoji="1" lang="en-US" altLang="ja-JP" b="1" dirty="0"/>
              <a:t>06.Appendix</a:t>
            </a:r>
            <a:endParaRPr kumimoji="1" lang="ja-JP" altLang="en-US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06114"/>
            <a:ext cx="9101925" cy="628322"/>
          </a:xfrm>
        </p:spPr>
        <p:txBody>
          <a:bodyPr/>
          <a:lstStyle/>
          <a:p>
            <a:r>
              <a:rPr kumimoji="1" lang="en-US" altLang="ja-JP" sz="1800" dirty="0"/>
              <a:t>Power laws for spectra and Allan variance</a:t>
            </a:r>
          </a:p>
        </p:txBody>
      </p:sp>
      <p:pic>
        <p:nvPicPr>
          <p:cNvPr id="6" name="図 5" descr="ダイアグラム&#10;&#10;自動的に生成された説明">
            <a:extLst>
              <a:ext uri="{FF2B5EF4-FFF2-40B4-BE49-F238E27FC236}">
                <a16:creationId xmlns:a16="http://schemas.microsoft.com/office/drawing/2014/main" id="{E1729760-8423-469D-DAB5-2C95D90C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51" y="1353233"/>
            <a:ext cx="3772698" cy="5029424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8EBDA7F-41B7-8F02-8D98-66B5EF1431E8}"/>
              </a:ext>
            </a:extLst>
          </p:cNvPr>
          <p:cNvCxnSpPr>
            <a:cxnSpLocks/>
          </p:cNvCxnSpPr>
          <p:nvPr/>
        </p:nvCxnSpPr>
        <p:spPr>
          <a:xfrm flipH="1">
            <a:off x="262215" y="6481500"/>
            <a:ext cx="93815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328309F-53FC-9D69-213A-15BA930524BE}"/>
              </a:ext>
            </a:extLst>
          </p:cNvPr>
          <p:cNvSpPr txBox="1"/>
          <p:nvPr/>
        </p:nvSpPr>
        <p:spPr>
          <a:xfrm>
            <a:off x="323502" y="6505048"/>
            <a:ext cx="9258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Enrico </a:t>
            </a:r>
            <a:r>
              <a:rPr lang="en-US" altLang="ja-JP" dirty="0" err="1"/>
              <a:t>Rubiola</a:t>
            </a:r>
            <a:r>
              <a:rPr lang="en-US" altLang="ja-JP" dirty="0"/>
              <a:t>, Phase Noise and Frequency Stability in Oscillators</a:t>
            </a:r>
          </a:p>
        </p:txBody>
      </p:sp>
    </p:spTree>
    <p:extLst>
      <p:ext uri="{BB962C8B-B14F-4D97-AF65-F5344CB8AC3E}">
        <p14:creationId xmlns:p14="http://schemas.microsoft.com/office/powerpoint/2010/main" val="3550089105"/>
      </p:ext>
    </p:extLst>
  </p:cSld>
  <p:clrMapOvr>
    <a:masterClrMapping/>
  </p:clrMapOvr>
</p:sld>
</file>

<file path=ppt/theme/theme1.xml><?xml version="1.0" encoding="utf-8"?>
<a:theme xmlns:a="http://schemas.openxmlformats.org/drawingml/2006/main" name="mb_標準テンプレート01">
  <a:themeElements>
    <a:clrScheme name="ユーザー定義 1">
      <a:dk1>
        <a:srgbClr val="000000"/>
      </a:dk1>
      <a:lt1>
        <a:srgbClr val="FFFFFF"/>
      </a:lt1>
      <a:dk2>
        <a:srgbClr val="001279"/>
      </a:dk2>
      <a:lt2>
        <a:srgbClr val="636363"/>
      </a:lt2>
      <a:accent1>
        <a:srgbClr val="001279"/>
      </a:accent1>
      <a:accent2>
        <a:srgbClr val="FF0000"/>
      </a:accent2>
      <a:accent3>
        <a:srgbClr val="FFFFFF"/>
      </a:accent3>
      <a:accent4>
        <a:srgbClr val="000000"/>
      </a:accent4>
      <a:accent5>
        <a:srgbClr val="EBEBEB"/>
      </a:accent5>
      <a:accent6>
        <a:srgbClr val="AEAEAE"/>
      </a:accent6>
      <a:hlink>
        <a:srgbClr val="0066B3"/>
      </a:hlink>
      <a:folHlink>
        <a:srgbClr val="CC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46763</TotalTime>
  <Words>787</Words>
  <Application>Microsoft Office PowerPoint</Application>
  <PresentationFormat>A4 210 x 297 mm</PresentationFormat>
  <Paragraphs>132</Paragraphs>
  <Slides>16</Slides>
  <Notes>4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Noto Sans Symbols</vt:lpstr>
      <vt:lpstr>Yu Gothic</vt:lpstr>
      <vt:lpstr>Arial</vt:lpstr>
      <vt:lpstr>mb_標準テンプレート01</vt:lpstr>
      <vt:lpstr>パッケージ</vt:lpstr>
      <vt:lpstr>PowerPoint プレゼンテーション</vt:lpstr>
      <vt:lpstr>PowerPoint プレゼンテーション</vt:lpstr>
      <vt:lpstr>01.研究背景 1-1.位相ノイズとは</vt:lpstr>
      <vt:lpstr>01. 研究背景 1-2. 基準信号の純度と現状</vt:lpstr>
      <vt:lpstr>02. 本研究の目標</vt:lpstr>
      <vt:lpstr>03. 先行研究 3-1. 同期・平均による位相雑音の改善原理</vt:lpstr>
      <vt:lpstr>04. 研究方法 4-1. 実験系</vt:lpstr>
      <vt:lpstr>04. 研究方法 4-2. 測定法：オーディオレコーダを使う理由</vt:lpstr>
      <vt:lpstr>04. 研究方法 4-3. OCXOの同期制御</vt:lpstr>
      <vt:lpstr>04. 研究方法 4-4. 状態方程式による制御</vt:lpstr>
      <vt:lpstr>04. 研究方法 4-5. 予備実験：フィードバック電圧の感応度同定</vt:lpstr>
      <vt:lpstr>04. 研究方法 4-6. 制御ターゲット：FRFR</vt:lpstr>
      <vt:lpstr>04. 研究方法 4-7. フィードバックロジック</vt:lpstr>
      <vt:lpstr>05. 実験と結果</vt:lpstr>
      <vt:lpstr>06. 考察と今後の展望</vt:lpstr>
      <vt:lpstr>05 06.Appendix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事業承継およびM&amp;Aに関する打ち合わせ　#2</dc:title>
  <dc:creator>m-base</dc:creator>
  <cp:lastModifiedBy>福井　晴士郎</cp:lastModifiedBy>
  <cp:revision>129</cp:revision>
  <cp:lastPrinted>2025-01-31T09:29:12Z</cp:lastPrinted>
  <dcterms:created xsi:type="dcterms:W3CDTF">2005-06-08T01:35:16Z</dcterms:created>
  <dcterms:modified xsi:type="dcterms:W3CDTF">2026-06-24T00:23:37Z</dcterms:modified>
</cp:coreProperties>
</file>