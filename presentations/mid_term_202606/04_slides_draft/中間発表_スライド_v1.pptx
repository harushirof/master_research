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40280"/>
            <a:ext cx="8808415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00F78"/>
                </a:solidFill>
                <a:latin typeface="Yu Gothic"/>
                <a:ea typeface="Yu Gothic"/>
              </a:rPr>
              <a:t>水晶振動発振器の位相同期制御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000F78"/>
                </a:solidFill>
                <a:latin typeface="Yu Gothic"/>
                <a:ea typeface="Yu Gothic"/>
              </a:rPr>
              <a:t>による高純度信号作成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0160" y="3794760"/>
            <a:ext cx="7345375" cy="27940"/>
          </a:xfrm>
          <a:prstGeom prst="rect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8808415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B2A5A"/>
                </a:solidFill>
                <a:latin typeface="Yu Gothic"/>
                <a:ea typeface="Yu Gothic"/>
              </a:rPr>
              <a:t>修士中間発表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齋藤晴雄研究室　福井 晴士郎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Yu Gothic"/>
                <a:ea typeface="Yu Gothic"/>
              </a:rPr>
              <a:t>東京大学 広域システム科学　2026/06/24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Index</a:t>
            </a:r>
          </a:p>
        </p:txBody>
      </p:sp>
      <p:sp>
        <p:nvSpPr>
          <p:cNvPr id="4" name="Chevron 3"/>
          <p:cNvSpPr/>
          <p:nvPr/>
        </p:nvSpPr>
        <p:spPr>
          <a:xfrm>
            <a:off x="1097280" y="1417320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01　研究背景</a:t>
            </a:r>
          </a:p>
        </p:txBody>
      </p:sp>
      <p:sp>
        <p:nvSpPr>
          <p:cNvPr id="5" name="Chevron 4"/>
          <p:cNvSpPr/>
          <p:nvPr/>
        </p:nvSpPr>
        <p:spPr>
          <a:xfrm>
            <a:off x="1097280" y="2093976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02　本研究の目標</a:t>
            </a:r>
          </a:p>
        </p:txBody>
      </p:sp>
      <p:sp>
        <p:nvSpPr>
          <p:cNvPr id="6" name="Chevron 5"/>
          <p:cNvSpPr/>
          <p:nvPr/>
        </p:nvSpPr>
        <p:spPr>
          <a:xfrm>
            <a:off x="1097280" y="2770632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03　先行研究</a:t>
            </a:r>
          </a:p>
        </p:txBody>
      </p:sp>
      <p:sp>
        <p:nvSpPr>
          <p:cNvPr id="7" name="Chevron 6"/>
          <p:cNvSpPr/>
          <p:nvPr/>
        </p:nvSpPr>
        <p:spPr>
          <a:xfrm>
            <a:off x="1097280" y="3447288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04　研究方法</a:t>
            </a:r>
          </a:p>
        </p:txBody>
      </p:sp>
      <p:sp>
        <p:nvSpPr>
          <p:cNvPr id="8" name="Chevron 7"/>
          <p:cNvSpPr/>
          <p:nvPr/>
        </p:nvSpPr>
        <p:spPr>
          <a:xfrm>
            <a:off x="1097280" y="4123944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05　実験と結果</a:t>
            </a:r>
          </a:p>
        </p:txBody>
      </p:sp>
      <p:sp>
        <p:nvSpPr>
          <p:cNvPr id="9" name="Chevron 8"/>
          <p:cNvSpPr/>
          <p:nvPr/>
        </p:nvSpPr>
        <p:spPr>
          <a:xfrm>
            <a:off x="1097280" y="4800600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06　考察と今後の展望</a:t>
            </a:r>
          </a:p>
        </p:txBody>
      </p:sp>
      <p:sp>
        <p:nvSpPr>
          <p:cNvPr id="10" name="Chevron 9"/>
          <p:cNvSpPr/>
          <p:nvPr/>
        </p:nvSpPr>
        <p:spPr>
          <a:xfrm>
            <a:off x="1097280" y="5477256"/>
            <a:ext cx="6949440" cy="566928"/>
          </a:xfrm>
          <a:prstGeom prst="chevron">
            <a:avLst/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　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研究背景：基準信号の純度と現状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通信・測位・計測は基準正弦波の純度（位相雑音）に支えられる。最高純度の原子時計は大型・高価で、安価なOCXOは単体に限界がある。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位相雑音＝位相のゆらぎ。純度が高いほど応用性能が向上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原子時計／水素メーザー：最高純度だが大型・高価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GPS規律発振器：長時間は高安定、10秒〜1分は精度が要る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OCXO（恒温槽付き水晶発振器）：短期安定に優れるが単体に限界</a:t>
            </a:r>
          </a:p>
        </p:txBody>
      </p:sp>
      <p:pic>
        <p:nvPicPr>
          <p:cNvPr id="6" name="Picture 5" descr="bench_p2_cu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36417"/>
            <a:ext cx="4572000" cy="2516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市販各機の位相雑音 L(f)（10 MHz 換算）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研究背景：課題 ＝ 近傍 0.01–0.1 Hz の純度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高純度化の鍵は近傍 0.01–0.1 Hz の純度向上にあり、卒論の『0.1 Hz への帯域拡張』と地続きの課題である。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市販データは概ね 1 Hz 止まり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近傍（0.01–0.1 Hz）は本研究の高分解能測定で補う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近傍の純度をどう高めるかが本研究の論点</a:t>
            </a:r>
          </a:p>
        </p:txBody>
      </p:sp>
      <p:pic>
        <p:nvPicPr>
          <p:cNvPr id="6" name="Picture 5" descr="bench_p2_cu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36417"/>
            <a:ext cx="4572000" cy="25166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近傍 0.01–0.1 Hz が論点（同 dBc/Hz 図）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本研究の目標（課題1・課題2）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課題1＝安価なOCXOで高純度な基準信号源を実現。課題2＝複数のOCXOを同期・平均して単体を超える純度を実現する。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課題1：安価な水晶発振器で高純度な基準信号源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課題2：複数同期・平均で単体超え</a:t>
            </a:r>
          </a:p>
          <a:p>
            <a:pPr algn="l" lvl="2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● 無相関雑音は平均で N台→1/N（2台で約3 dB）＝先行研究で既知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必要：①雑音を加えず同期する制御　②近傍の高分解能測定</a:t>
            </a:r>
          </a:p>
        </p:txBody>
      </p:sp>
      <p:pic>
        <p:nvPicPr>
          <p:cNvPr id="6" name="Picture 5" descr="fig_pw_1ov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63323"/>
            <a:ext cx="4572000" cy="26628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1/N 平均の概念（2台で約3 dB）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先行研究（4件と本研究の位置）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理論→計測→近傍計測→実証 と続く系譜の上で、水晶OCXOを能動FBで同期する『空白地帯』に本研究が位置する。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Chang 1997：平均で1/N（理論の原典）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Rubiola 2008：位相雑音計測の基盤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相互相関法：近傍 f&lt;1 Hz の高感度計測 ※文献要確認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Zhang 2015：光結合で1/N を実証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新規性：水晶OCXOを能動FBで同期し純度改善した報告は未確認</a:t>
            </a:r>
          </a:p>
        </p:txBody>
      </p:sp>
      <p:pic>
        <p:nvPicPr>
          <p:cNvPr id="6" name="Picture 5" descr="fig_pw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76652"/>
            <a:ext cx="4572000" cy="2436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配置（対象 × 手法）：本研究が空白地帯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04-1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アプローチ：同期して平均する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互いに無相関な雑音は平均で打ち消し合うため、位相を揃えた複数OCXOの出力を平均すると単体を超える純度になる。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平均には各発振器の位相が揃うことが前提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本研究：能動的FBで実時間同期し、出力を平均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同期を『雑音を加えずに』行うことが中核課題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国際原子時のクロックアンサンブルを小規模・実時間で適用</a:t>
            </a:r>
          </a:p>
        </p:txBody>
      </p:sp>
      <p:pic>
        <p:nvPicPr>
          <p:cNvPr id="6" name="Picture 5" descr="fig2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37054"/>
            <a:ext cx="4572000" cy="2315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同期の発想：車両追従（ACC）↔ 波動系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04-2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実験系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OCXO2台をオシロでFRFRとして観測しDAQで制御。別系統でPIC分周＋録音→ヒルベルト変換でps級評価。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制御系統：オシロ(SIGLENT)で位相差FRFRを観測、NI DAQで制御電圧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評価系統：PICで10 MHz→48 kHz分周、TASCAM録音→ヒルベルト変換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FB→OCXO の帰還、PC（MATLAB）で制御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4434840" cy="329184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実験系ブロック図
（image1.png を白黒で清書して貼る）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04-3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測定法：オーディオレコーダを使う理由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録音＋ヒルベルト変換は高分解能（10秒測定で std 20–30 ps）かつ長時間測定が可能で、近傍 0.01–0.1 Hz に向く。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オシロのFRFRは精度が要る／録音は高精度・長時間測定が可能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Δf=0.1 Hz には10秒測定が必要</a:t>
            </a:r>
          </a:p>
          <a:p>
            <a:pPr algn="l" lvl="2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● オシロは25Gサンプルで非現実的、レコーダは1.92Mサンプルで実現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卒論で確立した測定法を継承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4434840" cy="329184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録音系統・分周・サンプル数比較表
（卒論PPTXの該当図を流用）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04-4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予備実験：感応度（プラントゲイン K）同定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最小ステップ応答から感応度 K ≈ 860 ns/(V·s) を同定（当初想定の約10倍）。これがフィードバック設計の基礎。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1 LSB（≈305 µV）ずつ階段状に電圧を変え、各段のFRFR傾きを回帰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K ≈ 860 ns/(V·s)（再現性 1% 以内）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決定論シミュで実測からKを回帰検証＋波形を実測と比較</a:t>
            </a:r>
          </a:p>
        </p:txBody>
      </p:sp>
      <p:pic>
        <p:nvPicPr>
          <p:cNvPr id="6" name="Picture 5" descr="fig3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27704"/>
            <a:ext cx="4572000" cy="2534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83480" y="5852160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電圧を上げるとFRFRが一定傾きで増える＝傾きがK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04-5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制御ロジック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位相のズレ e と周波数のズレ Δf の2状態FB。必要電圧へ逆算し1段（1 LSB）未満は動かさない（不感帯）→ 同期時に雑音を持ち込まない。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9082735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出自：車両追従制御（ACC）の状態方程式を波動系へ置換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更新：望ましい周波数補正→必要段数へ逆算→電圧更新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不感帯で静かに同期。比例・微分(PID)は過剰動作で短期雑音（対比）</a:t>
            </a:r>
          </a:p>
        </p:txBody>
      </p:sp>
      <p:pic>
        <p:nvPicPr>
          <p:cNvPr id="6" name="Picture 5" descr="fig4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94664"/>
            <a:ext cx="4495647" cy="17204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053328"/>
            <a:ext cx="4495647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フィードバック制御ループ</a:t>
            </a:r>
          </a:p>
        </p:txBody>
      </p:sp>
      <p:pic>
        <p:nvPicPr>
          <p:cNvPr id="8" name="Picture 7" descr="fig_ct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571" y="3520440"/>
            <a:ext cx="4365639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8567" y="6053328"/>
            <a:ext cx="4495647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入出力：誤差→段数（不感帯・量子化・頭打ち）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実験と結果：モデルFB vs 無制御HOLD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モデルFB（Kp_e=0.08）は無制御HOLDと同等の近傍位相雑音のまま同期できる（差 ≈ 0 dB）＝同期時に雑音を持ち込まない。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9082735" cy="1691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モデルFB と HOLD の近傍位相雑音がほぼ一致（差 ≈ 0 dB）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比例・微分(PID)制御は過剰動作で短期ジッタを注入（対比）</a:t>
            </a:r>
          </a:p>
        </p:txBody>
      </p:sp>
      <p:pic>
        <p:nvPicPr>
          <p:cNvPr id="6" name="Picture 5" descr="model_kpe0.08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44" y="3520440"/>
            <a:ext cx="3547118" cy="2468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053328"/>
            <a:ext cx="4495647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モデルFB（Kp_e=0.08）の L(f)</a:t>
            </a:r>
          </a:p>
        </p:txBody>
      </p:sp>
      <p:pic>
        <p:nvPicPr>
          <p:cNvPr id="8" name="Picture 7" descr="model_HOLD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832" y="3520440"/>
            <a:ext cx="3547118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8567" y="6053328"/>
            <a:ext cx="4495647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Yu Gothic"/>
                <a:ea typeface="Yu Gothic"/>
              </a:rPr>
              <a:t>無制御 HOLD の L(f)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考察と今後の展望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実測モデルに基づく制御で『雑音を持ち込まずに同期する』段階に到達。今後は平均で約3 dB実証→N台→双方向結合へ。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考察：実測モデルに基づくFBで雑音を注入せず同期できることを示した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今後①：同期した2台を合成器で平均し、単体比 約3 dB を実機で実証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今後②：N台へ拡張（1/N の純度向上）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今後③：片方向同期から双方向（相互）結合へ発展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4434840" cy="329184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今後のロードマップ
片方向同期 → 平均で3 dB → N台 → 双方向結合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868680" cy="457200"/>
          </a:xfrm>
          <a:prstGeom prst="roundRect">
            <a:avLst>
              <a:gd name="adj" fmla="val 18000"/>
            </a:avLst>
          </a:prstGeom>
          <a:solidFill>
            <a:srgbClr val="000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74320"/>
            <a:ext cx="807689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00F78"/>
                </a:solidFill>
                <a:latin typeface="Yu Gothic"/>
                <a:ea typeface="Yu Gothic"/>
              </a:rPr>
              <a:t>Appendix（任意）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841248"/>
            <a:ext cx="9082735" cy="676656"/>
          </a:xfrm>
          <a:prstGeom prst="roundRect">
            <a:avLst>
              <a:gd name="adj" fmla="val 6000"/>
            </a:avLst>
          </a:prstGeom>
          <a:solidFill>
            <a:srgbClr val="EA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/>
            <a:r>
              <a:rPr sz="1100" b="1">
                <a:solidFill>
                  <a:srgbClr val="B03010"/>
                </a:solidFill>
                <a:latin typeface="Yu Gothic"/>
                <a:ea typeface="Yu Gothic"/>
              </a:rPr>
              <a:t>結論  </a:t>
            </a:r>
            <a:r>
              <a:rPr sz="1350" b="1">
                <a:solidFill>
                  <a:srgbClr val="1B2A5A"/>
                </a:solidFill>
                <a:latin typeface="Yu Gothic"/>
                <a:ea typeface="Yu Gothic"/>
              </a:rPr>
              <a:t>単位換算（dBc/Hz ↔ 秒・ps）と Rubiola の power laws／Allan 分散を補遺に置く（卒論より）。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434340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単位換算：dBc/Hz ↔ 秒・ps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■ Rubiola の power laws／Allan 分散</a:t>
            </a:r>
          </a:p>
          <a:p>
            <a:pPr algn="l" lvl="3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222222"/>
                </a:solidFill>
                <a:latin typeface="Yu Gothic"/>
                <a:ea typeface="Yu Gothic"/>
              </a:rPr>
              <a:t>→ 卒論 Appendix の該当図をそのまま使用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28800"/>
            <a:ext cx="4434840" cy="3291840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卒論 Appendix の該当図
（単位換算・power laws・Allan分散）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2735" y="6446520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  <a:latin typeface="Yu Gothic"/>
                <a:ea typeface="Yu Gothic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