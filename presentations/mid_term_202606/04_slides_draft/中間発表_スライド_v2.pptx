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85_697818E7.xml" ContentType="application/vnd.ms-powerpoint.comment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389" r:id="rId2"/>
    <p:sldId id="356" r:id="rId3"/>
    <p:sldId id="414" r:id="rId22"/>
    <p:sldId id="415" r:id="rId23"/>
    <p:sldId id="416" r:id="rId24"/>
    <p:sldId id="417" r:id="rId25"/>
    <p:sldId id="418" r:id="rId26"/>
    <p:sldId id="419" r:id="rId27"/>
    <p:sldId id="420" r:id="rId28"/>
    <p:sldId id="421" r:id="rId29"/>
    <p:sldId id="422" r:id="rId30"/>
    <p:sldId id="423" r:id="rId31"/>
    <p:sldId id="424" r:id="rId32"/>
  </p:sldIdLst>
  <p:sldSz cx="9906000" cy="6858000" type="A4"/>
  <p:notesSz cx="6858000" cy="98742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97">
          <p15:clr>
            <a:srgbClr val="A4A3A4"/>
          </p15:clr>
        </p15:guide>
        <p15:guide id="2" orient="horz" pos="4156">
          <p15:clr>
            <a:srgbClr val="A4A3A4"/>
          </p15:clr>
        </p15:guide>
        <p15:guide id="3" pos="727">
          <p15:clr>
            <a:srgbClr val="A4A3A4"/>
          </p15:clr>
        </p15:guide>
        <p15:guide id="4" pos="6082">
          <p15:clr>
            <a:srgbClr val="A4A3A4"/>
          </p15:clr>
        </p15:guide>
        <p15:guide id="5" pos="1876">
          <p15:clr>
            <a:srgbClr val="A4A3A4"/>
          </p15:clr>
        </p15:guide>
        <p15:guide id="6" pos="4481">
          <p15:clr>
            <a:srgbClr val="A4A3A4"/>
          </p15:clr>
        </p15:guide>
        <p15:guide id="7" pos="36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1" roundtripDataSignature="AMtx7mhGZ7uZ5vFhmAr7D05oSO2hGt9NU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89181F-4E05-7DF9-4E74-3E4183689D47}" name="福井　晴士郎" initials="晴福" userId="S::9209790505@utac.u-tokyo.ac.jp::c862c106-44b5-40b1-8b55-3249c1e646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8D"/>
    <a:srgbClr val="0096FF"/>
    <a:srgbClr val="002060"/>
    <a:srgbClr val="FFAC40"/>
    <a:srgbClr val="BFBFBF"/>
    <a:srgbClr val="FF0011"/>
    <a:srgbClr val="F9F9F9"/>
    <a:srgbClr val="0070C0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FF55246-B984-4F00-A051-4BF160ACBDB1}">
  <a:tblStyle styleId="{FFF55246-B984-4F00-A051-4BF160ACBDB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9F9F9"/>
          </a:solidFill>
        </a:fill>
      </a:tcStyle>
    </a:wholeTbl>
    <a:band1H>
      <a:tcTxStyle b="off" i="off"/>
      <a:tcStyle>
        <a:tcBdr/>
        <a:fill>
          <a:solidFill>
            <a:srgbClr val="F2F2F2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F2F2F2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D1EA581E-A1C8-4F62-88BD-5A6DA978B53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5A115FD-0512-4B44-A0B9-EB2B14077046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27" autoAdjust="0"/>
    <p:restoredTop sz="85211"/>
  </p:normalViewPr>
  <p:slideViewPr>
    <p:cSldViewPr snapToGrid="0">
      <p:cViewPr varScale="1">
        <p:scale>
          <a:sx n="104" d="100"/>
          <a:sy n="104" d="100"/>
        </p:scale>
        <p:origin x="624" y="200"/>
      </p:cViewPr>
      <p:guideLst>
        <p:guide orient="horz" pos="1797"/>
        <p:guide orient="horz" pos="4156"/>
        <p:guide pos="727"/>
        <p:guide pos="6082"/>
        <p:guide pos="1876"/>
        <p:guide pos="4481"/>
        <p:guide pos="36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840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51" Type="http://customschemas.google.com/relationships/presentationmetadata" Target="metadata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microsoft.com/office/2018/10/relationships/authors" Target="authors.xml"/></Relationships>
</file>

<file path=ppt/comments/modernComment_185_697818E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B3DFEB-2883-A441-8412-D006ED897D7F}" authorId="{8E89181F-4E05-7DF9-4E74-3E4183689D47}" created="2025-01-30T04:22:47.41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69478375" sldId="389"/>
      <ac:spMk id="6" creationId="{685347EE-2965-C090-63D4-710A20C95107}"/>
    </ac:deMkLst>
    <p188:txBody>
      <a:bodyPr/>
      <a:lstStyle/>
      <a:p>
        <a:r>
          <a:rPr lang="ja-JP" altLang="en-US"/>
          <a:t>タイトルを修正</a:t>
        </a:r>
      </a:p>
    </p188:txBody>
  </p188:cm>
  <p188:cm id="{8EAFE6AB-7B75-CA43-8DFC-98EC95167DA2}" authorId="{8E89181F-4E05-7DF9-4E74-3E4183689D47}" created="2025-01-30T04:23:02.1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69478375" sldId="389"/>
      <ac:spMk id="7" creationId="{71FC25AB-DEB9-83EB-9860-9B53C72373B7}"/>
    </ac:deMkLst>
    <p188:txBody>
      <a:bodyPr/>
      <a:lstStyle/>
      <a:p>
        <a:r>
          <a:rPr lang="ja-JP" altLang="en-US"/>
          <a:t>所属を修正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:notes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54" name="Google Shape;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19905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>
  <p:cSld name="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6"/>
          <p:cNvSpPr txBox="1">
            <a:spLocks noGrp="1"/>
          </p:cNvSpPr>
          <p:nvPr>
            <p:ph type="title"/>
          </p:nvPr>
        </p:nvSpPr>
        <p:spPr>
          <a:xfrm>
            <a:off x="227025" y="259239"/>
            <a:ext cx="9477000" cy="628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75" b="0" i="0" u="none" strike="noStrike" cap="none">
                <a:solidFill>
                  <a:schemeClr val="bg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800">
                <a:solidFill>
                  <a:schemeClr val="tx1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 preserve="1" userDrawn="1">
  <p:cSld name="1_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625">
                <a:solidFill>
                  <a:schemeClr val="bg2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8756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白紙" type="blank">
  <p:cSld name="BLANK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3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8"/>
          <p:cNvSpPr txBox="1">
            <a:spLocks noGrp="1"/>
          </p:cNvSpPr>
          <p:nvPr>
            <p:ph type="title"/>
          </p:nvPr>
        </p:nvSpPr>
        <p:spPr>
          <a:xfrm>
            <a:off x="168640" y="1262921"/>
            <a:ext cx="9448800" cy="954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中表紙">
  <p:cSld name="中表紙">
    <p:bg>
      <p:bgPr>
        <a:solidFill>
          <a:srgbClr val="E4ECED">
            <a:alpha val="49411"/>
          </a:srgbClr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44"/>
          <p:cNvCxnSpPr/>
          <p:nvPr/>
        </p:nvCxnSpPr>
        <p:spPr>
          <a:xfrm>
            <a:off x="0" y="3564000"/>
            <a:ext cx="9906000" cy="0"/>
          </a:xfrm>
          <a:prstGeom prst="straightConnector1">
            <a:avLst/>
          </a:prstGeom>
          <a:noFill/>
          <a:ln w="9525" cap="flat" cmpd="sng">
            <a:solidFill>
              <a:srgbClr val="000F7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44"/>
          <p:cNvSpPr txBox="1">
            <a:spLocks noGrp="1"/>
          </p:cNvSpPr>
          <p:nvPr>
            <p:ph type="title"/>
          </p:nvPr>
        </p:nvSpPr>
        <p:spPr>
          <a:xfrm>
            <a:off x="200025" y="3060000"/>
            <a:ext cx="9504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1440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F7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F7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5077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>
            <a:spLocks noGrp="1"/>
          </p:cNvSpPr>
          <p:nvPr>
            <p:ph type="body" idx="1"/>
          </p:nvPr>
        </p:nvSpPr>
        <p:spPr>
          <a:xfrm>
            <a:off x="228600" y="1524000"/>
            <a:ext cx="9448800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Noto Sans Symbols"/>
              <a:buChar char="■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Noto Sans Symbols"/>
              <a:buChar char="●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▪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1"/>
          <p:cNvSpPr txBox="1">
            <a:spLocks noGrp="1"/>
          </p:cNvSpPr>
          <p:nvPr>
            <p:ph type="sldNum" idx="12"/>
          </p:nvPr>
        </p:nvSpPr>
        <p:spPr>
          <a:xfrm>
            <a:off x="9017000" y="6598761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9" r:id="rId2"/>
    <p:sldLayoutId id="2147483650" r:id="rId3"/>
    <p:sldLayoutId id="2147483655" r:id="rId4"/>
    <p:sldLayoutId id="2147483660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18/10/relationships/comments" Target="../comments/modernComment_185_697818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8DDC74B-379C-60AA-C6B0-F4616E96AD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mtClean="0"/>
              <a:t>0</a:t>
            </a:fld>
            <a:endParaRPr lang="ja-JP" altLang="en-US" dirty="0"/>
          </a:p>
        </p:txBody>
      </p:sp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A7F329-6046-8E5F-D683-3255C4F76CA1}"/>
              </a:ext>
            </a:extLst>
          </p:cNvPr>
          <p:cNvCxnSpPr/>
          <p:nvPr/>
        </p:nvCxnSpPr>
        <p:spPr>
          <a:xfrm>
            <a:off x="501015" y="4146319"/>
            <a:ext cx="890397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FC25AB-DEB9-83EB-9860-9B53C72373B7}"/>
              </a:ext>
            </a:extLst>
          </p:cNvPr>
          <p:cNvSpPr txBox="1"/>
          <p:nvPr/>
        </p:nvSpPr>
        <p:spPr>
          <a:xfrm>
            <a:off x="3510915" y="4417536"/>
            <a:ext cx="28841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/>
              <a:t>斎藤晴雄研究室</a:t>
            </a: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190BDFC-58C0-7EBD-75E3-17EBBE924494}"/>
              </a:ext>
            </a:extLst>
          </p:cNvPr>
          <p:cNvCxnSpPr>
            <a:cxnSpLocks/>
          </p:cNvCxnSpPr>
          <p:nvPr/>
        </p:nvCxnSpPr>
        <p:spPr>
          <a:xfrm>
            <a:off x="7160895" y="6130290"/>
            <a:ext cx="274510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C6662F0-FEA1-B1A8-8DF6-0F41BB2511D8}"/>
              </a:ext>
            </a:extLst>
          </p:cNvPr>
          <p:cNvSpPr txBox="1"/>
          <p:nvPr/>
        </p:nvSpPr>
        <p:spPr>
          <a:xfrm>
            <a:off x="7160894" y="5822513"/>
            <a:ext cx="2745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>
                <a:latin typeface="Yu Gothic"/>
                <a:ea typeface="Yu Gothic"/>
              </a:rPr>
              <a:t>2026/06/24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CBA681-9ACC-0BBE-1EB5-246173595B06}"/>
              </a:ext>
            </a:extLst>
          </p:cNvPr>
          <p:cNvSpPr txBox="1"/>
          <p:nvPr/>
        </p:nvSpPr>
        <p:spPr>
          <a:xfrm>
            <a:off x="2546509" y="4817646"/>
            <a:ext cx="4812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2000">
                <a:latin typeface="Yu Gothic"/>
                <a:ea typeface="Yu Gothic"/>
              </a:rPr>
              <a:t>福井 晴士郎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5347EE-2965-C090-63D4-710A20C95107}"/>
              </a:ext>
            </a:extLst>
          </p:cNvPr>
          <p:cNvSpPr txBox="1"/>
          <p:nvPr/>
        </p:nvSpPr>
        <p:spPr>
          <a:xfrm>
            <a:off x="501016" y="2828835"/>
            <a:ext cx="89039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3600">
                <a:latin typeface="Yu Gothic"/>
                <a:ea typeface="Yu Gothic"/>
              </a:rPr>
              <a:t>水晶振動発振器の位相同期制御</a:t>
            </a:r>
            <a:endParaRPr kumimoji="1" lang="en-US" altLang="ja-JP" sz="3600" dirty="0"/>
          </a:p>
          <a:p>
            <a:r>
              <a:rPr sz="3600">
                <a:latin typeface="Yu Gothic"/>
                <a:ea typeface="Yu Gothic"/>
              </a:rPr>
              <a:t>による高純度信号作成</a:t>
            </a:r>
          </a:p>
        </p:txBody>
      </p:sp>
    </p:spTree>
    <p:extLst>
      <p:ext uri="{BB962C8B-B14F-4D97-AF65-F5344CB8AC3E}">
        <p14:creationId xmlns:p14="http://schemas.microsoft.com/office/powerpoint/2010/main" val="17694783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/>
          <p:nvPr/>
        </p:nvSpPr>
        <p:spPr>
          <a:xfrm>
            <a:off x="133643" y="175846"/>
            <a:ext cx="464234" cy="96363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/>
          <p:cNvSpPr txBox="1"/>
          <p:nvPr/>
        </p:nvSpPr>
        <p:spPr>
          <a:xfrm>
            <a:off x="9201989" y="65913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Noto Sans Symbols"/>
              <a:buNone/>
            </a:pPr>
            <a:fld id="{00000000-1234-1234-1234-123412341234}" type="slidenum">
              <a:rPr lang="en-US" altLang="ja-JP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12;p41">
            <a:extLst>
              <a:ext uri="{FF2B5EF4-FFF2-40B4-BE49-F238E27FC236}">
                <a16:creationId xmlns:a16="http://schemas.microsoft.com/office/drawing/2014/main" id="{65DABD37-B89A-F563-8D6B-40B5EC39E602}"/>
              </a:ext>
            </a:extLst>
          </p:cNvPr>
          <p:cNvSpPr txBox="1"/>
          <p:nvPr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r>
              <a:rPr lang="en-US" sz="2000" b="1" dirty="0">
                <a:solidFill>
                  <a:srgbClr val="000F78"/>
                </a:solidFill>
              </a:rPr>
              <a:t>00.Index</a:t>
            </a: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Chevron 71"/>
          <p:cNvSpPr/>
          <p:nvPr/>
        </p:nvSpPr>
        <p:spPr>
          <a:xfrm>
            <a:off x="1188720" y="1545336"/>
            <a:ext cx="6766560" cy="566928"/>
          </a:xfrm>
          <a:prstGeom prst="chevron">
            <a:avLst/>
          </a:prstGeom>
          <a:solidFill>
            <a:srgbClr val="000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　01 研究背景</a:t>
            </a:r>
          </a:p>
        </p:txBody>
      </p:sp>
      <p:sp>
        <p:nvSpPr>
          <p:cNvPr id="73" name="Chevron 72"/>
          <p:cNvSpPr/>
          <p:nvPr/>
        </p:nvSpPr>
        <p:spPr>
          <a:xfrm>
            <a:off x="1188720" y="2258568"/>
            <a:ext cx="6766560" cy="566928"/>
          </a:xfrm>
          <a:prstGeom prst="chevron">
            <a:avLst/>
          </a:prstGeom>
          <a:solidFill>
            <a:srgbClr val="000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　02 本研究の目標</a:t>
            </a:r>
          </a:p>
        </p:txBody>
      </p:sp>
      <p:sp>
        <p:nvSpPr>
          <p:cNvPr id="74" name="Chevron 73"/>
          <p:cNvSpPr/>
          <p:nvPr/>
        </p:nvSpPr>
        <p:spPr>
          <a:xfrm>
            <a:off x="1188720" y="2971800"/>
            <a:ext cx="6766560" cy="566928"/>
          </a:xfrm>
          <a:prstGeom prst="chevron">
            <a:avLst/>
          </a:prstGeom>
          <a:solidFill>
            <a:srgbClr val="000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　03 先行研究</a:t>
            </a:r>
          </a:p>
        </p:txBody>
      </p:sp>
      <p:sp>
        <p:nvSpPr>
          <p:cNvPr id="75" name="Chevron 74"/>
          <p:cNvSpPr/>
          <p:nvPr/>
        </p:nvSpPr>
        <p:spPr>
          <a:xfrm>
            <a:off x="1188720" y="3685032"/>
            <a:ext cx="6766560" cy="566928"/>
          </a:xfrm>
          <a:prstGeom prst="chevron">
            <a:avLst/>
          </a:prstGeom>
          <a:solidFill>
            <a:srgbClr val="000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　04 研究方法</a:t>
            </a:r>
          </a:p>
        </p:txBody>
      </p:sp>
      <p:sp>
        <p:nvSpPr>
          <p:cNvPr id="76" name="Chevron 75"/>
          <p:cNvSpPr/>
          <p:nvPr/>
        </p:nvSpPr>
        <p:spPr>
          <a:xfrm>
            <a:off x="1188720" y="4398264"/>
            <a:ext cx="6766560" cy="566928"/>
          </a:xfrm>
          <a:prstGeom prst="chevron">
            <a:avLst/>
          </a:prstGeom>
          <a:solidFill>
            <a:srgbClr val="000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　05 実験と結果</a:t>
            </a:r>
          </a:p>
        </p:txBody>
      </p:sp>
      <p:sp>
        <p:nvSpPr>
          <p:cNvPr id="77" name="Chevron 76"/>
          <p:cNvSpPr/>
          <p:nvPr/>
        </p:nvSpPr>
        <p:spPr>
          <a:xfrm>
            <a:off x="1188720" y="5111496"/>
            <a:ext cx="6766560" cy="566928"/>
          </a:xfrm>
          <a:prstGeom prst="chevron">
            <a:avLst/>
          </a:prstGeom>
          <a:solidFill>
            <a:srgbClr val="000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　06 考察と今後の展望</a:t>
            </a:r>
          </a:p>
        </p:txBody>
      </p:sp>
    </p:spTree>
    <p:extLst>
      <p:ext uri="{BB962C8B-B14F-4D97-AF65-F5344CB8AC3E}">
        <p14:creationId xmlns:p14="http://schemas.microsoft.com/office/powerpoint/2010/main" val="351055545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1-1 位相ノイズとは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4526280" cy="52120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位相雑音とは理想的な正弦波からの位相のゆらぎ（時間軸上の誤差＝ジッタ）。基準信号の純度を決める。</a:t>
            </a:r>
          </a:p>
          <a:p>
            <a:pPr lvl="1"/>
            <a:r>
              <a:rPr>
                <a:latin typeface="Yu Gothic"/>
                <a:ea typeface="Yu Gothic"/>
              </a:rPr>
              <a:t>通信・測位・計測の性能を左右する</a:t>
            </a:r>
          </a:p>
          <a:p>
            <a:pPr lvl="1"/>
            <a:r>
              <a:rPr>
                <a:latin typeface="Yu Gothic"/>
                <a:ea typeface="Yu Gothic"/>
              </a:rPr>
              <a:t>近傍（低オフセット周波数）ほど評価・改善が難しい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4920" y="1783080"/>
            <a:ext cx="4526280" cy="3383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位相ノイズの説明図（理想波と揺らぎ）
※設計書1-1が未記入のため要追記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1-2 基準信号の純度と現状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9326880" cy="265176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通信・測位・計測は基準正弦波の位相雑音に支えられる。原子時計・水素メーザーは高純度だが高価で日単位の計測が必要、OCXOは安価で数秒〜数分の安定に優れるが単体に限界。</a:t>
            </a:r>
          </a:p>
          <a:p>
            <a:pPr lvl="1"/>
            <a:r>
              <a:rPr>
                <a:latin typeface="Yu Gothic"/>
                <a:ea typeface="Yu Gothic"/>
              </a:rPr>
              <a:t>市販データは概ね 1 Hz 止まり。近傍（0.1–1 Hz）は測定が難しい</a:t>
            </a:r>
          </a:p>
          <a:p>
            <a:pPr lvl="1"/>
            <a:r>
              <a:rPr>
                <a:latin typeface="Yu Gothic"/>
                <a:ea typeface="Yu Gothic"/>
              </a:rPr>
              <a:t>近傍の測定純度をどう高めるかが本研究の論点</a:t>
            </a:r>
          </a:p>
        </p:txBody>
      </p:sp>
      <p:pic>
        <p:nvPicPr>
          <p:cNvPr id="4" name="Picture 3" descr="bench_p2_cu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595" y="3703320"/>
            <a:ext cx="4734329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44652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95959"/>
                </a:solidFill>
                <a:latin typeface="Yu Gothic"/>
                <a:ea typeface="Yu Gothic"/>
              </a:rPr>
              <a:t>市販各機の位相雑音 L(f)（10 MHz 換算）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 本研究の目標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4526280" cy="52120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安価なOCXOで可能な限り高純度な基準信号源を実現することを目標とする。</a:t>
            </a:r>
          </a:p>
          <a:p>
            <a:pPr lvl="1"/>
            <a:r>
              <a:rPr>
                <a:latin typeface="Yu Gothic"/>
                <a:ea typeface="Yu Gothic"/>
              </a:rPr>
              <a:t>究極的な目標：安価な水晶発振器（OCXO）で高純度な基準信号源を実現</a:t>
            </a:r>
          </a:p>
          <a:p>
            <a:pPr lvl="1"/>
            <a:r>
              <a:rPr>
                <a:latin typeface="Yu Gothic"/>
                <a:ea typeface="Yu Gothic"/>
              </a:rPr>
              <a:t>アプローチ：複数OCXOを同期させ、1台では実現できない純度での計測を可能にする</a:t>
            </a:r>
          </a:p>
        </p:txBody>
      </p:sp>
      <p:pic>
        <p:nvPicPr>
          <p:cNvPr id="4" name="Picture 3" descr="fig_pw_1ov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476637"/>
            <a:ext cx="4526280" cy="263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3-1 同期・平均による位相雑音の改善（1/N の原理）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9326880" cy="265176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互いに無相関な雑音は平均で打ち消し合うため、位相を揃えた複数OCXOの出力を平均すると単体を超える純度になる。</a:t>
            </a:r>
          </a:p>
          <a:p>
            <a:pPr lvl="1"/>
            <a:r>
              <a:rPr>
                <a:latin typeface="Yu Gothic"/>
                <a:ea typeface="Yu Gothic"/>
              </a:rPr>
              <a:t>無相関な雑音は平均すると電力が台数分の1（2台で 1/2）になり、近傍位相雑音が −3 dB 改善する</a:t>
            </a:r>
          </a:p>
        </p:txBody>
      </p:sp>
      <p:pic>
        <p:nvPicPr>
          <p:cNvPr id="4" name="Picture 3" descr="eq_avg_3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242" y="3703320"/>
            <a:ext cx="2965035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44652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95959"/>
                </a:solidFill>
                <a:latin typeface="Yu Gothic"/>
                <a:ea typeface="Yu Gothic"/>
              </a:rPr>
              <a:t>N台平均で雑音パワーは 1/N。N=2 で S_φ/2 ＝ 10·log₁₀(1/2) ≈ −3 dB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4-1 アプローチ：能動的に同期して平均する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4526280" cy="52120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互いに無相関な雑音は平均で打ち消し合う。位相を揃えた複数OCXOの出力を能動的フィードバックで実時間に同期・平均し、単体を超える純度を実現する（国際原子時のクロックアンサンブルを小規模・実時間で適用）。</a:t>
            </a:r>
          </a:p>
          <a:p>
            <a:pPr lvl="1"/>
            <a:r>
              <a:rPr>
                <a:latin typeface="Yu Gothic"/>
                <a:ea typeface="Yu Gothic"/>
              </a:rPr>
              <a:t>平均には各発振器の位相が揃うことが前提</a:t>
            </a:r>
          </a:p>
          <a:p>
            <a:pPr lvl="1"/>
            <a:r>
              <a:rPr>
                <a:latin typeface="Yu Gothic"/>
                <a:ea typeface="Yu Gothic"/>
              </a:rPr>
              <a:t>本研究の方式：能動的フィードバックで実時間同期し、出力を平均する</a:t>
            </a:r>
          </a:p>
          <a:p>
            <a:pPr lvl="1"/>
            <a:r>
              <a:rPr>
                <a:latin typeface="Yu Gothic"/>
                <a:ea typeface="Yu Gothic"/>
              </a:rPr>
              <a:t>同期を『雑音を加えずに』行うことが中核課題</a:t>
            </a:r>
          </a:p>
        </p:txBody>
      </p:sp>
      <p:pic>
        <p:nvPicPr>
          <p:cNvPr id="4" name="Picture 3" descr="fig2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648631"/>
            <a:ext cx="4526280" cy="229225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4-2 実験系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4526280" cy="52120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OCXO2台に対し、位相差FRFRをターゲットとしてオシロスコープで計測。計測結果を基に片方のOCXOへフィードバック電圧を印加する。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4920" y="1783080"/>
            <a:ext cx="4526280" cy="3383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実験系ブロック図
（image1.png を白黒で清書。FB→OCXO 帰還矢印・PC(MATLAB) ラベルを追記）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4-3 測定法：オーディオレコーダを使う理由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4526280" cy="52120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オーディオレコーディングは高分解能（10秒測定で std 20–30 ps）かつ長時間測定が可能で、0.1–1 Hz の評価に向いている。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4920" y="1783080"/>
            <a:ext cx="4526280" cy="3383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録音系統図・分周・サンプル数比較表
（卒論PPTXの該当図を流用）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4-4 予備実験：フィードバック電圧の感応度同定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4526280" cy="52120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フィードバック電圧のLSBを測定し回帰検証することで、フィードバックロジックのパラメータをチューニングした。</a:t>
            </a:r>
          </a:p>
          <a:p>
            <a:pPr lvl="1"/>
            <a:r>
              <a:rPr>
                <a:latin typeface="Yu Gothic"/>
                <a:ea typeface="Yu Gothic"/>
              </a:rPr>
              <a:t>1 LSB（≈305 µV）ずつ階段状に電圧を変え、各段の FRFR 傾きを電圧増分に直線回帰 → K≈860 ns/(V·s)</a:t>
            </a:r>
          </a:p>
        </p:txBody>
      </p:sp>
      <p:pic>
        <p:nvPicPr>
          <p:cNvPr id="4" name="Picture 3" descr="fig3_pl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540374"/>
            <a:ext cx="4526280" cy="250877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4-5 フィードバックロジック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9326880" cy="228600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位相のズレ e と周波数のズレ Δf を使う2状態フィードバックで、必要な分だけ電圧を動かす（1 LSB 未満は動かさない＝不感帯）。同期動作そのものが位相雑音を持ち込まない。</a:t>
            </a:r>
          </a:p>
          <a:p>
            <a:pPr lvl="1"/>
            <a:r>
              <a:rPr>
                <a:latin typeface="Yu Gothic"/>
                <a:ea typeface="Yu Gothic"/>
              </a:rPr>
              <a:t>出自：ACC（車両追従制御）の状態方程式を波動系へ置き換え</a:t>
            </a:r>
          </a:p>
          <a:p>
            <a:pPr lvl="1"/>
            <a:r>
              <a:rPr>
                <a:latin typeface="Yu Gothic"/>
                <a:ea typeface="Yu Gothic"/>
              </a:rPr>
              <a:t>更新：Δf_des=clamp(Kp_e·e) → 必要段数 dN=round(...) → 電圧更新</a:t>
            </a:r>
          </a:p>
          <a:p>
            <a:pPr lvl="1"/>
            <a:r>
              <a:rPr>
                <a:latin typeface="Yu Gothic"/>
                <a:ea typeface="Yu Gothic"/>
              </a:rPr>
              <a:t>不感帯で静かに同期。比例・微分（PID）は過剰動作で短期雑音（対比）</a:t>
            </a:r>
          </a:p>
        </p:txBody>
      </p:sp>
      <p:pic>
        <p:nvPicPr>
          <p:cNvPr id="4" name="Picture 3" descr="fig4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757504"/>
            <a:ext cx="4495647" cy="1720430"/>
          </a:xfrm>
          <a:prstGeom prst="rect">
            <a:avLst/>
          </a:prstGeom>
        </p:spPr>
      </p:pic>
      <p:pic>
        <p:nvPicPr>
          <p:cNvPr id="5" name="Picture 4" descr="fig_ct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416" y="3429000"/>
            <a:ext cx="4203949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 実験と結果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9326880" cy="228600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実測モデルに基づくモデルFB（Kp_e=0.08）は、無制御HOLDと同等の近傍位相雑音のまま同期できる（差≈0 dB）＝同期時に位相雑音を持ち込まない。PID制御は短期雑音を生む（対比）。</a:t>
            </a:r>
          </a:p>
          <a:p>
            <a:pPr lvl="1"/>
            <a:r>
              <a:rPr>
                <a:latin typeface="Yu Gothic"/>
                <a:ea typeface="Yu Gothic"/>
              </a:rPr>
              <a:t>モデルFB と HOLD の近傍位相雑音がほぼ一致（差≈0 dB）</a:t>
            </a:r>
          </a:p>
          <a:p>
            <a:pPr lvl="1"/>
            <a:r>
              <a:rPr>
                <a:latin typeface="Yu Gothic"/>
                <a:ea typeface="Yu Gothic"/>
              </a:rPr>
              <a:t>比例・微分（PID）制御は過剰動作で短期ジッタを注入</a:t>
            </a:r>
          </a:p>
        </p:txBody>
      </p:sp>
      <p:pic>
        <p:nvPicPr>
          <p:cNvPr id="4" name="Picture 3" descr="model_kpe0.08_P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432" y="3429000"/>
            <a:ext cx="3415743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943600"/>
            <a:ext cx="44956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95959"/>
                </a:solidFill>
                <a:latin typeface="Yu Gothic"/>
                <a:ea typeface="Yu Gothic"/>
              </a:rPr>
              <a:t>モデルFB（Kp_e=0.08）の L(f)</a:t>
            </a:r>
          </a:p>
        </p:txBody>
      </p:sp>
      <p:pic>
        <p:nvPicPr>
          <p:cNvPr id="6" name="Picture 5" descr="model_HOLD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19" y="3429000"/>
            <a:ext cx="3415743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98567" y="5943600"/>
            <a:ext cx="44956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95959"/>
                </a:solidFill>
                <a:latin typeface="Yu Gothic"/>
                <a:ea typeface="Yu Gothic"/>
              </a:rPr>
              <a:t>無制御 HOLD の L(f)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 考察と今後の展望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14400"/>
            <a:ext cx="4526280" cy="5212080"/>
          </a:xfrm>
        </p:spPr>
        <p:txBody>
          <a:bodyPr wrap="square"/>
          <a:lstStyle/>
          <a:p>
            <a:pPr/>
            <a:r>
              <a:rPr>
                <a:latin typeface="Yu Gothic"/>
                <a:ea typeface="Yu Gothic"/>
              </a:rPr>
              <a:t>フィードバック制御により、近傍位相雑音（同期動作に伴う短期の位相ゆらぎ）を持ち込まずに同期させることに成功した。今後は2台を同時制御・合成器で平均して −3 dB を実証し、N台へ拡張する。</a:t>
            </a:r>
          </a:p>
          <a:p>
            <a:pPr lvl="1"/>
            <a:r>
              <a:rPr>
                <a:latin typeface="Yu Gothic"/>
                <a:ea typeface="Yu Gothic"/>
              </a:rPr>
              <a:t>現状：実測モデルに基づくFBで近傍位相雑音を注入せず同期を実現</a:t>
            </a:r>
          </a:p>
          <a:p>
            <a:pPr lvl="1"/>
            <a:r>
              <a:rPr>
                <a:latin typeface="Yu Gothic"/>
                <a:ea typeface="Yu Gothic"/>
              </a:rPr>
              <a:t>Step1：二つのOCXOの平均に対して同期させる</a:t>
            </a:r>
          </a:p>
          <a:p>
            <a:pPr lvl="1"/>
            <a:r>
              <a:rPr>
                <a:latin typeface="Yu Gothic"/>
                <a:ea typeface="Yu Gothic"/>
              </a:rPr>
              <a:t>Step2：同期したOCXOを合成器で平均し測定</a:t>
            </a:r>
          </a:p>
          <a:p>
            <a:pPr lvl="1"/>
            <a:r>
              <a:rPr>
                <a:latin typeface="Yu Gothic"/>
                <a:ea typeface="Yu Gothic"/>
              </a:rPr>
              <a:t>Step3：N台へ拡張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4920" y="1783080"/>
            <a:ext cx="4526280" cy="3383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Yu Gothic"/>
                <a:ea typeface="Yu Gothic"/>
              </a:rPr>
              <a:t>今後のロードマップ
片方向同期 → 平均で −3 dB → N台 → 双方向結合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b_標準テンプレート01">
  <a:themeElements>
    <a:clrScheme name="ユーザー定義 1">
      <a:dk1>
        <a:srgbClr val="000000"/>
      </a:dk1>
      <a:lt1>
        <a:srgbClr val="FFFFFF"/>
      </a:lt1>
      <a:dk2>
        <a:srgbClr val="001279"/>
      </a:dk2>
      <a:lt2>
        <a:srgbClr val="636363"/>
      </a:lt2>
      <a:accent1>
        <a:srgbClr val="001279"/>
      </a:accent1>
      <a:accent2>
        <a:srgbClr val="FF0000"/>
      </a:accent2>
      <a:accent3>
        <a:srgbClr val="FFFFFF"/>
      </a:accent3>
      <a:accent4>
        <a:srgbClr val="000000"/>
      </a:accent4>
      <a:accent5>
        <a:srgbClr val="EBEBEB"/>
      </a:accent5>
      <a:accent6>
        <a:srgbClr val="AEAEAE"/>
      </a:accent6>
      <a:hlink>
        <a:srgbClr val="0066B3"/>
      </a:hlink>
      <a:folHlink>
        <a:srgbClr val="CC00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46709</TotalTime>
  <Words>1324</Words>
  <Application>Microsoft Macintosh PowerPoint</Application>
  <PresentationFormat>A4 210 x 297 mm</PresentationFormat>
  <Paragraphs>214</Paragraphs>
  <Slides>13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Noto Sans Symbols</vt:lpstr>
      <vt:lpstr>Arial</vt:lpstr>
      <vt:lpstr>Cambria Math</vt:lpstr>
      <vt:lpstr>mb_標準テンプレート01</vt:lpstr>
      <vt:lpstr>PowerPoint プレゼンテーション</vt:lpstr>
      <vt:lpstr>PowerPoint プレゼンテーション</vt:lpstr>
      <vt:lpstr>01.研究背景 1-1.前提</vt:lpstr>
      <vt:lpstr>01.研究背景 1-2.TCXO文献値による位相ノイズ(ジッタ)の計算</vt:lpstr>
      <vt:lpstr>01.研究背景 1-3.先行研究</vt:lpstr>
      <vt:lpstr>研究概要 02.本研究の目標</vt:lpstr>
      <vt:lpstr>研究概要 02.本研究の目標</vt:lpstr>
      <vt:lpstr>03. 03.研究方法 </vt:lpstr>
      <vt:lpstr>04.実験と結果 4-1.分周回路の設定</vt:lpstr>
      <vt:lpstr>04.実験と結果 4-2.作成した分周回路による測定結果</vt:lpstr>
      <vt:lpstr>05 05.考察と今後の展望</vt:lpstr>
      <vt:lpstr>謝辞</vt:lpstr>
      <vt:lpstr>05 06.Appendix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事業承継およびM&amp;Aに関する打ち合わせ　#2</dc:title>
  <dc:creator>m-base</dc:creator>
  <cp:lastModifiedBy>福井　晴士郎</cp:lastModifiedBy>
  <cp:revision>124</cp:revision>
  <cp:lastPrinted>2025-01-31T09:29:12Z</cp:lastPrinted>
  <dcterms:created xsi:type="dcterms:W3CDTF">2005-06-08T01:35:16Z</dcterms:created>
  <dcterms:modified xsi:type="dcterms:W3CDTF">2025-02-05T06:26:44Z</dcterms:modified>
</cp:coreProperties>
</file>