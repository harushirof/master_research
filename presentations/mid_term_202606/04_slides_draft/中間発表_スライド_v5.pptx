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s/modernComment_184_484A4A.xml" ContentType="application/vnd.ms-powerpoint.comments+xml"/>
  <Override PartName="/ppt/comments/modernComment_1A9_FA5B5987.xml" ContentType="application/vnd.ms-powerpoint.comments+xml"/>
  <Override PartName="/ppt/embeddings/oleObject1.bin" ContentType="application/vnd.openxmlformats-officedocument.oleObject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648" r:id="rId1"/>
  </p:sldMasterIdLst>
  <p:notesMasterIdLst>
    <p:notesMasterId r:id="rId18"/>
  </p:notesMasterIdLst>
  <p:sldIdLst>
    <p:sldId id="425" r:id="rId2"/>
    <p:sldId id="426" r:id="rId3"/>
    <p:sldId id="388" r:id="rId4"/>
    <p:sldId id="427" r:id="rId5"/>
    <p:sldId id="438" r:id="rId6"/>
    <p:sldId id="439" r:id="rId7"/>
    <p:sldId id="441" r:id="rId8"/>
    <p:sldId id="442" r:id="rId9"/>
    <p:sldId id="440" r:id="rId10"/>
    <p:sldId id="447" r:id="rId11"/>
    <p:sldId id="443" r:id="rId12"/>
    <p:sldId id="448" r:id="rId13"/>
    <p:sldId id="444" r:id="rId14"/>
    <p:sldId id="445" r:id="rId15"/>
    <p:sldId id="446" r:id="rId16"/>
    <p:sldId id="413" r:id="rId17"/>
  </p:sldIdLst>
  <p:sldSz cx="9906000" cy="6858000" type="A4"/>
  <p:notesSz cx="6858000" cy="987425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797">
          <p15:clr>
            <a:srgbClr val="A4A3A4"/>
          </p15:clr>
        </p15:guide>
        <p15:guide id="2" orient="horz" pos="4156">
          <p15:clr>
            <a:srgbClr val="A4A3A4"/>
          </p15:clr>
        </p15:guide>
        <p15:guide id="3" pos="727">
          <p15:clr>
            <a:srgbClr val="A4A3A4"/>
          </p15:clr>
        </p15:guide>
        <p15:guide id="4" pos="6082">
          <p15:clr>
            <a:srgbClr val="A4A3A4"/>
          </p15:clr>
        </p15:guide>
        <p15:guide id="5" pos="1876">
          <p15:clr>
            <a:srgbClr val="A4A3A4"/>
          </p15:clr>
        </p15:guide>
        <p15:guide id="6" pos="4481">
          <p15:clr>
            <a:srgbClr val="A4A3A4"/>
          </p15:clr>
        </p15:guide>
        <p15:guide id="7" pos="36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1" roundtripDataSignature="AMtx7mhGZ7uZ5vFhmAr7D05oSO2hGt9NUg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E89181F-4E05-7DF9-4E74-3E4183689D47}" name="福井　晴士郎" initials="晴福" userId="S::9209790505@utac.u-tokyo.ac.jp::c862c106-44b5-40b1-8b55-3249c1e6466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318D"/>
    <a:srgbClr val="0096FF"/>
    <a:srgbClr val="002060"/>
    <a:srgbClr val="FFAC40"/>
    <a:srgbClr val="BFBFBF"/>
    <a:srgbClr val="FF0011"/>
    <a:srgbClr val="F9F9F9"/>
    <a:srgbClr val="0070C0"/>
    <a:srgbClr val="0054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FF55246-B984-4F00-A051-4BF160ACBDB1}">
  <a:tblStyle styleId="{FFF55246-B984-4F00-A051-4BF160ACBDB1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9F9F9"/>
          </a:solidFill>
        </a:fill>
      </a:tcStyle>
    </a:wholeTbl>
    <a:band1H>
      <a:tcTxStyle b="off" i="off"/>
      <a:tcStyle>
        <a:tcBdr/>
        <a:fill>
          <a:solidFill>
            <a:srgbClr val="F2F2F2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F2F2F2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D1EA581E-A1C8-4F62-88BD-5A6DA978B53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5A115FD-0512-4B44-A0B9-EB2B14077046}" styleName="Table_2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27" autoAdjust="0"/>
    <p:restoredTop sz="85211"/>
  </p:normalViewPr>
  <p:slideViewPr>
    <p:cSldViewPr snapToGrid="0">
      <p:cViewPr>
        <p:scale>
          <a:sx n="84" d="100"/>
          <a:sy n="84" d="100"/>
        </p:scale>
        <p:origin x="702" y="-84"/>
      </p:cViewPr>
      <p:guideLst>
        <p:guide orient="horz" pos="1797"/>
        <p:guide orient="horz" pos="4156"/>
        <p:guide pos="727"/>
        <p:guide pos="6082"/>
        <p:guide pos="1876"/>
        <p:guide pos="4481"/>
        <p:guide pos="36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89" d="100"/>
          <a:sy n="89" d="100"/>
        </p:scale>
        <p:origin x="3840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51" Type="http://customschemas.google.com/relationships/presentationmetadata" Target="metadata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microsoft.com/office/2018/10/relationships/authors" Target="authors.xml"/></Relationships>
</file>

<file path=ppt/comments/modernComment_1A9_FA5B59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8B3DFEB-2883-A441-8412-D006ED897D7F}" authorId="{8E89181F-4E05-7DF9-4E74-3E4183689D47}" created="2025-01-30T04:22:47.41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00290695" sldId="425"/>
      <ac:spMk id="6" creationId="{685347EE-2965-C090-63D4-710A20C95107}"/>
    </ac:deMkLst>
    <p188:txBody>
      <a:bodyPr/>
      <a:lstStyle/>
      <a:p>
        <a:r>
          <a:rPr lang="ja-JP" altLang="en-US"/>
          <a:t>タイトルを修正</a:t>
        </a:r>
      </a:p>
    </p188:txBody>
  </p188:cm>
  <p188:cm id="{8EAFE6AB-7B75-CA43-8DFC-98EC95167DA2}" authorId="{8E89181F-4E05-7DF9-4E74-3E4183689D47}" created="2025-01-30T04:23:02.18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00290695" sldId="425"/>
      <ac:spMk id="7" creationId="{71FC25AB-DEB9-83EB-9860-9B53C72373B7}"/>
    </ac:deMkLst>
    <p188:txBody>
      <a:bodyPr/>
      <a:lstStyle/>
      <a:p>
        <a:r>
          <a:rPr lang="ja-JP" altLang="en-US"/>
          <a:t>所属を修正</a:t>
        </a:r>
      </a:p>
    </p188:txBody>
  </p188:cm>
</p188:cmLst>
</file>

<file path=ppt/comments/modernComment_184_484A4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D40950E-7C22-224D-9946-B26097C0E8D0}" authorId="{8E89181F-4E05-7DF9-4E74-3E4183689D47}" created="2025-01-30T06:56:12.89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1" creationId="{D71EA5ED-C488-B94E-534D-ED24647218DE}"/>
    </ac:deMkLst>
    <p188:txBody>
      <a:bodyPr/>
      <a:lstStyle/>
      <a:p>
        <a:r>
          <a:rPr lang="ja-JP" altLang="en-US"/>
          <a:t>\mathbb{V}(j(t)) = \cfrac{\sqrt{\int_{f_1}^{f_2} 10^{\frac{dBc}{10}}df}}{2 \pi f_c}</a:t>
        </a:r>
      </a:p>
    </p188:txBody>
  </p188:cm>
  <p188:cm id="{1130F69C-6223-EC47-877E-6583B35D83A4}" authorId="{8E89181F-4E05-7DF9-4E74-3E4183689D47}" created="2025-01-30T07:02:34.32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2" creationId="{916ED799-CAF8-F4B3-828F-59176BCF743A}"/>
    </ac:deMkLst>
    <p188:txBody>
      <a:bodyPr/>
      <a:lstStyle/>
      <a:p>
        <a:r>
          <a:rPr lang="ja-JP" altLang="en-US"/>
          <a:t>A_0 cos(\omega (t + j(t)) \approx A_0 \cos\omega t - A_0\omega j(t)\sin \omega t</a:t>
        </a:r>
      </a:p>
    </p188:txBody>
  </p188:cm>
  <p188:cm id="{8375A50A-D565-6E45-8BC3-5AC60E55DD23}" authorId="{8E89181F-4E05-7DF9-4E74-3E4183689D47}" created="2025-01-30T07:09:01.56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3" creationId="{86061A11-EC5A-FDCC-D25A-4038E87F2A68}"/>
    </ac:deMkLst>
    <p188:txBody>
      <a:bodyPr/>
      <a:lstStyle/>
      <a:p>
        <a:r>
          <a:rPr lang="ja-JP" altLang="en-US"/>
          <a:t>Pc = (A_0 cos\omega t)^2 = \cfrac{A_0^2}{2} </a:t>
        </a:r>
      </a:p>
    </p188:txBody>
  </p188:cm>
  <p188:cm id="{6EAEA4E3-6FB4-1040-A61B-BB24F3EAC473}" authorId="{8E89181F-4E05-7DF9-4E74-3E4183689D47}" created="2025-01-30T07:10:47.29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4" creationId="{79100334-29CB-0FFD-DBA3-CE530FD52CE2}"/>
    </ac:deMkLst>
    <p188:txBody>
      <a:bodyPr/>
      <a:lstStyle/>
      <a:p>
        <a:r>
          <a:rPr lang="ja-JP" altLang="en-US"/>
          <a:t>P_{jitter} = (A_0\omega j(t)\sin \omega t)^2 = \cfrac{A_0^2 \omega^2 \mathbb{V}[j(t)]}{2}</a:t>
        </a:r>
      </a:p>
    </p188:txBody>
  </p188:cm>
  <p188:cm id="{F2AB3BC8-9B7B-A64C-8501-AF71A30DBF34}" authorId="{8E89181F-4E05-7DF9-4E74-3E4183689D47}" created="2025-01-30T07:32:40.91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5" creationId="{5919A426-2E8E-B793-235E-4067E32CEFE0}"/>
    </ac:deMkLst>
    <p188:txBody>
      <a:bodyPr/>
      <a:lstStyle/>
      <a:p>
        <a:r>
          <a:rPr lang="ja-JP" altLang="en-US"/>
          <a:t>L(f) = \cfrac{1}{2} \times 10 \log_{10}{\frac{P_{jitter}}{P_c}} =\cfrac{1}{2} \times 10 \log_{10} \omega^2 \mathbb{V}(j(t))</a:t>
        </a:r>
      </a:p>
    </p188:txBody>
  </p188:cm>
  <p188:cm id="{62A4E2A4-DF3A-7C4C-80E8-42AA7A5513B1}" authorId="{8E89181F-4E05-7DF9-4E74-3E4183689D47}" created="2025-01-30T07:36:00.05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6" creationId="{299064D2-5B71-6CAE-8C8C-3423B95B475C}"/>
    </ac:deMkLst>
    <p188:txBody>
      <a:bodyPr/>
      <a:lstStyle/>
      <a:p>
        <a:r>
          <a:rPr lang="ja-JP" altLang="en-US"/>
          <a:t>\sigma (j(t)) = \sqrt{\mathbb{V}(j(t))} = \cfrac{\sqrt{\int_{f_1}^{f_2} 10^{\frac{L(f)}{10}}df}}{2 \pi f_c}</a:t>
        </a:r>
      </a:p>
    </p188:txBody>
  </p188:cm>
  <p188:cm id="{F7E804A0-C5A7-5C4E-BC6C-E97DD6AF922A}" authorId="{8E89181F-4E05-7DF9-4E74-3E4183689D47}" created="2025-01-31T08:07:15.76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4" creationId="{9C195C08-8BEE-1A31-ED96-7CE559B150E4}"/>
    </ac:deMkLst>
    <p188:txBody>
      <a:bodyPr/>
      <a:lstStyle/>
      <a:p>
        <a:r>
          <a:rPr lang="ja-JP" altLang="en-US"/>
          <a:t>L(f) = \mathcal{F} \left[\cfrac{1}{2} \times 10 \log_{10}{\frac{P_{jitter}}{P_c}}\right] =\mathcal{F} \left[\cfrac{1}{2} \times 10 \log_{10} \omega^2 \mathbb{V}(j(t))\right]</a:t>
        </a:r>
      </a:p>
    </p188:txBody>
  </p188:cm>
  <p188:cm id="{C4B4C73C-927C-DF44-BEA1-D711E6FC1685}" authorId="{8E89181F-4E05-7DF9-4E74-3E4183689D47}" created="2025-01-31T08:31:31.28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" creationId="{1C5B4EEA-7429-3F14-CD8F-55BB9DA6BB36}"/>
    </ac:deMkLst>
    <p188:txBody>
      <a:bodyPr/>
      <a:lstStyle/>
      <a:p>
        <a:r>
          <a:rPr lang="ja-JP" altLang="en-US"/>
          <a:t>L(f) = \mathcal{F} \left[10 \log_{10}{\frac{P_{jitter}}{P_c}}\right] =\mathcal{F} \left[10 \log_{10} \omega^2 \mathbb{V}(j(t))\right]</a:t>
        </a:r>
      </a:p>
    </p188:txBody>
  </p188:cm>
  <p188:cm id="{63548348-4E7E-8347-A4D5-55FDD3CD38AB}" authorId="{8E89181F-4E05-7DF9-4E74-3E4183689D47}" created="2025-02-03T06:36:01.21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" creationId="{1C5B4EEA-7429-3F14-CD8F-55BB9DA6BB36}"/>
    </ac:deMkLst>
    <p188:txBody>
      <a:bodyPr/>
      <a:lstStyle/>
      <a:p>
        <a:r>
          <a:rPr lang="ja-JP" altLang="en-US"/>
          <a:t>j(t)のフーリエ変換の形に直す</a:t>
        </a:r>
      </a:p>
    </p188:txBody>
    <p188:extLs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5-02-03T06:36:06.445" authorId="{8E89181F-4E05-7DF9-4E74-3E4183689D47}"/>
          </p223:rxn>
        </p223:reactions>
      </p:ext>
    </p188:extLst>
  </p188:cm>
  <p188:cm id="{0A02BBD2-C7A3-484F-B8E4-951C05844045}" authorId="{8E89181F-4E05-7DF9-4E74-3E4183689D47}" created="2025-02-04T01:47:56.47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4" creationId="{9C195C08-8BEE-1A31-ED96-7CE559B150E4}"/>
    </ac:deMkLst>
    <p188:txBody>
      <a:bodyPr/>
      <a:lstStyle/>
      <a:p>
        <a:r>
          <a:rPr lang="ja-JP" altLang="en-US"/>
          <a:t>L(f) =  10 \log_{10}{\frac{P_{jitter}}{P_c}} =10 \log_{10} \mathcal{F} \left[\omega^2 \mathbb{V}(j(t))\right]</a:t>
        </a:r>
      </a:p>
    </p188:txBody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52475" y="739775"/>
            <a:ext cx="5351463" cy="37052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4213" y="4689475"/>
            <a:ext cx="5489575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378950"/>
            <a:ext cx="2971800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9378950"/>
            <a:ext cx="2971800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:notes"/>
          <p:cNvSpPr txBox="1">
            <a:spLocks noGrp="1"/>
          </p:cNvSpPr>
          <p:nvPr>
            <p:ph type="body" idx="1"/>
          </p:nvPr>
        </p:nvSpPr>
        <p:spPr>
          <a:xfrm>
            <a:off x="684213" y="4689475"/>
            <a:ext cx="5489575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54" name="Google Shape;5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752475" y="739775"/>
            <a:ext cx="5351463" cy="37052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019905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・</a:t>
            </a:r>
            <a:r>
              <a:rPr kumimoji="1" lang="en-US" altLang="ja-JP" dirty="0"/>
              <a:t>j(t)</a:t>
            </a:r>
            <a:r>
              <a:rPr kumimoji="1" lang="ja-JP" altLang="en-US" dirty="0"/>
              <a:t>では表現しづらいので、</a:t>
            </a:r>
            <a:r>
              <a:rPr kumimoji="1" lang="en-US" altLang="ja-JP" dirty="0"/>
              <a:t>L(f)</a:t>
            </a:r>
            <a:r>
              <a:rPr kumimoji="1" lang="ja-JP" altLang="en-US" dirty="0"/>
              <a:t>で表現する</a:t>
            </a:r>
            <a:endParaRPr kumimoji="1" lang="en-US" altLang="ja-JP" dirty="0"/>
          </a:p>
          <a:p>
            <a:r>
              <a:rPr kumimoji="1" lang="ja-JP" altLang="en-US" dirty="0"/>
              <a:t>・</a:t>
            </a:r>
            <a:r>
              <a:rPr kumimoji="1" lang="en-US" altLang="ja-JP" dirty="0"/>
              <a:t>j(t)</a:t>
            </a:r>
            <a:r>
              <a:rPr kumimoji="1" lang="ja-JP" altLang="en-US" dirty="0"/>
              <a:t>のフーリエ変換</a:t>
            </a:r>
            <a:endParaRPr kumimoji="1" lang="en-US" altLang="ja-JP" dirty="0"/>
          </a:p>
          <a:p>
            <a:r>
              <a:rPr kumimoji="1" lang="ja-JP" altLang="en-US" dirty="0"/>
              <a:t>・</a:t>
            </a:r>
            <a:r>
              <a:rPr kumimoji="1" lang="en-US" altLang="ja-JP" dirty="0"/>
              <a:t>j(t)</a:t>
            </a:r>
            <a:r>
              <a:rPr kumimoji="1" lang="ja-JP" altLang="en-US" dirty="0"/>
              <a:t>の分散</a:t>
            </a:r>
            <a:endParaRPr kumimoji="1" lang="en-US" altLang="ja-JP" dirty="0"/>
          </a:p>
          <a:p>
            <a:r>
              <a:rPr kumimoji="1" lang="ja-JP" altLang="en-US" dirty="0"/>
              <a:t>・位相ノイズが</a:t>
            </a:r>
            <a:r>
              <a:rPr kumimoji="1" lang="en-US" altLang="ja-JP" dirty="0"/>
              <a:t>j(t)</a:t>
            </a:r>
            <a:r>
              <a:rPr kumimoji="1" lang="ja-JP" altLang="en-US" dirty="0"/>
              <a:t>なら</a:t>
            </a:r>
            <a:r>
              <a:rPr kumimoji="1" lang="en-US" altLang="ja-JP" dirty="0" err="1"/>
              <a:t>σ</a:t>
            </a:r>
            <a:r>
              <a:rPr kumimoji="1" lang="en-US" altLang="ja-JP" dirty="0"/>
              <a:t>(j(t))</a:t>
            </a:r>
          </a:p>
          <a:p>
            <a:endParaRPr kumimoji="1" lang="en-US" altLang="ja-JP" dirty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altLang="ja-JP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lang="ja-JP" altLang="en-US"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38128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altLang="ja-JP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lang="ja-JP" altLang="en-US"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86167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altLang="ja-JP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15</a:t>
            </a:fld>
            <a:endParaRPr lang="ja-JP" altLang="en-US"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8332906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行タイトル+本文">
  <p:cSld name="1行タイトル+本文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2;p41">
            <a:extLst>
              <a:ext uri="{FF2B5EF4-FFF2-40B4-BE49-F238E27FC236}">
                <a16:creationId xmlns:a16="http://schemas.microsoft.com/office/drawing/2014/main" id="{D597FADB-FE53-9A2C-CE30-9A690B5E32D2}"/>
              </a:ext>
            </a:extLst>
          </p:cNvPr>
          <p:cNvSpPr txBox="1"/>
          <p:nvPr userDrawn="1"/>
        </p:nvSpPr>
        <p:spPr>
          <a:xfrm>
            <a:off x="201975" y="251988"/>
            <a:ext cx="9504000" cy="67129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144000" tIns="324000" rIns="0" bIns="360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Noto Sans Symbols"/>
              <a:buNone/>
            </a:pPr>
            <a:endParaRPr sz="2000" b="1" i="0" u="none" strike="noStrike" cap="none" dirty="0">
              <a:solidFill>
                <a:srgbClr val="000F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46"/>
          <p:cNvSpPr txBox="1">
            <a:spLocks noGrp="1"/>
          </p:cNvSpPr>
          <p:nvPr>
            <p:ph type="title"/>
          </p:nvPr>
        </p:nvSpPr>
        <p:spPr>
          <a:xfrm>
            <a:off x="227025" y="259239"/>
            <a:ext cx="9477000" cy="6283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75" b="0" i="0" u="none" strike="noStrike" cap="none">
                <a:solidFill>
                  <a:schemeClr val="bg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35" name="Google Shape;35;p46"/>
          <p:cNvSpPr txBox="1">
            <a:spLocks noGrp="1"/>
          </p:cNvSpPr>
          <p:nvPr>
            <p:ph type="body" idx="1"/>
          </p:nvPr>
        </p:nvSpPr>
        <p:spPr>
          <a:xfrm>
            <a:off x="213525" y="906114"/>
            <a:ext cx="9477000" cy="1308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425" tIns="43175" rIns="88425" bIns="43175" anchor="t" anchorCtr="0">
            <a:noAutofit/>
          </a:bodyPr>
          <a:lstStyle>
            <a:lvl1pPr marL="457200" lvl="0" indent="-331787" algn="l">
              <a:lnSpc>
                <a:spcPct val="100000"/>
              </a:lnSpc>
              <a:spcBef>
                <a:spcPts val="488"/>
              </a:spcBef>
              <a:spcAft>
                <a:spcPts val="0"/>
              </a:spcAft>
              <a:buSzPts val="1625"/>
              <a:buChar char="■"/>
              <a:defRPr sz="1800">
                <a:solidFill>
                  <a:schemeClr val="tx1"/>
                </a:solidFill>
              </a:defRPr>
            </a:lvl1pPr>
            <a:lvl2pPr marL="914400" lvl="1" indent="-321500" algn="l">
              <a:lnSpc>
                <a:spcPct val="100000"/>
              </a:lnSpc>
              <a:spcBef>
                <a:spcPts val="439"/>
              </a:spcBef>
              <a:spcAft>
                <a:spcPts val="0"/>
              </a:spcAft>
              <a:buSzPts val="1463"/>
              <a:buChar char="●"/>
              <a:defRPr sz="1463"/>
            </a:lvl2pPr>
            <a:lvl3pPr marL="1371600" lvl="2" indent="-311150" algn="l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SzPts val="1300"/>
              <a:buFont typeface="Arial"/>
              <a:buChar char="▪"/>
              <a:defRPr sz="1300"/>
            </a:lvl3pPr>
            <a:lvl4pPr marL="1828800" lvl="3" indent="-300863" algn="l">
              <a:lnSpc>
                <a:spcPct val="100000"/>
              </a:lnSpc>
              <a:spcBef>
                <a:spcPts val="171"/>
              </a:spcBef>
              <a:spcAft>
                <a:spcPts val="0"/>
              </a:spcAft>
              <a:buSzPts val="1138"/>
              <a:buFont typeface="Arial"/>
              <a:buChar char="▪"/>
              <a:defRPr sz="1138"/>
            </a:lvl4pPr>
            <a:lvl5pPr marL="2286000" lvl="4" indent="-290512" algn="l">
              <a:lnSpc>
                <a:spcPct val="100000"/>
              </a:lnSpc>
              <a:spcBef>
                <a:spcPts val="98"/>
              </a:spcBef>
              <a:spcAft>
                <a:spcPts val="0"/>
              </a:spcAft>
              <a:buSzPts val="975"/>
              <a:buFont typeface="Arial"/>
              <a:buChar char="▪"/>
              <a:defRPr sz="975"/>
            </a:lvl5pPr>
            <a:lvl6pPr marL="2743200" lvl="5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 dirty="0"/>
          </a:p>
        </p:txBody>
      </p:sp>
      <p:sp>
        <p:nvSpPr>
          <p:cNvPr id="4" name="Google Shape;26;p43">
            <a:extLst>
              <a:ext uri="{FF2B5EF4-FFF2-40B4-BE49-F238E27FC236}">
                <a16:creationId xmlns:a16="http://schemas.microsoft.com/office/drawing/2014/main" id="{4C692D73-7D54-2741-7DA0-F6127E9259A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017000" y="66294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7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行タイトル+本文" preserve="1" userDrawn="1">
  <p:cSld name="1_1行タイトル+本文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2;p41">
            <a:extLst>
              <a:ext uri="{FF2B5EF4-FFF2-40B4-BE49-F238E27FC236}">
                <a16:creationId xmlns:a16="http://schemas.microsoft.com/office/drawing/2014/main" id="{D597FADB-FE53-9A2C-CE30-9A690B5E32D2}"/>
              </a:ext>
            </a:extLst>
          </p:cNvPr>
          <p:cNvSpPr txBox="1"/>
          <p:nvPr userDrawn="1"/>
        </p:nvSpPr>
        <p:spPr>
          <a:xfrm>
            <a:off x="201975" y="251988"/>
            <a:ext cx="9504000" cy="67129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144000" tIns="324000" rIns="0" bIns="360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Noto Sans Symbols"/>
              <a:buNone/>
            </a:pPr>
            <a:endParaRPr sz="2000" b="1" i="0" u="none" strike="noStrike" cap="none" dirty="0">
              <a:solidFill>
                <a:srgbClr val="000F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6"/>
          <p:cNvSpPr txBox="1">
            <a:spLocks noGrp="1"/>
          </p:cNvSpPr>
          <p:nvPr>
            <p:ph type="body" idx="1"/>
          </p:nvPr>
        </p:nvSpPr>
        <p:spPr>
          <a:xfrm>
            <a:off x="213525" y="906114"/>
            <a:ext cx="9477000" cy="1308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425" tIns="43175" rIns="88425" bIns="43175" anchor="t" anchorCtr="0">
            <a:noAutofit/>
          </a:bodyPr>
          <a:lstStyle>
            <a:lvl1pPr marL="457200" lvl="0" indent="-331787" algn="l">
              <a:lnSpc>
                <a:spcPct val="100000"/>
              </a:lnSpc>
              <a:spcBef>
                <a:spcPts val="488"/>
              </a:spcBef>
              <a:spcAft>
                <a:spcPts val="0"/>
              </a:spcAft>
              <a:buSzPts val="1625"/>
              <a:buChar char="■"/>
              <a:defRPr sz="1625">
                <a:solidFill>
                  <a:schemeClr val="bg2"/>
                </a:solidFill>
              </a:defRPr>
            </a:lvl1pPr>
            <a:lvl2pPr marL="914400" lvl="1" indent="-321500" algn="l">
              <a:lnSpc>
                <a:spcPct val="100000"/>
              </a:lnSpc>
              <a:spcBef>
                <a:spcPts val="439"/>
              </a:spcBef>
              <a:spcAft>
                <a:spcPts val="0"/>
              </a:spcAft>
              <a:buSzPts val="1463"/>
              <a:buChar char="●"/>
              <a:defRPr sz="1463"/>
            </a:lvl2pPr>
            <a:lvl3pPr marL="1371600" lvl="2" indent="-311150" algn="l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SzPts val="1300"/>
              <a:buFont typeface="Arial"/>
              <a:buChar char="▪"/>
              <a:defRPr sz="1300"/>
            </a:lvl3pPr>
            <a:lvl4pPr marL="1828800" lvl="3" indent="-300863" algn="l">
              <a:lnSpc>
                <a:spcPct val="100000"/>
              </a:lnSpc>
              <a:spcBef>
                <a:spcPts val="171"/>
              </a:spcBef>
              <a:spcAft>
                <a:spcPts val="0"/>
              </a:spcAft>
              <a:buSzPts val="1138"/>
              <a:buFont typeface="Arial"/>
              <a:buChar char="▪"/>
              <a:defRPr sz="1138"/>
            </a:lvl4pPr>
            <a:lvl5pPr marL="2286000" lvl="4" indent="-290512" algn="l">
              <a:lnSpc>
                <a:spcPct val="100000"/>
              </a:lnSpc>
              <a:spcBef>
                <a:spcPts val="98"/>
              </a:spcBef>
              <a:spcAft>
                <a:spcPts val="0"/>
              </a:spcAft>
              <a:buSzPts val="975"/>
              <a:buFont typeface="Arial"/>
              <a:buChar char="▪"/>
              <a:defRPr sz="975"/>
            </a:lvl5pPr>
            <a:lvl6pPr marL="2743200" lvl="5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 dirty="0"/>
          </a:p>
        </p:txBody>
      </p:sp>
      <p:sp>
        <p:nvSpPr>
          <p:cNvPr id="4" name="Google Shape;26;p43">
            <a:extLst>
              <a:ext uri="{FF2B5EF4-FFF2-40B4-BE49-F238E27FC236}">
                <a16:creationId xmlns:a16="http://schemas.microsoft.com/office/drawing/2014/main" id="{4C692D73-7D54-2741-7DA0-F6127E9259A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017000" y="66294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8756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7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白紙" type="blank">
  <p:cSld name="BLANK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3"/>
          <p:cNvSpPr txBox="1">
            <a:spLocks noGrp="1"/>
          </p:cNvSpPr>
          <p:nvPr>
            <p:ph type="sldNum" idx="12"/>
          </p:nvPr>
        </p:nvSpPr>
        <p:spPr>
          <a:xfrm>
            <a:off x="9017000" y="66294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8"/>
          <p:cNvSpPr txBox="1">
            <a:spLocks noGrp="1"/>
          </p:cNvSpPr>
          <p:nvPr>
            <p:ph type="title"/>
          </p:nvPr>
        </p:nvSpPr>
        <p:spPr>
          <a:xfrm>
            <a:off x="168640" y="1262921"/>
            <a:ext cx="9448800" cy="954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2" name="Google Shape;42;p48"/>
          <p:cNvSpPr txBox="1">
            <a:spLocks noGrp="1"/>
          </p:cNvSpPr>
          <p:nvPr>
            <p:ph type="sldNum" idx="12"/>
          </p:nvPr>
        </p:nvSpPr>
        <p:spPr>
          <a:xfrm>
            <a:off x="9017000" y="66294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中表紙">
  <p:cSld name="中表紙">
    <p:bg>
      <p:bgPr>
        <a:solidFill>
          <a:srgbClr val="E4ECED">
            <a:alpha val="49411"/>
          </a:srgbClr>
        </a:solid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Google Shape;28;p44"/>
          <p:cNvCxnSpPr/>
          <p:nvPr/>
        </p:nvCxnSpPr>
        <p:spPr>
          <a:xfrm>
            <a:off x="0" y="3564000"/>
            <a:ext cx="9906000" cy="0"/>
          </a:xfrm>
          <a:prstGeom prst="straightConnector1">
            <a:avLst/>
          </a:prstGeom>
          <a:noFill/>
          <a:ln w="9525" cap="flat" cmpd="sng">
            <a:solidFill>
              <a:srgbClr val="000F7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" name="Google Shape;29;p44"/>
          <p:cNvSpPr txBox="1">
            <a:spLocks noGrp="1"/>
          </p:cNvSpPr>
          <p:nvPr>
            <p:ph type="title"/>
          </p:nvPr>
        </p:nvSpPr>
        <p:spPr>
          <a:xfrm>
            <a:off x="200025" y="3060000"/>
            <a:ext cx="9504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144000" anchor="b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F7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F7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55077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1"/>
          <p:cNvSpPr txBox="1">
            <a:spLocks noGrp="1"/>
          </p:cNvSpPr>
          <p:nvPr>
            <p:ph type="body" idx="1"/>
          </p:nvPr>
        </p:nvSpPr>
        <p:spPr>
          <a:xfrm>
            <a:off x="228600" y="1524000"/>
            <a:ext cx="9448800" cy="50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425" tIns="43175" rIns="88425" bIns="43175" anchor="t" anchorCtr="0">
            <a:noAutofit/>
          </a:bodyPr>
          <a:lstStyle>
            <a:lvl1pPr marL="457200" marR="0" lvl="0" indent="-3302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Noto Sans Symbols"/>
              <a:buChar char="■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Noto Sans Symbols"/>
              <a:buChar char="●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▪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41"/>
          <p:cNvSpPr txBox="1">
            <a:spLocks noGrp="1"/>
          </p:cNvSpPr>
          <p:nvPr>
            <p:ph type="sldNum" idx="12"/>
          </p:nvPr>
        </p:nvSpPr>
        <p:spPr>
          <a:xfrm>
            <a:off x="9017000" y="6598761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3" r:id="rId1"/>
    <p:sldLayoutId id="2147483659" r:id="rId2"/>
    <p:sldLayoutId id="2147483650" r:id="rId3"/>
    <p:sldLayoutId id="2147483655" r:id="rId4"/>
    <p:sldLayoutId id="2147483660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microsoft.com/office/2018/10/relationships/comments" Target="../comments/modernComment_1A9_FA5B598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microsoft.com/office/2018/10/relationships/comments" Target="../comments/modernComment_184_484A4A.xml"/><Relationship Id="rId4" Type="http://schemas.openxmlformats.org/officeDocument/2006/relationships/image" Target="../media/image2.emf"/><Relationship Id="rId5" Type="http://schemas.openxmlformats.org/officeDocument/2006/relationships/image" Target="../media/image3.emf"/><Relationship Id="rId6" Type="http://schemas.openxmlformats.org/officeDocument/2006/relationships/image" Target="../media/image4.emf"/><Relationship Id="rId7" Type="http://schemas.openxmlformats.org/officeDocument/2006/relationships/image" Target="../media/image5.emf"/><Relationship Id="rId8" Type="http://schemas.openxmlformats.org/officeDocument/2006/relationships/image" Target="../media/image6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2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2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oleObject" Target="../embeddings/oleObject1.bin"/><Relationship Id="rId4" Type="http://schemas.openxmlformats.org/officeDocument/2006/relationships/image" Target="../media/image11.emf"/><Relationship Id="rId5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A8DDC74B-379C-60AA-C6B0-F4616E96AD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mtClean="0"/>
              <a:t>0</a:t>
            </a:fld>
            <a:endParaRPr lang="ja-JP" altLang="en-US" dirty="0"/>
          </a:p>
        </p:txBody>
      </p:sp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AA7F329-6046-8E5F-D683-3255C4F76CA1}"/>
              </a:ext>
            </a:extLst>
          </p:cNvPr>
          <p:cNvCxnSpPr/>
          <p:nvPr/>
        </p:nvCxnSpPr>
        <p:spPr>
          <a:xfrm>
            <a:off x="501015" y="4146319"/>
            <a:ext cx="890397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1FC25AB-DEB9-83EB-9860-9B53C72373B7}"/>
              </a:ext>
            </a:extLst>
          </p:cNvPr>
          <p:cNvSpPr txBox="1"/>
          <p:nvPr/>
        </p:nvSpPr>
        <p:spPr>
          <a:xfrm>
            <a:off x="3510915" y="4417536"/>
            <a:ext cx="28841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000">
                <a:latin typeface="Arial"/>
                <a:ea typeface="Arial"/>
              </a:rPr>
              <a:t>斎藤晴雄研究室</a:t>
            </a:r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B190BDFC-58C0-7EBD-75E3-17EBBE924494}"/>
              </a:ext>
            </a:extLst>
          </p:cNvPr>
          <p:cNvCxnSpPr>
            <a:cxnSpLocks/>
          </p:cNvCxnSpPr>
          <p:nvPr/>
        </p:nvCxnSpPr>
        <p:spPr>
          <a:xfrm>
            <a:off x="7160895" y="6130290"/>
            <a:ext cx="274510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C6662F0-FEA1-B1A8-8DF6-0F41BB2511D8}"/>
              </a:ext>
            </a:extLst>
          </p:cNvPr>
          <p:cNvSpPr txBox="1"/>
          <p:nvPr/>
        </p:nvSpPr>
        <p:spPr>
          <a:xfrm>
            <a:off x="7160894" y="5822513"/>
            <a:ext cx="27451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>
                <a:latin typeface="Arial"/>
                <a:ea typeface="Arial"/>
              </a:rPr>
              <a:t>2026/06/24 10:30-10:50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2CBA681-9ACC-0BBE-1EB5-246173595B06}"/>
              </a:ext>
            </a:extLst>
          </p:cNvPr>
          <p:cNvSpPr txBox="1"/>
          <p:nvPr/>
        </p:nvSpPr>
        <p:spPr>
          <a:xfrm>
            <a:off x="2546509" y="4817646"/>
            <a:ext cx="4812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dirty="0">
                <a:latin typeface="Arial"/>
                <a:ea typeface="Arial"/>
              </a:rPr>
              <a:t>08-223022 </a:t>
            </a:r>
            <a:r>
              <a:rPr kumimoji="1" lang="ja-JP" altLang="en-US" sz="2000">
                <a:latin typeface="Arial"/>
                <a:ea typeface="Arial"/>
              </a:rPr>
              <a:t>福井</a:t>
            </a:r>
            <a:r>
              <a:rPr kumimoji="1" lang="en-US" altLang="ja-JP" sz="2000" dirty="0">
                <a:latin typeface="Arial"/>
                <a:ea typeface="Arial"/>
              </a:rPr>
              <a:t> </a:t>
            </a:r>
            <a:r>
              <a:rPr kumimoji="1" lang="ja-JP" altLang="en-US" sz="2000">
                <a:latin typeface="Arial"/>
                <a:ea typeface="Arial"/>
              </a:rPr>
              <a:t>晴士郎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85347EE-2965-C090-63D4-710A20C95107}"/>
              </a:ext>
            </a:extLst>
          </p:cNvPr>
          <p:cNvSpPr txBox="1"/>
          <p:nvPr/>
        </p:nvSpPr>
        <p:spPr>
          <a:xfrm>
            <a:off x="501016" y="2828835"/>
            <a:ext cx="89039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600" dirty="0">
                <a:latin typeface="Arial"/>
                <a:ea typeface="Arial"/>
              </a:rPr>
              <a:t>水晶基準発信器の</a:t>
            </a:r>
            <a:endParaRPr kumimoji="1" lang="en-US" altLang="ja-JP" sz="3600" dirty="0"/>
          </a:p>
          <a:p>
            <a:pPr algn="ctr"/>
            <a:r>
              <a:rPr kumimoji="1" lang="ja-JP" altLang="en-US" sz="3600" dirty="0">
                <a:latin typeface="Arial"/>
                <a:ea typeface="Arial"/>
              </a:rPr>
              <a:t>位相同期制御による高純度信号作成</a:t>
            </a:r>
          </a:p>
        </p:txBody>
      </p:sp>
    </p:spTree>
    <p:extLst>
      <p:ext uri="{BB962C8B-B14F-4D97-AF65-F5344CB8AC3E}">
        <p14:creationId xmlns:p14="http://schemas.microsoft.com/office/powerpoint/2010/main" val="420029069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"/>
          <p:cNvSpPr/>
          <p:nvPr/>
        </p:nvSpPr>
        <p:spPr>
          <a:xfrm>
            <a:off x="133643" y="175846"/>
            <a:ext cx="464234" cy="963637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2"/>
          <p:cNvSpPr txBox="1"/>
          <p:nvPr/>
        </p:nvSpPr>
        <p:spPr>
          <a:xfrm>
            <a:off x="9201989" y="65913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425" tIns="43175" rIns="88425" bIns="431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Noto Sans Symbols"/>
              <a:buNone/>
            </a:pPr>
            <a:fld id="{00000000-1234-1234-1234-123412341234}" type="slidenum">
              <a:rPr lang="en-US" altLang="ja-JP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1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87F1A145-67EE-D989-0616-084884FAD21F}"/>
              </a:ext>
            </a:extLst>
          </p:cNvPr>
          <p:cNvGrpSpPr/>
          <p:nvPr/>
        </p:nvGrpSpPr>
        <p:grpSpPr>
          <a:xfrm>
            <a:off x="966349" y="2320887"/>
            <a:ext cx="7285338" cy="550196"/>
            <a:chOff x="966349" y="2235689"/>
            <a:chExt cx="7285338" cy="550196"/>
          </a:xfrm>
        </p:grpSpPr>
        <p:grpSp>
          <p:nvGrpSpPr>
            <p:cNvPr id="4" name="Google Shape;56;p2">
              <a:extLst>
                <a:ext uri="{FF2B5EF4-FFF2-40B4-BE49-F238E27FC236}">
                  <a16:creationId xmlns:a16="http://schemas.microsoft.com/office/drawing/2014/main" id="{FE881E70-03A8-C9EB-4648-77E20B2E1034}"/>
                </a:ext>
              </a:extLst>
            </p:cNvPr>
            <p:cNvGrpSpPr/>
            <p:nvPr/>
          </p:nvGrpSpPr>
          <p:grpSpPr>
            <a:xfrm>
              <a:off x="966349" y="2260867"/>
              <a:ext cx="5209544" cy="525018"/>
              <a:chOff x="1363626" y="1195448"/>
              <a:chExt cx="5209544" cy="525018"/>
            </a:xfrm>
          </p:grpSpPr>
          <p:sp>
            <p:nvSpPr>
              <p:cNvPr id="8" name="Google Shape;57;p2">
                <a:extLst>
                  <a:ext uri="{FF2B5EF4-FFF2-40B4-BE49-F238E27FC236}">
                    <a16:creationId xmlns:a16="http://schemas.microsoft.com/office/drawing/2014/main" id="{BE009C27-9EE4-2208-892F-EE7A83BE4376}"/>
                  </a:ext>
                </a:extLst>
              </p:cNvPr>
              <p:cNvSpPr/>
              <p:nvPr/>
            </p:nvSpPr>
            <p:spPr>
              <a:xfrm>
                <a:off x="1419517" y="1195448"/>
                <a:ext cx="5153653" cy="525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56000" tIns="36000" rIns="99050" bIns="360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" name="Google Shape;58;p2">
                <a:extLst>
                  <a:ext uri="{FF2B5EF4-FFF2-40B4-BE49-F238E27FC236}">
                    <a16:creationId xmlns:a16="http://schemas.microsoft.com/office/drawing/2014/main" id="{62C0A97A-CCC7-9FE2-00E6-B7EC607BA7FE}"/>
                  </a:ext>
                </a:extLst>
              </p:cNvPr>
              <p:cNvSpPr/>
              <p:nvPr/>
            </p:nvSpPr>
            <p:spPr>
              <a:xfrm>
                <a:off x="1363626" y="1195448"/>
                <a:ext cx="681998" cy="525018"/>
              </a:xfrm>
              <a:prstGeom prst="homePlate">
                <a:avLst>
                  <a:gd name="adj" fmla="val 31952"/>
                </a:avLst>
              </a:prstGeom>
              <a:solidFill>
                <a:srgbClr val="000F78"/>
              </a:solidFill>
              <a:ln>
                <a:noFill/>
              </a:ln>
            </p:spPr>
            <p:txBody>
              <a:bodyPr spcFirstLastPara="1" wrap="square" lIns="99050" tIns="49525" rIns="99050" bIns="495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ja-JP" sz="1200" b="1" i="0" u="none" strike="noStrike" cap="non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0</a:t>
                </a:r>
                <a:r>
                  <a:rPr lang="en-US" altLang="ja-JP" sz="1200" b="1" i="0" u="none" strike="noStrike" cap="none" dirty="0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2</a:t>
                </a:r>
                <a:endParaRPr sz="12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0" name="Google Shape;68;p2">
              <a:extLst>
                <a:ext uri="{FF2B5EF4-FFF2-40B4-BE49-F238E27FC236}">
                  <a16:creationId xmlns:a16="http://schemas.microsoft.com/office/drawing/2014/main" id="{67802ABC-BA82-98A3-50D8-837191BCD854}"/>
                </a:ext>
              </a:extLst>
            </p:cNvPr>
            <p:cNvSpPr/>
            <p:nvPr/>
          </p:nvSpPr>
          <p:spPr>
            <a:xfrm>
              <a:off x="966349" y="2235689"/>
              <a:ext cx="7285338" cy="525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56000" tIns="36000" rIns="99050" bIns="36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ja-JP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ja-JP" altLang="en-US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本研究の目標</a:t>
              </a:r>
              <a:endParaRPr lang="en-US" altLang="ja-JP" sz="2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326664E3-DC11-C842-2233-33D2E906848C}"/>
              </a:ext>
            </a:extLst>
          </p:cNvPr>
          <p:cNvGrpSpPr/>
          <p:nvPr/>
        </p:nvGrpSpPr>
        <p:grpSpPr>
          <a:xfrm>
            <a:off x="966349" y="3049829"/>
            <a:ext cx="7285338" cy="550196"/>
            <a:chOff x="966349" y="2854847"/>
            <a:chExt cx="7285338" cy="550196"/>
          </a:xfrm>
        </p:grpSpPr>
        <p:grpSp>
          <p:nvGrpSpPr>
            <p:cNvPr id="11" name="Google Shape;56;p2">
              <a:extLst>
                <a:ext uri="{FF2B5EF4-FFF2-40B4-BE49-F238E27FC236}">
                  <a16:creationId xmlns:a16="http://schemas.microsoft.com/office/drawing/2014/main" id="{5B99108C-3C98-59C1-BA22-035CD6D84C45}"/>
                </a:ext>
              </a:extLst>
            </p:cNvPr>
            <p:cNvGrpSpPr/>
            <p:nvPr/>
          </p:nvGrpSpPr>
          <p:grpSpPr>
            <a:xfrm>
              <a:off x="966349" y="2880025"/>
              <a:ext cx="5209544" cy="525018"/>
              <a:chOff x="1363626" y="1195448"/>
              <a:chExt cx="5209544" cy="525018"/>
            </a:xfrm>
          </p:grpSpPr>
          <p:sp>
            <p:nvSpPr>
              <p:cNvPr id="12" name="Google Shape;57;p2">
                <a:extLst>
                  <a:ext uri="{FF2B5EF4-FFF2-40B4-BE49-F238E27FC236}">
                    <a16:creationId xmlns:a16="http://schemas.microsoft.com/office/drawing/2014/main" id="{0BE9DA5C-86ED-6EAE-52BA-533BDEC6F87E}"/>
                  </a:ext>
                </a:extLst>
              </p:cNvPr>
              <p:cNvSpPr/>
              <p:nvPr/>
            </p:nvSpPr>
            <p:spPr>
              <a:xfrm>
                <a:off x="1419517" y="1195448"/>
                <a:ext cx="5153653" cy="525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56000" tIns="36000" rIns="99050" bIns="360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" name="Google Shape;58;p2">
                <a:extLst>
                  <a:ext uri="{FF2B5EF4-FFF2-40B4-BE49-F238E27FC236}">
                    <a16:creationId xmlns:a16="http://schemas.microsoft.com/office/drawing/2014/main" id="{A0E59B47-6B25-FE76-5709-AFFB28EE80D0}"/>
                  </a:ext>
                </a:extLst>
              </p:cNvPr>
              <p:cNvSpPr/>
              <p:nvPr/>
            </p:nvSpPr>
            <p:spPr>
              <a:xfrm>
                <a:off x="1363626" y="1195448"/>
                <a:ext cx="681998" cy="525018"/>
              </a:xfrm>
              <a:prstGeom prst="homePlate">
                <a:avLst>
                  <a:gd name="adj" fmla="val 31952"/>
                </a:avLst>
              </a:prstGeom>
              <a:solidFill>
                <a:srgbClr val="000F78"/>
              </a:solidFill>
              <a:ln>
                <a:noFill/>
              </a:ln>
            </p:spPr>
            <p:txBody>
              <a:bodyPr spcFirstLastPara="1" wrap="square" lIns="99050" tIns="49525" rIns="99050" bIns="495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ja-JP" sz="1200" b="1" i="0" u="none" strike="noStrike" cap="non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0</a:t>
                </a:r>
                <a:r>
                  <a:rPr lang="en-US" altLang="ja-JP" sz="1200" b="1" i="0" u="none" strike="noStrike" cap="none" dirty="0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3</a:t>
                </a:r>
                <a:endParaRPr sz="12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4" name="Google Shape;68;p2">
              <a:extLst>
                <a:ext uri="{FF2B5EF4-FFF2-40B4-BE49-F238E27FC236}">
                  <a16:creationId xmlns:a16="http://schemas.microsoft.com/office/drawing/2014/main" id="{2A6F96B4-7264-1FA6-3AC9-9E6497410E11}"/>
                </a:ext>
              </a:extLst>
            </p:cNvPr>
            <p:cNvSpPr/>
            <p:nvPr/>
          </p:nvSpPr>
          <p:spPr>
            <a:xfrm>
              <a:off x="966349" y="2854847"/>
              <a:ext cx="7285338" cy="525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56000" tIns="36000" rIns="99050" bIns="36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ja-JP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先行研究</a:t>
              </a:r>
              <a:endParaRPr lang="en-US" altLang="ja-JP" sz="2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841A2931-A659-0346-5CD4-D536C9AEE1A4}"/>
              </a:ext>
            </a:extLst>
          </p:cNvPr>
          <p:cNvGrpSpPr/>
          <p:nvPr/>
        </p:nvGrpSpPr>
        <p:grpSpPr>
          <a:xfrm>
            <a:off x="966349" y="3778771"/>
            <a:ext cx="7285338" cy="550196"/>
            <a:chOff x="966349" y="3476162"/>
            <a:chExt cx="7285338" cy="550196"/>
          </a:xfrm>
        </p:grpSpPr>
        <p:grpSp>
          <p:nvGrpSpPr>
            <p:cNvPr id="15" name="Google Shape;56;p2">
              <a:extLst>
                <a:ext uri="{FF2B5EF4-FFF2-40B4-BE49-F238E27FC236}">
                  <a16:creationId xmlns:a16="http://schemas.microsoft.com/office/drawing/2014/main" id="{C787518E-46B1-A0A7-B751-A1A66CF95DBC}"/>
                </a:ext>
              </a:extLst>
            </p:cNvPr>
            <p:cNvGrpSpPr/>
            <p:nvPr/>
          </p:nvGrpSpPr>
          <p:grpSpPr>
            <a:xfrm>
              <a:off x="966349" y="3501340"/>
              <a:ext cx="5209544" cy="525018"/>
              <a:chOff x="1363626" y="1195448"/>
              <a:chExt cx="5209544" cy="525018"/>
            </a:xfrm>
          </p:grpSpPr>
          <p:sp>
            <p:nvSpPr>
              <p:cNvPr id="16" name="Google Shape;57;p2">
                <a:extLst>
                  <a:ext uri="{FF2B5EF4-FFF2-40B4-BE49-F238E27FC236}">
                    <a16:creationId xmlns:a16="http://schemas.microsoft.com/office/drawing/2014/main" id="{CAF34C88-19F4-5A3F-904E-E4BB54EFA288}"/>
                  </a:ext>
                </a:extLst>
              </p:cNvPr>
              <p:cNvSpPr/>
              <p:nvPr/>
            </p:nvSpPr>
            <p:spPr>
              <a:xfrm>
                <a:off x="1419517" y="1195448"/>
                <a:ext cx="5153653" cy="525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56000" tIns="36000" rIns="99050" bIns="360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" name="Google Shape;58;p2">
                <a:extLst>
                  <a:ext uri="{FF2B5EF4-FFF2-40B4-BE49-F238E27FC236}">
                    <a16:creationId xmlns:a16="http://schemas.microsoft.com/office/drawing/2014/main" id="{C6E13D04-1959-787E-E2E3-EF3F0A7382D9}"/>
                  </a:ext>
                </a:extLst>
              </p:cNvPr>
              <p:cNvSpPr/>
              <p:nvPr/>
            </p:nvSpPr>
            <p:spPr>
              <a:xfrm>
                <a:off x="1363626" y="1195448"/>
                <a:ext cx="681998" cy="525018"/>
              </a:xfrm>
              <a:prstGeom prst="homePlate">
                <a:avLst>
                  <a:gd name="adj" fmla="val 31952"/>
                </a:avLst>
              </a:prstGeom>
              <a:solidFill>
                <a:srgbClr val="000F78"/>
              </a:solidFill>
              <a:ln>
                <a:noFill/>
              </a:ln>
            </p:spPr>
            <p:txBody>
              <a:bodyPr spcFirstLastPara="1" wrap="square" lIns="99050" tIns="49525" rIns="99050" bIns="495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ja-JP" sz="1200" b="1" i="0" u="none" strike="noStrike" cap="non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0</a:t>
                </a:r>
                <a:r>
                  <a:rPr lang="en-US" altLang="ja-JP" sz="1200" b="1" i="0" u="none" strike="noStrike" cap="none" dirty="0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4</a:t>
                </a:r>
                <a:endParaRPr sz="12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8" name="Google Shape;68;p2">
              <a:extLst>
                <a:ext uri="{FF2B5EF4-FFF2-40B4-BE49-F238E27FC236}">
                  <a16:creationId xmlns:a16="http://schemas.microsoft.com/office/drawing/2014/main" id="{77A0AFEF-9CEC-1345-7D86-F863612B480E}"/>
                </a:ext>
              </a:extLst>
            </p:cNvPr>
            <p:cNvSpPr/>
            <p:nvPr/>
          </p:nvSpPr>
          <p:spPr>
            <a:xfrm>
              <a:off x="966349" y="3476162"/>
              <a:ext cx="7285338" cy="525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56000" tIns="36000" rIns="99050" bIns="36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ja-JP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研究方法</a:t>
              </a:r>
              <a:endParaRPr lang="en-US" altLang="ja-JP" sz="2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270CE68A-EE4B-1058-5DEF-747E26FBF936}"/>
              </a:ext>
            </a:extLst>
          </p:cNvPr>
          <p:cNvGrpSpPr/>
          <p:nvPr/>
        </p:nvGrpSpPr>
        <p:grpSpPr>
          <a:xfrm>
            <a:off x="966349" y="4507713"/>
            <a:ext cx="7285338" cy="550196"/>
            <a:chOff x="966349" y="4068137"/>
            <a:chExt cx="7285338" cy="550196"/>
          </a:xfrm>
        </p:grpSpPr>
        <p:grpSp>
          <p:nvGrpSpPr>
            <p:cNvPr id="19" name="Google Shape;56;p2">
              <a:extLst>
                <a:ext uri="{FF2B5EF4-FFF2-40B4-BE49-F238E27FC236}">
                  <a16:creationId xmlns:a16="http://schemas.microsoft.com/office/drawing/2014/main" id="{6C9604AD-0804-F50F-68BE-C4FC8764BED9}"/>
                </a:ext>
              </a:extLst>
            </p:cNvPr>
            <p:cNvGrpSpPr/>
            <p:nvPr/>
          </p:nvGrpSpPr>
          <p:grpSpPr>
            <a:xfrm>
              <a:off x="966349" y="4093315"/>
              <a:ext cx="5209544" cy="525018"/>
              <a:chOff x="1363626" y="1195448"/>
              <a:chExt cx="5209544" cy="525018"/>
            </a:xfrm>
          </p:grpSpPr>
          <p:sp>
            <p:nvSpPr>
              <p:cNvPr id="20" name="Google Shape;57;p2">
                <a:extLst>
                  <a:ext uri="{FF2B5EF4-FFF2-40B4-BE49-F238E27FC236}">
                    <a16:creationId xmlns:a16="http://schemas.microsoft.com/office/drawing/2014/main" id="{110679F9-B8AA-5B19-0E99-11326BD66E72}"/>
                  </a:ext>
                </a:extLst>
              </p:cNvPr>
              <p:cNvSpPr/>
              <p:nvPr/>
            </p:nvSpPr>
            <p:spPr>
              <a:xfrm>
                <a:off x="1419517" y="1195448"/>
                <a:ext cx="5153653" cy="525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56000" tIns="36000" rIns="99050" bIns="360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" name="Google Shape;58;p2">
                <a:extLst>
                  <a:ext uri="{FF2B5EF4-FFF2-40B4-BE49-F238E27FC236}">
                    <a16:creationId xmlns:a16="http://schemas.microsoft.com/office/drawing/2014/main" id="{DA223E69-B477-1B68-EAA2-DFA9D6D01569}"/>
                  </a:ext>
                </a:extLst>
              </p:cNvPr>
              <p:cNvSpPr/>
              <p:nvPr/>
            </p:nvSpPr>
            <p:spPr>
              <a:xfrm>
                <a:off x="1363626" y="1195448"/>
                <a:ext cx="681998" cy="525018"/>
              </a:xfrm>
              <a:prstGeom prst="homePlate">
                <a:avLst>
                  <a:gd name="adj" fmla="val 31952"/>
                </a:avLst>
              </a:prstGeom>
              <a:solidFill>
                <a:srgbClr val="000F78"/>
              </a:solidFill>
              <a:ln>
                <a:noFill/>
              </a:ln>
            </p:spPr>
            <p:txBody>
              <a:bodyPr spcFirstLastPara="1" wrap="square" lIns="99050" tIns="49525" rIns="99050" bIns="495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ja-JP" sz="1200" b="1" i="0" u="none" strike="noStrike" cap="non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0</a:t>
                </a:r>
                <a:r>
                  <a:rPr lang="en-US" altLang="ja-JP" sz="1200" b="1" i="0" u="none" strike="noStrike" cap="none" dirty="0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5</a:t>
                </a:r>
                <a:endParaRPr sz="12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2" name="Google Shape;68;p2">
              <a:extLst>
                <a:ext uri="{FF2B5EF4-FFF2-40B4-BE49-F238E27FC236}">
                  <a16:creationId xmlns:a16="http://schemas.microsoft.com/office/drawing/2014/main" id="{F761D5D0-7141-AE81-C392-23D8AD8829E1}"/>
                </a:ext>
              </a:extLst>
            </p:cNvPr>
            <p:cNvSpPr/>
            <p:nvPr/>
          </p:nvSpPr>
          <p:spPr>
            <a:xfrm>
              <a:off x="966349" y="4068137"/>
              <a:ext cx="7285338" cy="525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56000" tIns="36000" rIns="99050" bIns="36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ja-JP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実験と結果</a:t>
              </a:r>
              <a:endParaRPr lang="en-US" altLang="ja-JP" sz="2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13ABD878-DFB2-6205-FF5D-49881191621D}"/>
              </a:ext>
            </a:extLst>
          </p:cNvPr>
          <p:cNvGrpSpPr/>
          <p:nvPr/>
        </p:nvGrpSpPr>
        <p:grpSpPr>
          <a:xfrm>
            <a:off x="966349" y="1591945"/>
            <a:ext cx="7285338" cy="550196"/>
            <a:chOff x="966349" y="1614374"/>
            <a:chExt cx="7285338" cy="550196"/>
          </a:xfrm>
        </p:grpSpPr>
        <p:grpSp>
          <p:nvGrpSpPr>
            <p:cNvPr id="23" name="Google Shape;56;p2">
              <a:extLst>
                <a:ext uri="{FF2B5EF4-FFF2-40B4-BE49-F238E27FC236}">
                  <a16:creationId xmlns:a16="http://schemas.microsoft.com/office/drawing/2014/main" id="{74C13A1A-09E8-428D-27DA-09C0B3571617}"/>
                </a:ext>
              </a:extLst>
            </p:cNvPr>
            <p:cNvGrpSpPr/>
            <p:nvPr/>
          </p:nvGrpSpPr>
          <p:grpSpPr>
            <a:xfrm>
              <a:off x="966349" y="1639552"/>
              <a:ext cx="5209544" cy="525018"/>
              <a:chOff x="1363626" y="1195448"/>
              <a:chExt cx="5209544" cy="525018"/>
            </a:xfrm>
          </p:grpSpPr>
          <p:sp>
            <p:nvSpPr>
              <p:cNvPr id="24" name="Google Shape;57;p2">
                <a:extLst>
                  <a:ext uri="{FF2B5EF4-FFF2-40B4-BE49-F238E27FC236}">
                    <a16:creationId xmlns:a16="http://schemas.microsoft.com/office/drawing/2014/main" id="{F88788C3-F177-8F1C-E3BD-9B46A058BD7C}"/>
                  </a:ext>
                </a:extLst>
              </p:cNvPr>
              <p:cNvSpPr/>
              <p:nvPr/>
            </p:nvSpPr>
            <p:spPr>
              <a:xfrm>
                <a:off x="1419517" y="1195448"/>
                <a:ext cx="5153653" cy="525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56000" tIns="36000" rIns="99050" bIns="360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" name="Google Shape;58;p2">
                <a:extLst>
                  <a:ext uri="{FF2B5EF4-FFF2-40B4-BE49-F238E27FC236}">
                    <a16:creationId xmlns:a16="http://schemas.microsoft.com/office/drawing/2014/main" id="{E9DAE931-8800-6403-E648-186C4E4E0913}"/>
                  </a:ext>
                </a:extLst>
              </p:cNvPr>
              <p:cNvSpPr/>
              <p:nvPr/>
            </p:nvSpPr>
            <p:spPr>
              <a:xfrm>
                <a:off x="1363626" y="1195448"/>
                <a:ext cx="681998" cy="525018"/>
              </a:xfrm>
              <a:prstGeom prst="homePlate">
                <a:avLst>
                  <a:gd name="adj" fmla="val 31952"/>
                </a:avLst>
              </a:prstGeom>
              <a:solidFill>
                <a:srgbClr val="000F78"/>
              </a:solidFill>
              <a:ln>
                <a:noFill/>
              </a:ln>
            </p:spPr>
            <p:txBody>
              <a:bodyPr spcFirstLastPara="1" wrap="square" lIns="99050" tIns="49525" rIns="99050" bIns="495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ja-JP" sz="1200" b="1" i="0" u="none" strike="noStrike" cap="non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01</a:t>
                </a:r>
                <a:endParaRPr sz="12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6" name="Google Shape;68;p2">
              <a:extLst>
                <a:ext uri="{FF2B5EF4-FFF2-40B4-BE49-F238E27FC236}">
                  <a16:creationId xmlns:a16="http://schemas.microsoft.com/office/drawing/2014/main" id="{E7DAC789-BAB3-37E1-722A-37EAE53CAD85}"/>
                </a:ext>
              </a:extLst>
            </p:cNvPr>
            <p:cNvSpPr/>
            <p:nvPr/>
          </p:nvSpPr>
          <p:spPr>
            <a:xfrm>
              <a:off x="966349" y="1614374"/>
              <a:ext cx="7285338" cy="525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56000" tIns="36000" rIns="99050" bIns="36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ja-JP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ja-JP" altLang="en-US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研究背景</a:t>
              </a:r>
              <a:endParaRPr lang="en-US" altLang="ja-JP" sz="2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2" name="Google Shape;12;p41">
            <a:extLst>
              <a:ext uri="{FF2B5EF4-FFF2-40B4-BE49-F238E27FC236}">
                <a16:creationId xmlns:a16="http://schemas.microsoft.com/office/drawing/2014/main" id="{65DABD37-B89A-F563-8D6B-40B5EC39E602}"/>
              </a:ext>
            </a:extLst>
          </p:cNvPr>
          <p:cNvSpPr txBox="1"/>
          <p:nvPr/>
        </p:nvSpPr>
        <p:spPr>
          <a:xfrm>
            <a:off x="201975" y="251988"/>
            <a:ext cx="9504000" cy="671292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144000" tIns="324000" rIns="0" bIns="360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Noto Sans Symbols"/>
              <a:buNone/>
            </a:pPr>
            <a:r>
              <a:rPr lang="en-US" sz="2000" b="1" dirty="0">
                <a:solidFill>
                  <a:srgbClr val="000F78"/>
                </a:solidFill>
                <a:latin typeface="Arial"/>
                <a:ea typeface="Arial"/>
              </a:rPr>
              <a:t>00.Index</a:t>
            </a:r>
            <a:endParaRPr sz="2000" b="1" i="0" u="none" strike="noStrike" cap="none" dirty="0">
              <a:solidFill>
                <a:srgbClr val="000F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9DC018A6-938B-EC91-B461-ECC4FC5AB921}"/>
              </a:ext>
            </a:extLst>
          </p:cNvPr>
          <p:cNvGrpSpPr/>
          <p:nvPr/>
        </p:nvGrpSpPr>
        <p:grpSpPr>
          <a:xfrm>
            <a:off x="966349" y="5236654"/>
            <a:ext cx="7285338" cy="550196"/>
            <a:chOff x="966349" y="4068137"/>
            <a:chExt cx="7285338" cy="550196"/>
          </a:xfrm>
        </p:grpSpPr>
        <p:grpSp>
          <p:nvGrpSpPr>
            <p:cNvPr id="36" name="Google Shape;56;p2">
              <a:extLst>
                <a:ext uri="{FF2B5EF4-FFF2-40B4-BE49-F238E27FC236}">
                  <a16:creationId xmlns:a16="http://schemas.microsoft.com/office/drawing/2014/main" id="{5146E329-5D15-89A8-7307-A1210A1C8CF0}"/>
                </a:ext>
              </a:extLst>
            </p:cNvPr>
            <p:cNvGrpSpPr/>
            <p:nvPr/>
          </p:nvGrpSpPr>
          <p:grpSpPr>
            <a:xfrm>
              <a:off x="966349" y="4093315"/>
              <a:ext cx="5209544" cy="525018"/>
              <a:chOff x="1363626" y="1195448"/>
              <a:chExt cx="5209544" cy="525018"/>
            </a:xfrm>
          </p:grpSpPr>
          <p:sp>
            <p:nvSpPr>
              <p:cNvPr id="38" name="Google Shape;57;p2">
                <a:extLst>
                  <a:ext uri="{FF2B5EF4-FFF2-40B4-BE49-F238E27FC236}">
                    <a16:creationId xmlns:a16="http://schemas.microsoft.com/office/drawing/2014/main" id="{E91C60B3-D8A8-F794-9389-307482A4BA26}"/>
                  </a:ext>
                </a:extLst>
              </p:cNvPr>
              <p:cNvSpPr/>
              <p:nvPr/>
            </p:nvSpPr>
            <p:spPr>
              <a:xfrm>
                <a:off x="1419517" y="1195448"/>
                <a:ext cx="5153653" cy="525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56000" tIns="36000" rIns="99050" bIns="360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" name="Google Shape;58;p2">
                <a:extLst>
                  <a:ext uri="{FF2B5EF4-FFF2-40B4-BE49-F238E27FC236}">
                    <a16:creationId xmlns:a16="http://schemas.microsoft.com/office/drawing/2014/main" id="{3F18BB21-9800-9FEB-1845-2556CAE0798D}"/>
                  </a:ext>
                </a:extLst>
              </p:cNvPr>
              <p:cNvSpPr/>
              <p:nvPr/>
            </p:nvSpPr>
            <p:spPr>
              <a:xfrm>
                <a:off x="1363626" y="1195448"/>
                <a:ext cx="681998" cy="525018"/>
              </a:xfrm>
              <a:prstGeom prst="homePlate">
                <a:avLst>
                  <a:gd name="adj" fmla="val 31952"/>
                </a:avLst>
              </a:prstGeom>
              <a:solidFill>
                <a:srgbClr val="000F78"/>
              </a:solidFill>
              <a:ln>
                <a:noFill/>
              </a:ln>
            </p:spPr>
            <p:txBody>
              <a:bodyPr spcFirstLastPara="1" wrap="square" lIns="99050" tIns="49525" rIns="99050" bIns="495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ja-JP" sz="1200" b="1" i="0" u="none" strike="noStrike" cap="non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0</a:t>
                </a:r>
                <a:r>
                  <a:rPr lang="en-US" altLang="ja-JP" sz="1200" b="1" dirty="0">
                    <a:solidFill>
                      <a:schemeClr val="lt1"/>
                    </a:solidFill>
                    <a:latin typeface="Arial"/>
                    <a:ea typeface="Arial"/>
                  </a:rPr>
                  <a:t>6</a:t>
                </a:r>
                <a:endParaRPr sz="12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7" name="Google Shape;68;p2">
              <a:extLst>
                <a:ext uri="{FF2B5EF4-FFF2-40B4-BE49-F238E27FC236}">
                  <a16:creationId xmlns:a16="http://schemas.microsoft.com/office/drawing/2014/main" id="{E5BCE9F3-880C-CC50-7FF6-6717695A2EE5}"/>
                </a:ext>
              </a:extLst>
            </p:cNvPr>
            <p:cNvSpPr/>
            <p:nvPr/>
          </p:nvSpPr>
          <p:spPr>
            <a:xfrm>
              <a:off x="966349" y="4068137"/>
              <a:ext cx="7285338" cy="525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56000" tIns="36000" rIns="99050" bIns="36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ja-JP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考察と今後の展望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6579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480CC7-C2AC-AC42-A69E-25BFFC791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1400" b="1" dirty="0">
                <a:latin typeface="Arial"/>
                <a:ea typeface="Arial"/>
              </a:rPr>
              <a:t>01.</a:t>
            </a:r>
            <a:r>
              <a:rPr kumimoji="1" lang="ja-JP" altLang="en-US" sz="1400" b="1" dirty="0">
                <a:latin typeface="Arial"/>
                <a:ea typeface="Arial"/>
              </a:rPr>
              <a:t>研究背景</a:t>
            </a:r>
            <a:br>
              <a:rPr kumimoji="1" lang="en-US" altLang="ja-JP" b="1" dirty="0"/>
            </a:br>
            <a:r>
              <a:rPr kumimoji="1" lang="en-US" altLang="ja-JP" b="1" dirty="0">
                <a:latin typeface="Arial"/>
                <a:ea typeface="Arial"/>
              </a:rPr>
              <a:t>1-1.</a:t>
            </a:r>
            <a:r>
              <a:rPr kumimoji="1" lang="ja-JP" altLang="en-US" b="1" dirty="0">
                <a:latin typeface="Arial"/>
                <a:ea typeface="Arial"/>
              </a:rPr>
              <a:t>位相ノイズとは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7E80DAE-6024-3195-D2D4-EA3A5C54BC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13524" y="906114"/>
            <a:ext cx="9127246" cy="2428807"/>
          </a:xfrm>
        </p:spPr>
        <p:txBody>
          <a:bodyPr/>
          <a:lstStyle/>
          <a:p>
            <a:r>
              <a:rPr kumimoji="1" lang="ja-JP" altLang="en-US" sz="2000" dirty="0">
                <a:solidFill>
                  <a:schemeClr val="tx1"/>
                </a:solidFill>
                <a:latin typeface="Arial"/>
                <a:ea typeface="Arial"/>
              </a:rPr>
              <a:t>位相ノイズ</a:t>
            </a:r>
            <a:r>
              <a:rPr kumimoji="1" lang="en-US" altLang="ja-JP" sz="2000" dirty="0">
                <a:solidFill>
                  <a:schemeClr val="tx1"/>
                </a:solidFill>
                <a:latin typeface="Arial"/>
                <a:ea typeface="Arial"/>
              </a:rPr>
              <a:t>(</a:t>
            </a:r>
            <a:r>
              <a:rPr kumimoji="1" lang="ja-JP" altLang="en-US" sz="2000" dirty="0">
                <a:solidFill>
                  <a:schemeClr val="tx1"/>
                </a:solidFill>
                <a:latin typeface="Arial"/>
                <a:ea typeface="Arial"/>
              </a:rPr>
              <a:t>ジッ</a:t>
            </a:r>
            <a:r>
              <a:rPr kumimoji="1" lang="ja-JP" altLang="en-US" sz="2000" dirty="0">
                <a:latin typeface="Arial"/>
                <a:ea typeface="Arial"/>
              </a:rPr>
              <a:t>タ</a:t>
            </a:r>
            <a:r>
              <a:rPr kumimoji="1" lang="en-US" altLang="ja-JP" sz="2000" dirty="0">
                <a:latin typeface="Arial"/>
                <a:ea typeface="Arial"/>
              </a:rPr>
              <a:t>)</a:t>
            </a:r>
            <a:r>
              <a:rPr kumimoji="1" lang="ja-JP" altLang="en-US" sz="2000" dirty="0">
                <a:solidFill>
                  <a:schemeClr val="tx1"/>
                </a:solidFill>
                <a:latin typeface="Arial"/>
                <a:ea typeface="Arial"/>
              </a:rPr>
              <a:t>とは</a:t>
            </a:r>
            <a:endParaRPr kumimoji="1" lang="en-US" altLang="ja-JP" sz="2000" dirty="0">
              <a:solidFill>
                <a:schemeClr val="tx1"/>
              </a:solidFill>
            </a:endParaRPr>
          </a:p>
          <a:p>
            <a:pPr lvl="1"/>
            <a:r>
              <a:rPr kumimoji="1" lang="ja-JP" altLang="en-US" sz="2000" dirty="0">
                <a:solidFill>
                  <a:schemeClr val="tx1"/>
                </a:solidFill>
                <a:latin typeface="Arial"/>
                <a:ea typeface="Arial"/>
              </a:rPr>
              <a:t>時間軸上の誤差</a:t>
            </a:r>
            <a:endParaRPr kumimoji="1" lang="en-US" altLang="ja-JP" sz="2000" dirty="0">
              <a:solidFill>
                <a:schemeClr val="tx1"/>
              </a:solidFill>
            </a:endParaRPr>
          </a:p>
          <a:p>
            <a:pPr lvl="1"/>
            <a:r>
              <a:rPr kumimoji="1" lang="ja-JP" altLang="en-US" sz="2000" dirty="0">
                <a:solidFill>
                  <a:schemeClr val="tx1"/>
                </a:solidFill>
                <a:latin typeface="Arial"/>
                <a:ea typeface="Arial"/>
              </a:rPr>
              <a:t>理想的な波</a:t>
            </a:r>
            <a:r>
              <a:rPr kumimoji="1" lang="en-US" altLang="ja-JP" sz="2000" dirty="0">
                <a:solidFill>
                  <a:schemeClr val="tx1"/>
                </a:solidFill>
                <a:latin typeface="Arial"/>
                <a:ea typeface="Arial"/>
              </a:rPr>
              <a:t>cos(</a:t>
            </a:r>
            <a:r>
              <a:rPr kumimoji="1" lang="en-US" altLang="ja-JP" sz="2000" dirty="0" err="1">
                <a:solidFill>
                  <a:schemeClr val="tx1"/>
                </a:solidFill>
                <a:latin typeface="Arial"/>
                <a:ea typeface="Arial"/>
              </a:rPr>
              <a:t>ωt</a:t>
            </a:r>
            <a:r>
              <a:rPr kumimoji="1" lang="en-US" altLang="ja-JP" sz="2000" dirty="0">
                <a:solidFill>
                  <a:schemeClr val="tx1"/>
                </a:solidFill>
                <a:latin typeface="Arial"/>
                <a:ea typeface="Arial"/>
              </a:rPr>
              <a:t>)</a:t>
            </a:r>
            <a:r>
              <a:rPr kumimoji="1" lang="ja-JP" altLang="en-US" sz="2000" dirty="0">
                <a:solidFill>
                  <a:schemeClr val="tx1"/>
                </a:solidFill>
                <a:latin typeface="Arial"/>
                <a:ea typeface="Arial"/>
              </a:rPr>
              <a:t>に対して、</a:t>
            </a:r>
            <a:r>
              <a:rPr kumimoji="1" lang="en-US" altLang="ja-JP" sz="2000" dirty="0">
                <a:solidFill>
                  <a:schemeClr val="tx1"/>
                </a:solidFill>
                <a:latin typeface="Arial"/>
                <a:ea typeface="Arial"/>
              </a:rPr>
              <a:t>cos[(</a:t>
            </a:r>
            <a:r>
              <a:rPr kumimoji="1" lang="en-US" altLang="ja-JP" sz="2000" dirty="0" err="1">
                <a:solidFill>
                  <a:schemeClr val="tx1"/>
                </a:solidFill>
                <a:latin typeface="Arial"/>
                <a:ea typeface="Arial"/>
              </a:rPr>
              <a:t>ω</a:t>
            </a:r>
            <a:r>
              <a:rPr kumimoji="1" lang="en-US" altLang="ja-JP" sz="2000" dirty="0">
                <a:solidFill>
                  <a:schemeClr val="tx1"/>
                </a:solidFill>
                <a:latin typeface="Arial"/>
                <a:ea typeface="Arial"/>
              </a:rPr>
              <a:t>(</a:t>
            </a:r>
            <a:r>
              <a:rPr kumimoji="1" lang="en-US" altLang="ja-JP" sz="2000" dirty="0" err="1">
                <a:solidFill>
                  <a:schemeClr val="tx1"/>
                </a:solidFill>
                <a:latin typeface="Arial"/>
                <a:ea typeface="Arial"/>
              </a:rPr>
              <a:t>t+j</a:t>
            </a:r>
            <a:r>
              <a:rPr kumimoji="1" lang="en-US" altLang="ja-JP" sz="2000" dirty="0">
                <a:solidFill>
                  <a:schemeClr val="tx1"/>
                </a:solidFill>
                <a:latin typeface="Arial"/>
                <a:ea typeface="Arial"/>
              </a:rPr>
              <a:t>(t))]</a:t>
            </a:r>
            <a:r>
              <a:rPr kumimoji="1" lang="ja-JP" altLang="en-US" sz="2000" dirty="0">
                <a:solidFill>
                  <a:schemeClr val="tx1"/>
                </a:solidFill>
                <a:latin typeface="Arial"/>
                <a:ea typeface="Arial"/>
              </a:rPr>
              <a:t>となるときの</a:t>
            </a:r>
            <a:r>
              <a:rPr kumimoji="1" lang="en-US" altLang="ja-JP" sz="2000" dirty="0">
                <a:solidFill>
                  <a:schemeClr val="tx1"/>
                </a:solidFill>
                <a:latin typeface="Arial"/>
                <a:ea typeface="Arial"/>
              </a:rPr>
              <a:t>j(t)</a:t>
            </a:r>
            <a:r>
              <a:rPr kumimoji="1" lang="ja-JP" altLang="en-US" sz="2000" dirty="0">
                <a:solidFill>
                  <a:schemeClr val="tx1"/>
                </a:solidFill>
                <a:latin typeface="Arial"/>
                <a:ea typeface="Arial"/>
              </a:rPr>
              <a:t>に相当</a:t>
            </a:r>
            <a:endParaRPr kumimoji="1" lang="en-US" altLang="ja-JP" sz="2000" dirty="0">
              <a:solidFill>
                <a:schemeClr val="tx1"/>
              </a:solidFill>
            </a:endParaRPr>
          </a:p>
          <a:p>
            <a:pPr marL="592900" lvl="1" indent="0">
              <a:buNone/>
            </a:pPr>
            <a:endParaRPr kumimoji="1" lang="en-US" altLang="ja-JP" sz="2000" dirty="0">
              <a:solidFill>
                <a:schemeClr val="tx1"/>
              </a:solidFill>
            </a:endParaRPr>
          </a:p>
          <a:p>
            <a:r>
              <a:rPr kumimoji="1" lang="ja-JP" altLang="en-US" sz="2000" dirty="0">
                <a:solidFill>
                  <a:schemeClr val="tx1"/>
                </a:solidFill>
                <a:latin typeface="Arial"/>
                <a:ea typeface="Arial"/>
              </a:rPr>
              <a:t>位相ノイズ</a:t>
            </a:r>
            <a:r>
              <a:rPr kumimoji="1" lang="en-US" altLang="ja-JP" sz="2000" dirty="0">
                <a:solidFill>
                  <a:schemeClr val="tx1"/>
                </a:solidFill>
                <a:latin typeface="Arial"/>
                <a:ea typeface="Arial"/>
              </a:rPr>
              <a:t>(</a:t>
            </a:r>
            <a:r>
              <a:rPr kumimoji="1" lang="ja-JP" altLang="en-US" sz="2000" dirty="0">
                <a:solidFill>
                  <a:schemeClr val="tx1"/>
                </a:solidFill>
                <a:latin typeface="Arial"/>
                <a:ea typeface="Arial"/>
              </a:rPr>
              <a:t>ジッ</a:t>
            </a:r>
            <a:r>
              <a:rPr kumimoji="1" lang="ja-JP" altLang="en-US" sz="2000" dirty="0">
                <a:latin typeface="Arial"/>
                <a:ea typeface="Arial"/>
              </a:rPr>
              <a:t>タ</a:t>
            </a:r>
            <a:r>
              <a:rPr kumimoji="1" lang="en-US" altLang="ja-JP" sz="2000" dirty="0">
                <a:latin typeface="Arial"/>
                <a:ea typeface="Arial"/>
              </a:rPr>
              <a:t>)</a:t>
            </a:r>
            <a:r>
              <a:rPr kumimoji="1" lang="ja-JP" altLang="en-US" sz="2000" dirty="0">
                <a:solidFill>
                  <a:schemeClr val="tx1"/>
                </a:solidFill>
                <a:latin typeface="Arial"/>
                <a:ea typeface="Arial"/>
              </a:rPr>
              <a:t>の表現方法</a:t>
            </a:r>
            <a:endParaRPr kumimoji="1" lang="en-US" altLang="ja-JP" sz="2000" dirty="0">
              <a:solidFill>
                <a:schemeClr val="tx1"/>
              </a:solidFill>
            </a:endParaRPr>
          </a:p>
          <a:p>
            <a:pPr lvl="1"/>
            <a:r>
              <a:rPr kumimoji="1" lang="en-US" altLang="ja-JP" sz="1663" dirty="0">
                <a:solidFill>
                  <a:schemeClr val="tx1"/>
                </a:solidFill>
                <a:latin typeface="Arial"/>
                <a:ea typeface="Arial"/>
              </a:rPr>
              <a:t>j(t)</a:t>
            </a:r>
            <a:r>
              <a:rPr kumimoji="1" lang="ja-JP" altLang="en-US" sz="1663" dirty="0">
                <a:solidFill>
                  <a:schemeClr val="tx1"/>
                </a:solidFill>
                <a:latin typeface="Arial"/>
                <a:ea typeface="Arial"/>
              </a:rPr>
              <a:t>では表現しづらいため、一般的には周波数ドメイン</a:t>
            </a:r>
            <a:r>
              <a:rPr kumimoji="1" lang="en-US" altLang="ja-JP" sz="1663" dirty="0">
                <a:solidFill>
                  <a:schemeClr val="tx1"/>
                </a:solidFill>
                <a:latin typeface="Arial"/>
                <a:ea typeface="Arial"/>
              </a:rPr>
              <a:t>L(f)</a:t>
            </a:r>
            <a:r>
              <a:rPr kumimoji="1" lang="ja-JP" altLang="en-US" sz="1663" dirty="0">
                <a:solidFill>
                  <a:schemeClr val="tx1"/>
                </a:solidFill>
                <a:latin typeface="Arial"/>
                <a:ea typeface="Arial"/>
              </a:rPr>
              <a:t>：パワースペクトル密度で表現する</a:t>
            </a:r>
            <a:endParaRPr kumimoji="1" lang="en-US" altLang="ja-JP" sz="1663" dirty="0">
              <a:solidFill>
                <a:schemeClr val="tx1"/>
              </a:solidFill>
            </a:endParaRPr>
          </a:p>
          <a:p>
            <a:pPr lvl="1"/>
            <a:endParaRPr kumimoji="1" lang="ja-JP" altLang="en-US" sz="1663" dirty="0">
              <a:solidFill>
                <a:schemeClr val="tx1"/>
              </a:solidFill>
            </a:endParaRPr>
          </a:p>
        </p:txBody>
      </p: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07325878-10B4-AE98-C9B2-C2C361BF47E5}"/>
              </a:ext>
            </a:extLst>
          </p:cNvPr>
          <p:cNvGrpSpPr/>
          <p:nvPr/>
        </p:nvGrpSpPr>
        <p:grpSpPr>
          <a:xfrm>
            <a:off x="151265" y="2905001"/>
            <a:ext cx="8874033" cy="4097608"/>
            <a:chOff x="3985203" y="2194990"/>
            <a:chExt cx="9716719" cy="4407017"/>
          </a:xfrm>
        </p:grpSpPr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A87CA80D-A93E-9252-315C-1700819B5C47}"/>
                </a:ext>
              </a:extLst>
            </p:cNvPr>
            <p:cNvCxnSpPr>
              <a:cxnSpLocks/>
            </p:cNvCxnSpPr>
            <p:nvPr/>
          </p:nvCxnSpPr>
          <p:spPr>
            <a:xfrm>
              <a:off x="4352494" y="5983207"/>
              <a:ext cx="4868508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円弧 7">
              <a:extLst>
                <a:ext uri="{FF2B5EF4-FFF2-40B4-BE49-F238E27FC236}">
                  <a16:creationId xmlns:a16="http://schemas.microsoft.com/office/drawing/2014/main" id="{01FC4031-D613-075B-3841-A334562CCCDA}"/>
                </a:ext>
              </a:extLst>
            </p:cNvPr>
            <p:cNvSpPr/>
            <p:nvPr/>
          </p:nvSpPr>
          <p:spPr>
            <a:xfrm>
              <a:off x="4811601" y="2194990"/>
              <a:ext cx="8890321" cy="3669790"/>
            </a:xfrm>
            <a:prstGeom prst="arc">
              <a:avLst>
                <a:gd name="adj1" fmla="val 5542347"/>
                <a:gd name="adj2" fmla="val 10819371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126F5EA9-F751-8131-059D-7FAC257771F2}"/>
                </a:ext>
              </a:extLst>
            </p:cNvPr>
            <p:cNvSpPr txBox="1"/>
            <p:nvPr/>
          </p:nvSpPr>
          <p:spPr>
            <a:xfrm>
              <a:off x="3985203" y="6270990"/>
              <a:ext cx="1840676" cy="33101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03BA5A30-61DE-78DC-B0E6-C852F6186F6B}"/>
                </a:ext>
              </a:extLst>
            </p:cNvPr>
            <p:cNvCxnSpPr>
              <a:cxnSpLocks/>
            </p:cNvCxnSpPr>
            <p:nvPr/>
          </p:nvCxnSpPr>
          <p:spPr>
            <a:xfrm>
              <a:off x="5437676" y="4948132"/>
              <a:ext cx="0" cy="10350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F3D42A21-E820-0CB2-DC28-98D43D99AA4A}"/>
                </a:ext>
              </a:extLst>
            </p:cNvPr>
            <p:cNvCxnSpPr>
              <a:cxnSpLocks/>
            </p:cNvCxnSpPr>
            <p:nvPr/>
          </p:nvCxnSpPr>
          <p:spPr>
            <a:xfrm>
              <a:off x="6599479" y="5506902"/>
              <a:ext cx="0" cy="47630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5478CD42-AEE4-D8DC-47D7-31DC988AAE8B}"/>
                </a:ext>
              </a:extLst>
            </p:cNvPr>
            <p:cNvSpPr txBox="1"/>
            <p:nvPr/>
          </p:nvSpPr>
          <p:spPr>
            <a:xfrm>
              <a:off x="8077343" y="6001760"/>
              <a:ext cx="141838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>
                  <a:latin typeface="Arial"/>
                  <a:ea typeface="Arial"/>
                </a:rPr>
                <a:t>Offset</a:t>
              </a:r>
              <a:r>
                <a:rPr kumimoji="1" lang="ja-JP" altLang="en-US">
                  <a:latin typeface="Arial"/>
                  <a:ea typeface="Arial"/>
                </a:rPr>
                <a:t>周波数</a:t>
              </a:r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4C93D636-95A6-7751-33E6-ED856E456386}"/>
                </a:ext>
              </a:extLst>
            </p:cNvPr>
            <p:cNvSpPr txBox="1"/>
            <p:nvPr/>
          </p:nvSpPr>
          <p:spPr>
            <a:xfrm>
              <a:off x="5039712" y="5986381"/>
              <a:ext cx="80151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>
                  <a:latin typeface="Arial"/>
                  <a:ea typeface="Arial"/>
                </a:rPr>
                <a:t>f1</a:t>
              </a:r>
              <a:endParaRPr kumimoji="1" lang="ja-JP" altLang="en-US"/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9E090944-7D41-859F-A440-D62C5EE93056}"/>
                </a:ext>
              </a:extLst>
            </p:cNvPr>
            <p:cNvSpPr txBox="1"/>
            <p:nvPr/>
          </p:nvSpPr>
          <p:spPr>
            <a:xfrm>
              <a:off x="6197595" y="5988636"/>
              <a:ext cx="80151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>
                  <a:latin typeface="Arial"/>
                  <a:ea typeface="Arial"/>
                </a:rPr>
                <a:t>f2</a:t>
              </a:r>
              <a:endParaRPr kumimoji="1" lang="ja-JP" altLang="en-US"/>
            </a:p>
          </p:txBody>
        </p:sp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53B8278C-4A35-4C41-EFA9-72EF926E504E}"/>
                </a:ext>
              </a:extLst>
            </p:cNvPr>
            <p:cNvCxnSpPr>
              <a:cxnSpLocks/>
            </p:cNvCxnSpPr>
            <p:nvPr/>
          </p:nvCxnSpPr>
          <p:spPr>
            <a:xfrm>
              <a:off x="4777147" y="5405530"/>
              <a:ext cx="660529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5183B514-577F-87A9-ACB0-3F7B38449A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57775" y="5044849"/>
              <a:ext cx="903372" cy="45180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8580A410-4EF3-729A-0557-0B85C2D17955}"/>
                </a:ext>
              </a:extLst>
            </p:cNvPr>
            <p:cNvCxnSpPr>
              <a:cxnSpLocks/>
            </p:cNvCxnSpPr>
            <p:nvPr/>
          </p:nvCxnSpPr>
          <p:spPr>
            <a:xfrm>
              <a:off x="4777147" y="5781315"/>
              <a:ext cx="1821204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29E27914-B388-4161-65A9-A7BFCDFE4D56}"/>
                </a:ext>
              </a:extLst>
            </p:cNvPr>
            <p:cNvCxnSpPr/>
            <p:nvPr/>
          </p:nvCxnSpPr>
          <p:spPr>
            <a:xfrm flipV="1">
              <a:off x="4777147" y="3632200"/>
              <a:ext cx="0" cy="261511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6EB72B0E-690E-3433-5339-14EA1CE4F3BB}"/>
                </a:ext>
              </a:extLst>
            </p:cNvPr>
            <p:cNvSpPr txBox="1"/>
            <p:nvPr/>
          </p:nvSpPr>
          <p:spPr>
            <a:xfrm>
              <a:off x="4837056" y="3478311"/>
              <a:ext cx="86377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latin typeface="Arial"/>
                  <a:ea typeface="Arial"/>
                </a:rPr>
                <a:t>L(f) </a:t>
              </a:r>
              <a:r>
                <a:rPr kumimoji="1" lang="en-US" altLang="ja-JP" dirty="0" err="1">
                  <a:latin typeface="Arial"/>
                  <a:ea typeface="Arial"/>
                </a:rPr>
                <a:t>dBc</a:t>
              </a:r>
              <a:r>
                <a:rPr kumimoji="1" lang="en-US" altLang="ja-JP" dirty="0">
                  <a:latin typeface="Arial"/>
                  <a:ea typeface="Arial"/>
                </a:rPr>
                <a:t>/Hz</a:t>
              </a:r>
              <a:endParaRPr kumimoji="1" lang="ja-JP" altLang="en-US"/>
            </a:p>
          </p:txBody>
        </p:sp>
      </p:grpSp>
      <p:pic>
        <p:nvPicPr>
          <p:cNvPr id="62" name="図 61">
            <a:extLst>
              <a:ext uri="{FF2B5EF4-FFF2-40B4-BE49-F238E27FC236}">
                <a16:creationId xmlns:a16="http://schemas.microsoft.com/office/drawing/2014/main" id="{916ED799-CAF8-F4B3-828F-59176BCF7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5620" y="3904365"/>
            <a:ext cx="4278405" cy="220168"/>
          </a:xfrm>
          <a:prstGeom prst="rect">
            <a:avLst/>
          </a:prstGeom>
        </p:spPr>
      </p:pic>
      <p:pic>
        <p:nvPicPr>
          <p:cNvPr id="63" name="図 62">
            <a:extLst>
              <a:ext uri="{FF2B5EF4-FFF2-40B4-BE49-F238E27FC236}">
                <a16:creationId xmlns:a16="http://schemas.microsoft.com/office/drawing/2014/main" id="{86061A11-EC5A-FDCC-D25A-4038E87F2A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4530" y="4151219"/>
            <a:ext cx="1814277" cy="414403"/>
          </a:xfrm>
          <a:prstGeom prst="rect">
            <a:avLst/>
          </a:prstGeom>
        </p:spPr>
      </p:pic>
      <p:pic>
        <p:nvPicPr>
          <p:cNvPr id="64" name="図 63">
            <a:extLst>
              <a:ext uri="{FF2B5EF4-FFF2-40B4-BE49-F238E27FC236}">
                <a16:creationId xmlns:a16="http://schemas.microsoft.com/office/drawing/2014/main" id="{79100334-29CB-0FFD-DBA3-CE530FD52C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4530" y="4571147"/>
            <a:ext cx="3531164" cy="449620"/>
          </a:xfrm>
          <a:prstGeom prst="rect">
            <a:avLst/>
          </a:prstGeom>
        </p:spPr>
      </p:pic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4AC923F3-F872-D659-BA62-7C910AEBF082}"/>
              </a:ext>
            </a:extLst>
          </p:cNvPr>
          <p:cNvSpPr txBox="1"/>
          <p:nvPr/>
        </p:nvSpPr>
        <p:spPr>
          <a:xfrm>
            <a:off x="5181393" y="5186614"/>
            <a:ext cx="45363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err="1">
                <a:latin typeface="Arial"/>
                <a:ea typeface="Arial"/>
              </a:rPr>
              <a:t>Offeset</a:t>
            </a:r>
            <a:r>
              <a:rPr kumimoji="1" lang="ja-JP" altLang="en-US">
                <a:latin typeface="Arial"/>
                <a:ea typeface="Arial"/>
              </a:rPr>
              <a:t>周波数が</a:t>
            </a:r>
            <a:r>
              <a:rPr kumimoji="1" lang="en-US" altLang="ja-JP" dirty="0">
                <a:latin typeface="Arial"/>
                <a:ea typeface="Arial"/>
              </a:rPr>
              <a:t>f1~f2</a:t>
            </a:r>
            <a:r>
              <a:rPr kumimoji="1" lang="ja-JP" altLang="en-US">
                <a:latin typeface="Arial"/>
                <a:ea typeface="Arial"/>
              </a:rPr>
              <a:t>の区間の位相ノイズ</a:t>
            </a:r>
            <a:r>
              <a:rPr kumimoji="1" lang="en-US" altLang="ja-JP" dirty="0">
                <a:latin typeface="Arial"/>
                <a:ea typeface="Arial"/>
              </a:rPr>
              <a:t>(</a:t>
            </a:r>
            <a:r>
              <a:rPr kumimoji="1" lang="ja-JP" altLang="en-US">
                <a:latin typeface="Arial"/>
                <a:ea typeface="Arial"/>
              </a:rPr>
              <a:t>ジッタ</a:t>
            </a:r>
            <a:r>
              <a:rPr kumimoji="1" lang="en-US" altLang="ja-JP" dirty="0">
                <a:latin typeface="Arial"/>
                <a:ea typeface="Arial"/>
              </a:rPr>
              <a:t>)</a:t>
            </a:r>
            <a:r>
              <a:rPr kumimoji="1" lang="ja-JP" altLang="en-US">
                <a:latin typeface="Arial"/>
                <a:ea typeface="Arial"/>
              </a:rPr>
              <a:t>の</a:t>
            </a:r>
            <a:r>
              <a:rPr kumimoji="1" lang="en-US" altLang="ja-JP" dirty="0">
                <a:latin typeface="Arial"/>
                <a:ea typeface="Arial"/>
              </a:rPr>
              <a:t>RMS</a:t>
            </a:r>
            <a:r>
              <a:rPr kumimoji="1" lang="ja-JP" altLang="en-US">
                <a:latin typeface="Arial"/>
                <a:ea typeface="Arial"/>
              </a:rPr>
              <a:t>は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F735FEB5-A6C1-E808-6317-94EF27DFF27B}"/>
              </a:ext>
            </a:extLst>
          </p:cNvPr>
          <p:cNvSpPr txBox="1"/>
          <p:nvPr/>
        </p:nvSpPr>
        <p:spPr>
          <a:xfrm>
            <a:off x="5167651" y="3523080"/>
            <a:ext cx="45363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>
                <a:latin typeface="Arial"/>
                <a:ea typeface="Arial"/>
              </a:rPr>
              <a:t>位相ノイズが存在する信号に対して</a:t>
            </a:r>
          </a:p>
        </p:txBody>
      </p:sp>
      <p:grpSp>
        <p:nvGrpSpPr>
          <p:cNvPr id="70" name="グループ化 69">
            <a:extLst>
              <a:ext uri="{FF2B5EF4-FFF2-40B4-BE49-F238E27FC236}">
                <a16:creationId xmlns:a16="http://schemas.microsoft.com/office/drawing/2014/main" id="{4966CD35-22E0-3AA2-E340-750964D9B5FA}"/>
              </a:ext>
            </a:extLst>
          </p:cNvPr>
          <p:cNvGrpSpPr/>
          <p:nvPr/>
        </p:nvGrpSpPr>
        <p:grpSpPr>
          <a:xfrm>
            <a:off x="5620477" y="5758114"/>
            <a:ext cx="3919641" cy="868917"/>
            <a:chOff x="5669798" y="5316066"/>
            <a:chExt cx="3919641" cy="868917"/>
          </a:xfrm>
        </p:grpSpPr>
        <p:pic>
          <p:nvPicPr>
            <p:cNvPr id="66" name="図 65">
              <a:extLst>
                <a:ext uri="{FF2B5EF4-FFF2-40B4-BE49-F238E27FC236}">
                  <a16:creationId xmlns:a16="http://schemas.microsoft.com/office/drawing/2014/main" id="{299064D2-5B71-6CAE-8C8C-3423B95B475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34814" y="5405783"/>
              <a:ext cx="3608918" cy="689483"/>
            </a:xfrm>
            <a:prstGeom prst="rect">
              <a:avLst/>
            </a:prstGeom>
          </p:spPr>
        </p:pic>
        <p:sp>
          <p:nvSpPr>
            <p:cNvPr id="69" name="正方形/長方形 68">
              <a:extLst>
                <a:ext uri="{FF2B5EF4-FFF2-40B4-BE49-F238E27FC236}">
                  <a16:creationId xmlns:a16="http://schemas.microsoft.com/office/drawing/2014/main" id="{B2BA677E-F75E-C29F-40AE-9511BE7542A9}"/>
                </a:ext>
              </a:extLst>
            </p:cNvPr>
            <p:cNvSpPr/>
            <p:nvPr/>
          </p:nvSpPr>
          <p:spPr>
            <a:xfrm>
              <a:off x="5669798" y="5316066"/>
              <a:ext cx="3919641" cy="86891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CA2EF888-AF51-42BD-DD14-33F5E4212068}"/>
              </a:ext>
            </a:extLst>
          </p:cNvPr>
          <p:cNvSpPr txBox="1"/>
          <p:nvPr/>
        </p:nvSpPr>
        <p:spPr>
          <a:xfrm>
            <a:off x="2851026" y="5095518"/>
            <a:ext cx="166159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>
                <a:latin typeface="Arial"/>
                <a:ea typeface="Arial"/>
              </a:rPr>
              <a:t>この面積が</a:t>
            </a:r>
            <a:endParaRPr kumimoji="1" lang="en-US" altLang="ja-JP" dirty="0"/>
          </a:p>
          <a:p>
            <a:r>
              <a:rPr kumimoji="1" lang="en-US" altLang="ja-JP" dirty="0">
                <a:latin typeface="Arial"/>
                <a:ea typeface="Arial"/>
              </a:rPr>
              <a:t>f1~f2(Hz)</a:t>
            </a:r>
            <a:r>
              <a:rPr kumimoji="1" lang="ja-JP" altLang="en-US">
                <a:latin typeface="Arial"/>
                <a:ea typeface="Arial"/>
              </a:rPr>
              <a:t>における位相ノイズの</a:t>
            </a:r>
            <a:r>
              <a:rPr kumimoji="1" lang="en-US" altLang="ja-JP" dirty="0">
                <a:latin typeface="Arial"/>
                <a:ea typeface="Arial"/>
              </a:rPr>
              <a:t>RMS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9C195C08-8BEE-1A31-ED96-7CE559B150E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8826" y="3485080"/>
            <a:ext cx="4282985" cy="467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761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000F78"/>
                </a:solidFill>
                <a:latin typeface="Arial"/>
                <a:ea typeface="Arial"/>
              </a:rPr>
              <a:t>01. </a:t>
            </a:r>
            <a:r>
              <a:rPr sz="1400" b="1" dirty="0" err="1">
                <a:solidFill>
                  <a:srgbClr val="000F78"/>
                </a:solidFill>
                <a:latin typeface="Arial"/>
                <a:ea typeface="Arial"/>
              </a:rPr>
              <a:t>研究背景</a:t>
            </a:r>
            <a:endParaRPr sz="1400" b="1" dirty="0">
              <a:solidFill>
                <a:srgbClr val="000F78"/>
              </a:solidFill>
              <a:latin typeface="Yu Gothic"/>
              <a:ea typeface="Yu Gothic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000F78"/>
                </a:solidFill>
                <a:latin typeface="Arial"/>
                <a:ea typeface="Arial"/>
              </a:rPr>
              <a:t>1-2. </a:t>
            </a:r>
            <a:r>
              <a:rPr b="1" dirty="0" err="1">
                <a:solidFill>
                  <a:srgbClr val="000F78"/>
                </a:solidFill>
                <a:latin typeface="Arial"/>
                <a:ea typeface="Arial"/>
              </a:rPr>
              <a:t>基準信号の純度と現状</a:t>
            </a:r>
            <a:endParaRPr b="1" dirty="0">
              <a:solidFill>
                <a:srgbClr val="000F78"/>
              </a:solidFill>
              <a:latin typeface="Yu Gothic"/>
              <a:ea typeface="Yu Gothic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665" y="1986279"/>
            <a:ext cx="7486593" cy="4121040"/>
          </a:xfrm>
          <a:prstGeom prst="rect">
            <a:avLst/>
          </a:prstGeom>
        </p:spPr>
      </p:pic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D6397270-59F0-9E44-6A0E-6658F3D679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13525" y="906114"/>
            <a:ext cx="9590875" cy="969263"/>
          </a:xfrm>
        </p:spPr>
        <p:txBody>
          <a:bodyPr/>
          <a:lstStyle/>
          <a:p>
            <a:r>
              <a:rPr lang="ja-JP" altLang="en-US" b="1" dirty="0">
                <a:solidFill>
                  <a:srgbClr val="1B2A5A"/>
                </a:solidFill>
                <a:latin typeface="Arial"/>
                <a:ea typeface="Arial"/>
              </a:rPr>
              <a:t>通信・測位・計測は基準正弦波の位相雑音に支えられる。原子時計・水素メーザーは高純度だが高価で日単位の計測が必要、</a:t>
            </a:r>
            <a:r>
              <a:rPr lang="en-US" altLang="ja-JP" b="1" dirty="0">
                <a:solidFill>
                  <a:srgbClr val="1B2A5A"/>
                </a:solidFill>
                <a:latin typeface="Arial"/>
                <a:ea typeface="Arial"/>
              </a:rPr>
              <a:t>OCXO</a:t>
            </a:r>
            <a:r>
              <a:rPr lang="ja-JP" altLang="en-US" b="1" dirty="0">
                <a:solidFill>
                  <a:srgbClr val="1B2A5A"/>
                </a:solidFill>
                <a:latin typeface="Arial"/>
                <a:ea typeface="Arial"/>
              </a:rPr>
              <a:t>は安価で数秒</a:t>
            </a:r>
            <a:r>
              <a:rPr lang="en-US" altLang="ja-JP" b="1" dirty="0">
                <a:solidFill>
                  <a:srgbClr val="1B2A5A"/>
                </a:solidFill>
                <a:latin typeface="Arial"/>
                <a:ea typeface="Arial"/>
              </a:rPr>
              <a:t>〜</a:t>
            </a:r>
            <a:r>
              <a:rPr lang="ja-JP" altLang="en-US" b="1" dirty="0">
                <a:solidFill>
                  <a:srgbClr val="1B2A5A"/>
                </a:solidFill>
                <a:latin typeface="Arial"/>
                <a:ea typeface="Arial"/>
              </a:rPr>
              <a:t>数分の安定に優れるが単体に限界。</a:t>
            </a:r>
            <a:endParaRPr lang="ja-JP" altLang="en-US" dirty="0">
              <a:latin typeface="Yu Gothic"/>
              <a:ea typeface="Yu Gothi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Arial"/>
                <a:ea typeface="Arial"/>
              </a:rPr>
              <a:t>02. 本研究の目標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32688"/>
            <a:ext cx="9326880" cy="1810512"/>
          </a:xfrm>
        </p:spPr>
        <p:txBody>
          <a:bodyPr wrap="square"/>
          <a:lstStyle/>
          <a:p>
            <a:r>
              <a:rPr b="1" dirty="0" err="1">
                <a:solidFill>
                  <a:srgbClr val="1B2A5A"/>
                </a:solidFill>
                <a:latin typeface="Arial"/>
                <a:ea typeface="Arial"/>
              </a:rPr>
              <a:t>安価なOCXOで可能な限り高純度な基準信号源を実現</a:t>
            </a:r>
            <a:r>
              <a:rPr lang="ja-JP" altLang="en-US" b="1" dirty="0">
                <a:solidFill>
                  <a:srgbClr val="1B2A5A"/>
                </a:solidFill>
                <a:latin typeface="Arial"/>
                <a:ea typeface="Arial"/>
              </a:rPr>
              <a:t>し、</a:t>
            </a:r>
            <a:r>
              <a:rPr lang="en-US" altLang="ja-JP" b="1" dirty="0">
                <a:solidFill>
                  <a:srgbClr val="1B2A5A"/>
                </a:solidFill>
                <a:latin typeface="Arial"/>
                <a:ea typeface="Arial"/>
              </a:rPr>
              <a:t>0.1-1Hz</a:t>
            </a:r>
            <a:r>
              <a:rPr lang="ja-JP" altLang="en-US" b="1" dirty="0">
                <a:solidFill>
                  <a:srgbClr val="1B2A5A"/>
                </a:solidFill>
                <a:latin typeface="Arial"/>
                <a:ea typeface="Arial"/>
              </a:rPr>
              <a:t>での位相ノイズ測定を実現</a:t>
            </a:r>
            <a:r>
              <a:rPr b="1" dirty="0" err="1">
                <a:solidFill>
                  <a:srgbClr val="1B2A5A"/>
                </a:solidFill>
                <a:latin typeface="Arial"/>
                <a:ea typeface="Arial"/>
              </a:rPr>
              <a:t>することを目標とする</a:t>
            </a:r>
            <a:r>
              <a:rPr b="1" dirty="0">
                <a:solidFill>
                  <a:srgbClr val="1B2A5A"/>
                </a:solidFill>
                <a:latin typeface="Arial"/>
                <a:ea typeface="Arial"/>
              </a:rPr>
              <a:t>。</a:t>
            </a:r>
          </a:p>
          <a:p>
            <a:pPr lvl="1"/>
            <a:r>
              <a:rPr dirty="0" err="1">
                <a:latin typeface="Arial"/>
                <a:ea typeface="Arial"/>
              </a:rPr>
              <a:t>究極的な目標：安価な水晶発振器（OCXO）で高純度な基準信号源を実現</a:t>
            </a:r>
            <a:endParaRPr dirty="0">
              <a:latin typeface="Arial"/>
              <a:ea typeface="Arial"/>
            </a:endParaRPr>
          </a:p>
          <a:p>
            <a:pPr lvl="1"/>
            <a:r>
              <a:rPr dirty="0">
                <a:latin typeface="Arial"/>
                <a:ea typeface="Arial"/>
              </a:rPr>
              <a:t>アプローチ：複数OCXOを同期させ、1台では実現できない純度での計測を可能にする</a:t>
            </a: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9701A711-972D-9916-5160-05066857DA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3010" y="2552756"/>
            <a:ext cx="6630628" cy="3649869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D50DD32-78AD-194A-2282-9D9904666D64}"/>
              </a:ext>
            </a:extLst>
          </p:cNvPr>
          <p:cNvSpPr/>
          <p:nvPr/>
        </p:nvSpPr>
        <p:spPr>
          <a:xfrm>
            <a:off x="2045970" y="2468880"/>
            <a:ext cx="662940" cy="37337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000F78"/>
                </a:solidFill>
                <a:latin typeface="Arial"/>
                <a:ea typeface="Arial"/>
              </a:rPr>
              <a:t>03. </a:t>
            </a:r>
            <a:r>
              <a:rPr sz="1400" b="1" dirty="0" err="1">
                <a:solidFill>
                  <a:srgbClr val="000F78"/>
                </a:solidFill>
                <a:latin typeface="Arial"/>
                <a:ea typeface="Arial"/>
              </a:rPr>
              <a:t>先行研究</a:t>
            </a:r>
            <a:endParaRPr sz="1400" b="1" dirty="0">
              <a:solidFill>
                <a:srgbClr val="000F78"/>
              </a:solidFill>
              <a:latin typeface="Arial"/>
              <a:ea typeface="Arial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000F78"/>
                </a:solidFill>
                <a:latin typeface="Arial"/>
                <a:ea typeface="Arial"/>
              </a:rPr>
              <a:t>3-1. </a:t>
            </a:r>
            <a:r>
              <a:rPr b="1" dirty="0" err="1">
                <a:solidFill>
                  <a:srgbClr val="000F78"/>
                </a:solidFill>
                <a:latin typeface="Arial"/>
                <a:ea typeface="Arial"/>
              </a:rPr>
              <a:t>同期・平均による位相雑音の改善</a:t>
            </a:r>
            <a:r>
              <a:rPr lang="ja-JP" altLang="en-US" b="1" dirty="0">
                <a:solidFill>
                  <a:srgbClr val="000F78"/>
                </a:solidFill>
                <a:latin typeface="Arial"/>
                <a:ea typeface="Arial"/>
              </a:rPr>
              <a:t>原理</a:t>
            </a:r>
            <a:endParaRPr b="1" dirty="0">
              <a:solidFill>
                <a:srgbClr val="000F78"/>
              </a:solidFill>
              <a:latin typeface="Arial"/>
              <a:ea typeface="Arial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32688"/>
            <a:ext cx="9326880" cy="1472184"/>
          </a:xfrm>
        </p:spPr>
        <p:txBody>
          <a:bodyPr wrap="square"/>
          <a:lstStyle/>
          <a:p>
            <a:r>
              <a:rPr b="1">
                <a:solidFill>
                  <a:srgbClr val="1B2A5A"/>
                </a:solidFill>
                <a:latin typeface="Arial"/>
                <a:ea typeface="Arial"/>
              </a:rPr>
              <a:t>互いに無相関な雑音は平均で打ち消し合うため、位相を揃えた複数OCXOの出力を平均すると単体を超える純度になる。</a:t>
            </a:r>
          </a:p>
          <a:p>
            <a:pPr lvl="1"/>
            <a:r>
              <a:rPr>
                <a:latin typeface="Arial"/>
                <a:ea typeface="Arial"/>
              </a:rPr>
              <a:t>無相関な雑音は平均すると電力が台数分の1（2台で 1/2）になり、低オフセット周波数（0.1–1 Hz）の位相雑音が −3 dB 改善する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997" y="2929814"/>
            <a:ext cx="2718281" cy="2389161"/>
          </a:xfrm>
          <a:prstGeom prst="rect">
            <a:avLst/>
          </a:prstGeom>
        </p:spPr>
      </p:pic>
      <p:pic>
        <p:nvPicPr>
          <p:cNvPr id="5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1278" y="2354708"/>
            <a:ext cx="6719922" cy="391389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000F78"/>
                </a:solidFill>
                <a:latin typeface="Arial"/>
                <a:ea typeface="Arial"/>
              </a:rPr>
              <a:t>04. </a:t>
            </a:r>
            <a:r>
              <a:rPr sz="1400" b="1" dirty="0" err="1">
                <a:solidFill>
                  <a:srgbClr val="000F78"/>
                </a:solidFill>
                <a:latin typeface="Arial"/>
                <a:ea typeface="Arial"/>
              </a:rPr>
              <a:t>研究方法</a:t>
            </a:r>
            <a:endParaRPr sz="1400" b="1" dirty="0">
              <a:solidFill>
                <a:srgbClr val="000F78"/>
              </a:solidFill>
              <a:latin typeface="Arial"/>
              <a:ea typeface="Arial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000F78"/>
                </a:solidFill>
                <a:latin typeface="Arial"/>
                <a:ea typeface="Arial"/>
              </a:rPr>
              <a:t>4-</a:t>
            </a:r>
            <a:r>
              <a:rPr lang="en-US" b="1" dirty="0">
                <a:solidFill>
                  <a:srgbClr val="000F78"/>
                </a:solidFill>
                <a:latin typeface="Arial"/>
                <a:ea typeface="Arial"/>
              </a:rPr>
              <a:t>1</a:t>
            </a:r>
            <a:r>
              <a:rPr b="1" dirty="0">
                <a:solidFill>
                  <a:srgbClr val="000F78"/>
                </a:solidFill>
                <a:latin typeface="Arial"/>
                <a:ea typeface="Arial"/>
              </a:rPr>
              <a:t>. </a:t>
            </a:r>
            <a:r>
              <a:rPr b="1" dirty="0" err="1">
                <a:solidFill>
                  <a:srgbClr val="000F78"/>
                </a:solidFill>
                <a:latin typeface="Arial"/>
                <a:ea typeface="Arial"/>
              </a:rPr>
              <a:t>実験系</a:t>
            </a:r>
            <a:endParaRPr b="1" dirty="0">
              <a:solidFill>
                <a:srgbClr val="000F78"/>
              </a:solidFill>
              <a:latin typeface="Arial"/>
              <a:ea typeface="Arial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32688"/>
            <a:ext cx="9326880" cy="876539"/>
          </a:xfrm>
        </p:spPr>
        <p:txBody>
          <a:bodyPr wrap="square"/>
          <a:lstStyle/>
          <a:p>
            <a:r>
              <a:rPr b="1" dirty="0">
                <a:solidFill>
                  <a:srgbClr val="1B2A5A"/>
                </a:solidFill>
                <a:latin typeface="Arial"/>
                <a:ea typeface="Arial"/>
              </a:rPr>
              <a:t>OCXO2台に対し、位相差FRFRをターゲットとしてオシロスコープで計測。計測結果を基に片方のOCXOへフィードバック電圧を印加する。</a:t>
            </a:r>
            <a:endParaRPr dirty="0">
              <a:latin typeface="Arial"/>
              <a:ea typeface="Arial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5B4D475-FEC0-D141-EB98-8F8357F26004}"/>
              </a:ext>
            </a:extLst>
          </p:cNvPr>
          <p:cNvSpPr/>
          <p:nvPr/>
        </p:nvSpPr>
        <p:spPr>
          <a:xfrm>
            <a:off x="425003" y="2358261"/>
            <a:ext cx="1622738" cy="991673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Arial"/>
                <a:ea typeface="Arial"/>
              </a:rPr>
              <a:t>KIKUSUI</a:t>
            </a:r>
            <a:br>
              <a:rPr kumimoji="1" lang="en-US" altLang="ja-JP" dirty="0"/>
            </a:br>
            <a:r>
              <a:rPr kumimoji="1" lang="en-US" altLang="ja-JP" dirty="0">
                <a:latin typeface="Arial"/>
                <a:ea typeface="Arial"/>
              </a:rPr>
              <a:t>7.54V</a:t>
            </a:r>
          </a:p>
          <a:p>
            <a:pPr algn="ctr"/>
            <a:r>
              <a:rPr kumimoji="1" lang="en-US" altLang="ja-JP" dirty="0">
                <a:latin typeface="Arial"/>
                <a:ea typeface="Arial"/>
              </a:rPr>
              <a:t>0.19A</a:t>
            </a:r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F308EFD-6798-EE51-2175-30D5A9DCCD2D}"/>
              </a:ext>
            </a:extLst>
          </p:cNvPr>
          <p:cNvSpPr/>
          <p:nvPr/>
        </p:nvSpPr>
        <p:spPr>
          <a:xfrm>
            <a:off x="2612694" y="2358260"/>
            <a:ext cx="1622738" cy="991673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Arial"/>
                <a:ea typeface="Arial"/>
              </a:rPr>
              <a:t>OCXO</a:t>
            </a:r>
          </a:p>
          <a:p>
            <a:pPr algn="ctr"/>
            <a:r>
              <a:rPr kumimoji="1" lang="en-US" altLang="ja-JP" dirty="0">
                <a:latin typeface="Arial"/>
                <a:ea typeface="Arial"/>
              </a:rPr>
              <a:t>F1</a:t>
            </a:r>
            <a:endParaRPr kumimoji="1" lang="ja-JP" altLang="en-US" dirty="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E65712B-70B8-A811-2639-31C93F61E6C3}"/>
              </a:ext>
            </a:extLst>
          </p:cNvPr>
          <p:cNvSpPr/>
          <p:nvPr/>
        </p:nvSpPr>
        <p:spPr>
          <a:xfrm>
            <a:off x="4800385" y="2358260"/>
            <a:ext cx="1622738" cy="991673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Arial"/>
                <a:ea typeface="Arial"/>
              </a:rPr>
              <a:t>PIC1</a:t>
            </a:r>
            <a:endParaRPr kumimoji="1" lang="ja-JP" alt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800F7E5-3C39-270C-FF22-AE73DD95BADC}"/>
              </a:ext>
            </a:extLst>
          </p:cNvPr>
          <p:cNvSpPr/>
          <p:nvPr/>
        </p:nvSpPr>
        <p:spPr>
          <a:xfrm>
            <a:off x="7873489" y="3179547"/>
            <a:ext cx="1622738" cy="991673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Arial"/>
                <a:ea typeface="Arial"/>
              </a:rPr>
              <a:t>TASCAM</a:t>
            </a:r>
            <a:endParaRPr kumimoji="1" lang="ja-JP" altLang="en-US" dirty="0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ED1A4AFF-E8B5-ADDA-6AA4-6A1ECDDB781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2047741" y="2854097"/>
            <a:ext cx="564953" cy="1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B2E8B0A7-A6D8-80C9-0C08-04D48EB371D3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4235432" y="2854097"/>
            <a:ext cx="564953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1131CDBB-47CF-F27E-78E0-1A103F66C0A3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 flipV="1">
            <a:off x="7321919" y="3675384"/>
            <a:ext cx="551570" cy="1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E2A0921F-7A7B-B667-60D8-6A31F6139E09}"/>
              </a:ext>
            </a:extLst>
          </p:cNvPr>
          <p:cNvSpPr/>
          <p:nvPr/>
        </p:nvSpPr>
        <p:spPr>
          <a:xfrm>
            <a:off x="425003" y="4000835"/>
            <a:ext cx="1622738" cy="991673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Arial"/>
                <a:ea typeface="Arial"/>
              </a:rPr>
              <a:t>KIKUSUI</a:t>
            </a:r>
            <a:br>
              <a:rPr kumimoji="1" lang="en-US" altLang="ja-JP" dirty="0"/>
            </a:br>
            <a:r>
              <a:rPr kumimoji="1" lang="en-US" altLang="ja-JP" dirty="0">
                <a:latin typeface="Arial"/>
                <a:ea typeface="Arial"/>
              </a:rPr>
              <a:t>5.06V</a:t>
            </a:r>
          </a:p>
          <a:p>
            <a:pPr algn="ctr"/>
            <a:r>
              <a:rPr kumimoji="1" lang="en-US" altLang="ja-JP" dirty="0">
                <a:latin typeface="Arial"/>
                <a:ea typeface="Arial"/>
              </a:rPr>
              <a:t>0.24A</a:t>
            </a:r>
            <a:endParaRPr kumimoji="1" lang="ja-JP" altLang="en-US" dirty="0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DF441E8A-F446-7172-0F6C-75683941B7BA}"/>
              </a:ext>
            </a:extLst>
          </p:cNvPr>
          <p:cNvSpPr/>
          <p:nvPr/>
        </p:nvSpPr>
        <p:spPr>
          <a:xfrm>
            <a:off x="2612694" y="4000834"/>
            <a:ext cx="1622738" cy="991673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Arial"/>
                <a:ea typeface="Arial"/>
              </a:rPr>
              <a:t>OCXO</a:t>
            </a:r>
          </a:p>
          <a:p>
            <a:pPr algn="ctr"/>
            <a:r>
              <a:rPr kumimoji="1" lang="en-US" altLang="ja-JP" dirty="0">
                <a:latin typeface="Arial"/>
                <a:ea typeface="Arial"/>
              </a:rPr>
              <a:t>F2</a:t>
            </a:r>
            <a:endParaRPr kumimoji="1" lang="ja-JP" altLang="en-US" dirty="0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0F57625B-E1BC-4CA8-0D02-37A9E1C57F42}"/>
              </a:ext>
            </a:extLst>
          </p:cNvPr>
          <p:cNvSpPr/>
          <p:nvPr/>
        </p:nvSpPr>
        <p:spPr>
          <a:xfrm>
            <a:off x="4800385" y="4000834"/>
            <a:ext cx="1622738" cy="991673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Arial"/>
                <a:ea typeface="Arial"/>
              </a:rPr>
              <a:t>PIC2</a:t>
            </a:r>
            <a:endParaRPr kumimoji="1" lang="ja-JP" altLang="en-US" dirty="0"/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286E6675-7451-DDE9-9D8B-5575F833DFC1}"/>
              </a:ext>
            </a:extLst>
          </p:cNvPr>
          <p:cNvCxnSpPr>
            <a:stCxn id="23" idx="3"/>
            <a:endCxn id="24" idx="1"/>
          </p:cNvCxnSpPr>
          <p:nvPr/>
        </p:nvCxnSpPr>
        <p:spPr>
          <a:xfrm flipV="1">
            <a:off x="2047741" y="4496671"/>
            <a:ext cx="564953" cy="1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B58195FB-2E42-7097-F735-7C6B10EBB0BD}"/>
              </a:ext>
            </a:extLst>
          </p:cNvPr>
          <p:cNvCxnSpPr>
            <a:cxnSpLocks/>
            <a:stCxn id="24" idx="3"/>
            <a:endCxn id="25" idx="1"/>
          </p:cNvCxnSpPr>
          <p:nvPr/>
        </p:nvCxnSpPr>
        <p:spPr>
          <a:xfrm>
            <a:off x="4235432" y="4496671"/>
            <a:ext cx="564953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コネクタ: カギ線 28">
            <a:extLst>
              <a:ext uri="{FF2B5EF4-FFF2-40B4-BE49-F238E27FC236}">
                <a16:creationId xmlns:a16="http://schemas.microsoft.com/office/drawing/2014/main" id="{6AFBA4B9-2648-93F4-DD1F-E3291BBD1932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6423123" y="2854097"/>
            <a:ext cx="693294" cy="673622"/>
          </a:xfrm>
          <a:prstGeom prst="bentConnector3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コネクタ: カギ線 31">
            <a:extLst>
              <a:ext uri="{FF2B5EF4-FFF2-40B4-BE49-F238E27FC236}">
                <a16:creationId xmlns:a16="http://schemas.microsoft.com/office/drawing/2014/main" id="{6EDE228B-CA5E-5B59-5A0B-710D94FA463E}"/>
              </a:ext>
            </a:extLst>
          </p:cNvPr>
          <p:cNvCxnSpPr>
            <a:cxnSpLocks/>
            <a:stCxn id="25" idx="3"/>
          </p:cNvCxnSpPr>
          <p:nvPr/>
        </p:nvCxnSpPr>
        <p:spPr>
          <a:xfrm flipV="1">
            <a:off x="6423123" y="3894452"/>
            <a:ext cx="693294" cy="602219"/>
          </a:xfrm>
          <a:prstGeom prst="bentConnector3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CE4BE48-911B-AD27-7315-14A2D379986F}"/>
              </a:ext>
            </a:extLst>
          </p:cNvPr>
          <p:cNvSpPr/>
          <p:nvPr/>
        </p:nvSpPr>
        <p:spPr>
          <a:xfrm>
            <a:off x="7008533" y="3349934"/>
            <a:ext cx="313386" cy="65090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Arial"/>
                <a:ea typeface="Arial"/>
              </a:rPr>
              <a:t>L</a:t>
            </a:r>
          </a:p>
          <a:p>
            <a:pPr algn="ctr"/>
            <a:r>
              <a:rPr kumimoji="1" lang="en-US" altLang="ja-JP" dirty="0">
                <a:latin typeface="Arial"/>
                <a:ea typeface="Arial"/>
              </a:rPr>
              <a:t>R</a:t>
            </a:r>
            <a:endParaRPr kumimoji="1" lang="ja-JP" altLang="en-US" dirty="0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45B8F234-DFFB-2AAE-672B-9EE93D78A5FF}"/>
              </a:ext>
            </a:extLst>
          </p:cNvPr>
          <p:cNvSpPr/>
          <p:nvPr/>
        </p:nvSpPr>
        <p:spPr>
          <a:xfrm>
            <a:off x="6101606" y="5374378"/>
            <a:ext cx="1150739" cy="538059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Arial"/>
                <a:ea typeface="Arial"/>
              </a:rPr>
              <a:t>SIGLENT</a:t>
            </a:r>
            <a:endParaRPr kumimoji="1" lang="ja-JP" altLang="en-US" dirty="0"/>
          </a:p>
        </p:txBody>
      </p:sp>
      <p:cxnSp>
        <p:nvCxnSpPr>
          <p:cNvPr id="40" name="直線コネクタ 39">
            <a:extLst>
              <a:ext uri="{FF2B5EF4-FFF2-40B4-BE49-F238E27FC236}">
                <a16:creationId xmlns:a16="http://schemas.microsoft.com/office/drawing/2014/main" id="{FABFFBBC-DF02-C6A0-019D-C2AD73CD7F2A}"/>
              </a:ext>
            </a:extLst>
          </p:cNvPr>
          <p:cNvCxnSpPr>
            <a:cxnSpLocks/>
          </p:cNvCxnSpPr>
          <p:nvPr/>
        </p:nvCxnSpPr>
        <p:spPr>
          <a:xfrm>
            <a:off x="6676976" y="2873749"/>
            <a:ext cx="0" cy="2500629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9F5A5923-F960-537A-FE3A-0C549E7FA179}"/>
              </a:ext>
            </a:extLst>
          </p:cNvPr>
          <p:cNvCxnSpPr>
            <a:cxnSpLocks/>
          </p:cNvCxnSpPr>
          <p:nvPr/>
        </p:nvCxnSpPr>
        <p:spPr>
          <a:xfrm>
            <a:off x="6551080" y="4496671"/>
            <a:ext cx="0" cy="877707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B415AE24-7109-E992-051B-D92C6811BC37}"/>
              </a:ext>
            </a:extLst>
          </p:cNvPr>
          <p:cNvSpPr/>
          <p:nvPr/>
        </p:nvSpPr>
        <p:spPr>
          <a:xfrm>
            <a:off x="5087111" y="5374377"/>
            <a:ext cx="727769" cy="538059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Arial"/>
                <a:ea typeface="Arial"/>
              </a:rPr>
              <a:t>FB</a:t>
            </a:r>
          </a:p>
          <a:p>
            <a:pPr algn="ctr"/>
            <a:r>
              <a:rPr kumimoji="1" lang="ja-JP" altLang="en-US" dirty="0">
                <a:latin typeface="Arial"/>
                <a:ea typeface="Arial"/>
              </a:rPr>
              <a:t>制御</a:t>
            </a: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79675660-B371-2219-4791-276D349372AE}"/>
              </a:ext>
            </a:extLst>
          </p:cNvPr>
          <p:cNvSpPr/>
          <p:nvPr/>
        </p:nvSpPr>
        <p:spPr>
          <a:xfrm>
            <a:off x="4072616" y="5387253"/>
            <a:ext cx="727769" cy="538059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Arial"/>
                <a:ea typeface="Arial"/>
              </a:rPr>
              <a:t>NI</a:t>
            </a:r>
          </a:p>
        </p:txBody>
      </p:sp>
      <p:cxnSp>
        <p:nvCxnSpPr>
          <p:cNvPr id="45" name="直線コネクタ 44">
            <a:extLst>
              <a:ext uri="{FF2B5EF4-FFF2-40B4-BE49-F238E27FC236}">
                <a16:creationId xmlns:a16="http://schemas.microsoft.com/office/drawing/2014/main" id="{F5BF876E-E4B6-C171-6897-C772E99B4FB9}"/>
              </a:ext>
            </a:extLst>
          </p:cNvPr>
          <p:cNvCxnSpPr>
            <a:cxnSpLocks/>
            <a:stCxn id="43" idx="3"/>
            <a:endCxn id="38" idx="1"/>
          </p:cNvCxnSpPr>
          <p:nvPr/>
        </p:nvCxnSpPr>
        <p:spPr>
          <a:xfrm>
            <a:off x="5814880" y="5643407"/>
            <a:ext cx="286726" cy="1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線コネクタ 47">
            <a:extLst>
              <a:ext uri="{FF2B5EF4-FFF2-40B4-BE49-F238E27FC236}">
                <a16:creationId xmlns:a16="http://schemas.microsoft.com/office/drawing/2014/main" id="{1855D12C-CCE1-6B62-EC61-6997AF892EC5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 flipV="1">
            <a:off x="4800385" y="5643407"/>
            <a:ext cx="286726" cy="12876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コネクタ: カギ線 51">
            <a:extLst>
              <a:ext uri="{FF2B5EF4-FFF2-40B4-BE49-F238E27FC236}">
                <a16:creationId xmlns:a16="http://schemas.microsoft.com/office/drawing/2014/main" id="{12C12AC0-5503-6545-2797-97B315567D81}"/>
              </a:ext>
            </a:extLst>
          </p:cNvPr>
          <p:cNvCxnSpPr>
            <a:cxnSpLocks/>
            <a:stCxn id="44" idx="1"/>
            <a:endCxn id="24" idx="2"/>
          </p:cNvCxnSpPr>
          <p:nvPr/>
        </p:nvCxnSpPr>
        <p:spPr>
          <a:xfrm rot="10800000">
            <a:off x="3424064" y="4992507"/>
            <a:ext cx="648553" cy="663776"/>
          </a:xfrm>
          <a:prstGeom prst="bentConnector2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C4E3AE74-DE72-E04B-7DD7-80139974F851}"/>
              </a:ext>
            </a:extLst>
          </p:cNvPr>
          <p:cNvSpPr txBox="1"/>
          <p:nvPr/>
        </p:nvSpPr>
        <p:spPr>
          <a:xfrm>
            <a:off x="4815516" y="1953578"/>
            <a:ext cx="16227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>
                <a:latin typeface="Arial"/>
                <a:ea typeface="Arial"/>
              </a:rPr>
              <a:t>10MHz</a:t>
            </a:r>
            <a:r>
              <a:rPr kumimoji="1" lang="ja-JP" altLang="en-US" dirty="0">
                <a:latin typeface="Arial"/>
                <a:ea typeface="Arial"/>
              </a:rPr>
              <a:t>→</a:t>
            </a:r>
            <a:r>
              <a:rPr kumimoji="1" lang="en-US" altLang="ja-JP" dirty="0">
                <a:latin typeface="Arial"/>
                <a:ea typeface="Arial"/>
              </a:rPr>
              <a:t>48kHz</a:t>
            </a:r>
            <a:endParaRPr kumimoji="1" lang="ja-JP" altLang="en-US" dirty="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AD5DC596-5B58-1E30-7804-DC0F2D4458B5}"/>
              </a:ext>
            </a:extLst>
          </p:cNvPr>
          <p:cNvSpPr txBox="1"/>
          <p:nvPr/>
        </p:nvSpPr>
        <p:spPr>
          <a:xfrm>
            <a:off x="4800385" y="3618962"/>
            <a:ext cx="16227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>
                <a:latin typeface="Arial"/>
                <a:ea typeface="Arial"/>
              </a:rPr>
              <a:t>10MHz</a:t>
            </a:r>
            <a:r>
              <a:rPr kumimoji="1" lang="ja-JP" altLang="en-US" dirty="0">
                <a:latin typeface="Arial"/>
                <a:ea typeface="Arial"/>
              </a:rPr>
              <a:t>→</a:t>
            </a:r>
            <a:r>
              <a:rPr kumimoji="1" lang="en-US" altLang="ja-JP" dirty="0">
                <a:latin typeface="Arial"/>
                <a:ea typeface="Arial"/>
              </a:rPr>
              <a:t>48kHz</a:t>
            </a:r>
            <a:endParaRPr kumimoji="1" lang="ja-JP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000F78"/>
                </a:solidFill>
                <a:latin typeface="Arial"/>
                <a:ea typeface="Arial"/>
              </a:rPr>
              <a:t>04. </a:t>
            </a:r>
            <a:r>
              <a:rPr sz="1400" b="1" dirty="0" err="1">
                <a:solidFill>
                  <a:srgbClr val="000F78"/>
                </a:solidFill>
                <a:latin typeface="Arial"/>
                <a:ea typeface="Arial"/>
              </a:rPr>
              <a:t>研究方法</a:t>
            </a:r>
            <a:endParaRPr sz="1400" b="1" dirty="0">
              <a:solidFill>
                <a:srgbClr val="000F78"/>
              </a:solidFill>
              <a:latin typeface="Arial"/>
              <a:ea typeface="Arial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000F78"/>
                </a:solidFill>
                <a:latin typeface="Arial"/>
                <a:ea typeface="Arial"/>
              </a:rPr>
              <a:t>4-</a:t>
            </a:r>
            <a:r>
              <a:rPr lang="en-US" b="1" dirty="0">
                <a:solidFill>
                  <a:srgbClr val="000F78"/>
                </a:solidFill>
                <a:latin typeface="Arial"/>
                <a:ea typeface="Arial"/>
              </a:rPr>
              <a:t>2</a:t>
            </a:r>
            <a:r>
              <a:rPr b="1" dirty="0">
                <a:solidFill>
                  <a:srgbClr val="000F78"/>
                </a:solidFill>
                <a:latin typeface="Arial"/>
                <a:ea typeface="Arial"/>
              </a:rPr>
              <a:t>. </a:t>
            </a:r>
            <a:r>
              <a:rPr b="1" dirty="0" err="1">
                <a:solidFill>
                  <a:srgbClr val="000F78"/>
                </a:solidFill>
                <a:latin typeface="Arial"/>
                <a:ea typeface="Arial"/>
              </a:rPr>
              <a:t>測定法：オーディオレコーダを使う理由</a:t>
            </a:r>
            <a:endParaRPr b="1" dirty="0">
              <a:solidFill>
                <a:srgbClr val="000F78"/>
              </a:solidFill>
              <a:latin typeface="Arial"/>
              <a:ea typeface="Arial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32688"/>
            <a:ext cx="9326880" cy="1810512"/>
          </a:xfrm>
        </p:spPr>
        <p:txBody>
          <a:bodyPr wrap="square"/>
          <a:lstStyle/>
          <a:p>
            <a:r>
              <a:rPr b="1" dirty="0">
                <a:solidFill>
                  <a:srgbClr val="1B2A5A"/>
                </a:solidFill>
                <a:latin typeface="Arial"/>
                <a:ea typeface="Arial"/>
              </a:rPr>
              <a:t>オーディオレコーディングは高分解能（10秒測定で std 20–30 ps）かつ長時間測定が可能で、0.1–1 Hz </a:t>
            </a:r>
            <a:r>
              <a:rPr b="1" dirty="0" err="1">
                <a:solidFill>
                  <a:srgbClr val="1B2A5A"/>
                </a:solidFill>
                <a:latin typeface="Arial"/>
                <a:ea typeface="Arial"/>
              </a:rPr>
              <a:t>の評価に向いている</a:t>
            </a:r>
            <a:r>
              <a:rPr lang="ja-JP" altLang="en-US" b="1" dirty="0">
                <a:solidFill>
                  <a:srgbClr val="1B2A5A"/>
                </a:solidFill>
                <a:latin typeface="Arial"/>
                <a:ea typeface="Arial"/>
              </a:rPr>
              <a:t>。</a:t>
            </a:r>
            <a:endParaRPr b="1" dirty="0">
              <a:solidFill>
                <a:srgbClr val="1B2A5A"/>
              </a:solidFill>
              <a:latin typeface="Arial"/>
              <a:ea typeface="Arial"/>
            </a:endParaRPr>
          </a:p>
        </p:txBody>
      </p:sp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743FFDF0-7939-69C6-101F-4FD83094F5E2}"/>
              </a:ext>
            </a:extLst>
          </p:cNvPr>
          <p:cNvSpPr txBox="1">
            <a:spLocks/>
          </p:cNvSpPr>
          <p:nvPr/>
        </p:nvSpPr>
        <p:spPr>
          <a:xfrm>
            <a:off x="274320" y="2515110"/>
            <a:ext cx="9049008" cy="1461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425" tIns="43175" rIns="88425" bIns="431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1787" algn="l" rtl="0">
              <a:lnSpc>
                <a:spcPct val="100000"/>
              </a:lnSpc>
              <a:spcBef>
                <a:spcPts val="488"/>
              </a:spcBef>
              <a:spcAft>
                <a:spcPts val="0"/>
              </a:spcAft>
              <a:buClr>
                <a:schemeClr val="lt2"/>
              </a:buClr>
              <a:buSzPts val="1625"/>
              <a:buFont typeface="Noto Sans Symbols"/>
              <a:buChar char="■"/>
              <a:defRPr sz="1800" b="0" i="0" u="none" strike="noStrike" cap="none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1500" algn="l" rtl="0">
              <a:lnSpc>
                <a:spcPct val="100000"/>
              </a:lnSpc>
              <a:spcBef>
                <a:spcPts val="439"/>
              </a:spcBef>
              <a:spcAft>
                <a:spcPts val="0"/>
              </a:spcAft>
              <a:buClr>
                <a:schemeClr val="lt2"/>
              </a:buClr>
              <a:buSzPts val="1463"/>
              <a:buFont typeface="Noto Sans Symbols"/>
              <a:buChar char="●"/>
              <a:defRPr sz="146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1150" algn="l" rtl="0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▪"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0863" algn="l" rtl="0">
              <a:lnSpc>
                <a:spcPct val="100000"/>
              </a:lnSpc>
              <a:spcBef>
                <a:spcPts val="171"/>
              </a:spcBef>
              <a:spcAft>
                <a:spcPts val="0"/>
              </a:spcAft>
              <a:buClr>
                <a:schemeClr val="dk1"/>
              </a:buClr>
              <a:buSzPts val="1138"/>
              <a:buFont typeface="Arial"/>
              <a:buChar char="▪"/>
              <a:defRPr sz="113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0512" algn="l" rtl="0">
              <a:lnSpc>
                <a:spcPct val="100000"/>
              </a:lnSpc>
              <a:spcBef>
                <a:spcPts val="98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kumimoji="1" lang="ja-JP" altLang="en-US" dirty="0">
                <a:latin typeface="Arial"/>
                <a:ea typeface="Arial"/>
              </a:rPr>
              <a:t>なぜオシロスコープでは、下限</a:t>
            </a:r>
            <a:r>
              <a:rPr kumimoji="1" lang="en-US" altLang="ja-JP" dirty="0">
                <a:latin typeface="Arial"/>
                <a:ea typeface="Arial"/>
              </a:rPr>
              <a:t>0.1Hz</a:t>
            </a:r>
            <a:r>
              <a:rPr kumimoji="1" lang="ja-JP" altLang="en-US" dirty="0">
                <a:latin typeface="Arial"/>
                <a:ea typeface="Arial"/>
              </a:rPr>
              <a:t>の測定が行えないか。</a:t>
            </a:r>
            <a:endParaRPr kumimoji="1" lang="en-US" altLang="ja-JP" dirty="0"/>
          </a:p>
          <a:p>
            <a:pPr lvl="1"/>
            <a:r>
              <a:rPr kumimoji="1" lang="en-US" altLang="ja-JP" sz="1637" dirty="0">
                <a:solidFill>
                  <a:schemeClr val="tx1"/>
                </a:solidFill>
                <a:latin typeface="Arial"/>
                <a:ea typeface="Arial"/>
              </a:rPr>
              <a:t>DFT</a:t>
            </a:r>
            <a:r>
              <a:rPr kumimoji="1" lang="ja-JP" altLang="en-US" sz="1637" dirty="0">
                <a:solidFill>
                  <a:schemeClr val="tx1"/>
                </a:solidFill>
                <a:latin typeface="Arial"/>
                <a:ea typeface="Arial"/>
              </a:rPr>
              <a:t>による解析時に最小周波数単位</a:t>
            </a:r>
            <a:r>
              <a:rPr kumimoji="1" lang="en-US" altLang="ja-JP" sz="1637" dirty="0" err="1">
                <a:solidFill>
                  <a:schemeClr val="tx1"/>
                </a:solidFill>
                <a:latin typeface="Arial"/>
                <a:ea typeface="Arial"/>
              </a:rPr>
              <a:t>Δf</a:t>
            </a:r>
            <a:r>
              <a:rPr kumimoji="1" lang="en-US" altLang="ja-JP" sz="1637" dirty="0">
                <a:solidFill>
                  <a:schemeClr val="tx1"/>
                </a:solidFill>
                <a:latin typeface="Arial"/>
                <a:ea typeface="Arial"/>
              </a:rPr>
              <a:t>=0.1Hz</a:t>
            </a:r>
            <a:r>
              <a:rPr kumimoji="1" lang="ja-JP" altLang="en-US" sz="1637" dirty="0">
                <a:solidFill>
                  <a:schemeClr val="tx1"/>
                </a:solidFill>
                <a:latin typeface="Arial"/>
                <a:ea typeface="Arial"/>
              </a:rPr>
              <a:t>でなければならない。</a:t>
            </a:r>
            <a:endParaRPr kumimoji="1" lang="en-US" altLang="ja-JP" sz="1637" dirty="0">
              <a:solidFill>
                <a:schemeClr val="tx1"/>
              </a:solidFill>
            </a:endParaRPr>
          </a:p>
          <a:p>
            <a:pPr marL="592900" lvl="1" indent="0">
              <a:buNone/>
            </a:pPr>
            <a:r>
              <a:rPr kumimoji="1" lang="en-US" altLang="ja-JP" sz="1637" dirty="0">
                <a:solidFill>
                  <a:schemeClr val="tx1"/>
                </a:solidFill>
                <a:latin typeface="Arial"/>
                <a:ea typeface="Arial"/>
              </a:rPr>
              <a:t>      </a:t>
            </a:r>
            <a:r>
              <a:rPr kumimoji="1" lang="ja-JP" altLang="en-US" sz="1637" dirty="0">
                <a:solidFill>
                  <a:schemeClr val="tx1"/>
                </a:solidFill>
                <a:latin typeface="Arial"/>
                <a:ea typeface="Arial"/>
              </a:rPr>
              <a:t>→</a:t>
            </a:r>
            <a:r>
              <a:rPr kumimoji="1" lang="en-US" altLang="ja-JP" sz="1637" dirty="0">
                <a:solidFill>
                  <a:schemeClr val="tx1"/>
                </a:solidFill>
                <a:latin typeface="Arial"/>
                <a:ea typeface="Arial"/>
              </a:rPr>
              <a:t>10s</a:t>
            </a:r>
            <a:r>
              <a:rPr kumimoji="1" lang="ja-JP" altLang="en-US" sz="1637" dirty="0">
                <a:solidFill>
                  <a:schemeClr val="tx1"/>
                </a:solidFill>
                <a:latin typeface="Arial"/>
                <a:ea typeface="Arial"/>
              </a:rPr>
              <a:t>の測定が必要。</a:t>
            </a:r>
            <a:r>
              <a:rPr kumimoji="1" lang="en-US" altLang="ja-JP" sz="1600" dirty="0">
                <a:solidFill>
                  <a:schemeClr val="tx1"/>
                </a:solidFill>
                <a:latin typeface="Arial"/>
                <a:ea typeface="Arial"/>
              </a:rPr>
              <a:t>	</a:t>
            </a:r>
            <a:endParaRPr kumimoji="1" lang="en-US" altLang="ja-JP" sz="1637" dirty="0">
              <a:solidFill>
                <a:schemeClr val="tx1"/>
              </a:solidFill>
            </a:endParaRPr>
          </a:p>
          <a:p>
            <a:endParaRPr kumimoji="1" lang="en-US" altLang="ja-JP" sz="2137" dirty="0"/>
          </a:p>
          <a:p>
            <a:pPr marL="592900" lvl="1" indent="0">
              <a:buFont typeface="Noto Sans Symbols"/>
              <a:buNone/>
            </a:pPr>
            <a:r>
              <a:rPr kumimoji="1" lang="en-US" altLang="ja-JP" sz="1800" dirty="0">
                <a:solidFill>
                  <a:schemeClr val="tx1"/>
                </a:solidFill>
                <a:latin typeface="Arial"/>
                <a:ea typeface="Arial"/>
              </a:rPr>
              <a:t>	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ED9071B2-E2DC-5E0A-25D9-390051D712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531467"/>
              </p:ext>
            </p:extLst>
          </p:nvPr>
        </p:nvGraphicFramePr>
        <p:xfrm>
          <a:off x="1943112" y="3782403"/>
          <a:ext cx="6474460" cy="1756400"/>
        </p:xfrm>
        <a:graphic>
          <a:graphicData uri="http://schemas.openxmlformats.org/drawingml/2006/table">
            <a:tbl>
              <a:tblPr firstRow="1" bandRow="1">
                <a:tableStyleId>{FFF55246-B984-4F00-A051-4BF160ACBDB1}</a:tableStyleId>
              </a:tblPr>
              <a:tblGrid>
                <a:gridCol w="2158153">
                  <a:extLst>
                    <a:ext uri="{9D8B030D-6E8A-4147-A177-3AD203B41FA5}">
                      <a16:colId xmlns:a16="http://schemas.microsoft.com/office/drawing/2014/main" val="1379942070"/>
                    </a:ext>
                  </a:extLst>
                </a:gridCol>
                <a:gridCol w="2192085">
                  <a:extLst>
                    <a:ext uri="{9D8B030D-6E8A-4147-A177-3AD203B41FA5}">
                      <a16:colId xmlns:a16="http://schemas.microsoft.com/office/drawing/2014/main" val="4021740923"/>
                    </a:ext>
                  </a:extLst>
                </a:gridCol>
                <a:gridCol w="2124222">
                  <a:extLst>
                    <a:ext uri="{9D8B030D-6E8A-4147-A177-3AD203B41FA5}">
                      <a16:colId xmlns:a16="http://schemas.microsoft.com/office/drawing/2014/main" val="1910060141"/>
                    </a:ext>
                  </a:extLst>
                </a:gridCol>
              </a:tblGrid>
              <a:tr h="726786"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Arial"/>
                          <a:ea typeface="Arial"/>
                        </a:rPr>
                        <a:t>測定器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Arial"/>
                          <a:ea typeface="Arial"/>
                        </a:rPr>
                        <a:t>サンプルレート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Arial"/>
                          <a:ea typeface="Arial"/>
                        </a:rPr>
                        <a:t>サンプル数</a:t>
                      </a:r>
                      <a:endParaRPr kumimoji="1" lang="en-US" altLang="ja-JP" dirty="0"/>
                    </a:p>
                    <a:p>
                      <a:r>
                        <a:rPr kumimoji="1" lang="ja-JP" altLang="en-US">
                          <a:latin typeface="Arial"/>
                          <a:ea typeface="Arial"/>
                        </a:rPr>
                        <a:t>（</a:t>
                      </a:r>
                      <a:r>
                        <a:rPr kumimoji="1" lang="en-US" altLang="ja-JP" dirty="0">
                          <a:latin typeface="Arial"/>
                          <a:ea typeface="Arial"/>
                        </a:rPr>
                        <a:t>10</a:t>
                      </a:r>
                      <a:r>
                        <a:rPr kumimoji="1" lang="ja-JP" altLang="en-US">
                          <a:latin typeface="Arial"/>
                          <a:ea typeface="Arial"/>
                        </a:rPr>
                        <a:t>秒測定の場合）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43233"/>
                  </a:ext>
                </a:extLst>
              </a:tr>
              <a:tr h="514807">
                <a:tc>
                  <a:txBody>
                    <a:bodyPr/>
                    <a:lstStyle/>
                    <a:p>
                      <a:r>
                        <a:rPr kumimoji="1" lang="en-US" altLang="ja-JP" dirty="0">
                          <a:latin typeface="Arial"/>
                          <a:ea typeface="Arial"/>
                        </a:rPr>
                        <a:t>Oscilloscope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>
                          <a:latin typeface="Arial"/>
                          <a:ea typeface="Arial"/>
                        </a:rPr>
                        <a:t>2.5G</a:t>
                      </a:r>
                      <a:r>
                        <a:rPr kumimoji="1" lang="ja-JP" altLang="en-US">
                          <a:latin typeface="Arial"/>
                          <a:ea typeface="Arial"/>
                        </a:rPr>
                        <a:t>サンプル</a:t>
                      </a:r>
                      <a:r>
                        <a:rPr kumimoji="1" lang="en-US" altLang="ja-JP" dirty="0">
                          <a:latin typeface="Arial"/>
                          <a:ea typeface="Arial"/>
                        </a:rPr>
                        <a:t>/s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>
                          <a:latin typeface="Arial"/>
                          <a:ea typeface="Arial"/>
                        </a:rPr>
                        <a:t>25G</a:t>
                      </a:r>
                      <a:r>
                        <a:rPr kumimoji="1" lang="ja-JP" altLang="en-US">
                          <a:latin typeface="Arial"/>
                          <a:ea typeface="Arial"/>
                        </a:rPr>
                        <a:t>サンプル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4337629"/>
                  </a:ext>
                </a:extLst>
              </a:tr>
              <a:tr h="514807">
                <a:tc>
                  <a:txBody>
                    <a:bodyPr/>
                    <a:lstStyle/>
                    <a:p>
                      <a:r>
                        <a:rPr kumimoji="1" lang="en-US" altLang="ja-JP" dirty="0">
                          <a:latin typeface="Arial"/>
                          <a:ea typeface="Arial"/>
                        </a:rPr>
                        <a:t>Audio Recorder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>
                          <a:latin typeface="Arial"/>
                          <a:ea typeface="Arial"/>
                        </a:rPr>
                        <a:t>192k</a:t>
                      </a:r>
                      <a:r>
                        <a:rPr kumimoji="1" lang="ja-JP" altLang="en-US">
                          <a:latin typeface="Arial"/>
                          <a:ea typeface="Arial"/>
                        </a:rPr>
                        <a:t>サンプル</a:t>
                      </a:r>
                      <a:r>
                        <a:rPr kumimoji="1" lang="en-US" altLang="ja-JP" dirty="0">
                          <a:latin typeface="Arial"/>
                          <a:ea typeface="Arial"/>
                        </a:rPr>
                        <a:t>/s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>
                          <a:latin typeface="Arial"/>
                          <a:ea typeface="Arial"/>
                        </a:rPr>
                        <a:t>1.92M</a:t>
                      </a:r>
                      <a:r>
                        <a:rPr kumimoji="1" lang="ja-JP" altLang="en-US">
                          <a:latin typeface="Arial"/>
                          <a:ea typeface="Arial"/>
                        </a:rPr>
                        <a:t>サンプル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31152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000F78"/>
                </a:solidFill>
                <a:latin typeface="Arial"/>
                <a:ea typeface="Arial"/>
              </a:rPr>
              <a:t>04. </a:t>
            </a:r>
            <a:r>
              <a:rPr sz="1400" b="1" dirty="0" err="1">
                <a:solidFill>
                  <a:srgbClr val="000F78"/>
                </a:solidFill>
                <a:latin typeface="Arial"/>
                <a:ea typeface="Arial"/>
              </a:rPr>
              <a:t>研究方法</a:t>
            </a:r>
            <a:endParaRPr sz="1400" b="1" dirty="0">
              <a:solidFill>
                <a:srgbClr val="000F78"/>
              </a:solidFill>
              <a:latin typeface="Arial"/>
              <a:ea typeface="Arial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000F78"/>
                </a:solidFill>
                <a:latin typeface="Arial"/>
                <a:ea typeface="Arial"/>
              </a:rPr>
              <a:t>4-</a:t>
            </a:r>
            <a:r>
              <a:rPr lang="en-US" b="1" dirty="0">
                <a:solidFill>
                  <a:srgbClr val="000F78"/>
                </a:solidFill>
                <a:latin typeface="Arial"/>
                <a:ea typeface="Arial"/>
              </a:rPr>
              <a:t>3</a:t>
            </a:r>
            <a:r>
              <a:rPr b="1" dirty="0">
                <a:solidFill>
                  <a:srgbClr val="000F78"/>
                </a:solidFill>
                <a:latin typeface="Arial"/>
                <a:ea typeface="Arial"/>
              </a:rPr>
              <a:t>. </a:t>
            </a:r>
            <a:r>
              <a:rPr lang="en-US" altLang="ja-JP" b="1" dirty="0">
                <a:solidFill>
                  <a:srgbClr val="000F78"/>
                </a:solidFill>
                <a:latin typeface="Arial"/>
                <a:ea typeface="Arial"/>
              </a:rPr>
              <a:t>OCXO</a:t>
            </a:r>
            <a:r>
              <a:rPr lang="ja-JP" altLang="en-US" b="1" dirty="0">
                <a:solidFill>
                  <a:srgbClr val="000F78"/>
                </a:solidFill>
                <a:latin typeface="Arial"/>
                <a:ea typeface="Arial"/>
              </a:rPr>
              <a:t>の同期制御</a:t>
            </a:r>
            <a:endParaRPr b="1" dirty="0">
              <a:solidFill>
                <a:srgbClr val="000F78"/>
              </a:solidFill>
              <a:latin typeface="Arial"/>
              <a:ea typeface="Arial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32688"/>
            <a:ext cx="9326880" cy="1771875"/>
          </a:xfrm>
        </p:spPr>
        <p:txBody>
          <a:bodyPr wrap="square"/>
          <a:lstStyle/>
          <a:p>
            <a:r>
              <a:rPr b="1" dirty="0" err="1">
                <a:solidFill>
                  <a:srgbClr val="1B2A5A"/>
                </a:solidFill>
                <a:latin typeface="Arial"/>
                <a:ea typeface="Arial"/>
              </a:rPr>
              <a:t>互いに無相関な雑音は平均で打ち消し合う。位相を揃えた複数OCXOの出力をフィードバックで実時間に同期・平均し、OCXO一台を超える純度を実現する。</a:t>
            </a:r>
            <a:endParaRPr b="1" dirty="0">
              <a:solidFill>
                <a:srgbClr val="1B2A5A"/>
              </a:solidFill>
              <a:latin typeface="Arial"/>
              <a:ea typeface="Arial"/>
            </a:endParaRPr>
          </a:p>
          <a:p>
            <a:pPr lvl="1"/>
            <a:r>
              <a:rPr lang="ja-JP" altLang="en-US" dirty="0">
                <a:latin typeface="Arial"/>
                <a:ea typeface="Arial"/>
              </a:rPr>
              <a:t>力学系における車両追従制御（</a:t>
            </a:r>
            <a:r>
              <a:rPr lang="en-US" altLang="ja-JP" dirty="0">
                <a:latin typeface="Arial"/>
                <a:ea typeface="Arial"/>
              </a:rPr>
              <a:t>ACC</a:t>
            </a:r>
            <a:r>
              <a:rPr lang="ja-JP" altLang="en-US" dirty="0">
                <a:latin typeface="Arial"/>
                <a:ea typeface="Arial"/>
              </a:rPr>
              <a:t>）を本実験における波動系に応用</a:t>
            </a:r>
            <a:endParaRPr dirty="0">
              <a:latin typeface="Arial"/>
              <a:ea typeface="Arial"/>
            </a:endParaRPr>
          </a:p>
        </p:txBody>
      </p:sp>
      <p:pic>
        <p:nvPicPr>
          <p:cNvPr id="6" name="図 5" descr="The image illustrates a diagram showing various components of an automated control system, including vehicle distance, speed, oscillation, and control elements like OCXO-1 and OCXO-2, with a focus on phase difference and control voltage.&#10;&#10;AI 生成コンテンツは誤りを含む可能性があります。">
            <a:extLst>
              <a:ext uri="{FF2B5EF4-FFF2-40B4-BE49-F238E27FC236}">
                <a16:creationId xmlns:a16="http://schemas.microsoft.com/office/drawing/2014/main" id="{1BA0518F-A2AD-4737-69B5-0D21DD844B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2468880"/>
            <a:ext cx="4572000" cy="2192421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2468880"/>
          <a:ext cx="452627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1037"/>
                <a:gridCol w="2625242"/>
              </a:tblGrid>
              <a:tr h="5181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力学系（車両追従ACC）</a:t>
                      </a:r>
                    </a:p>
                  </a:txBody>
                  <a:tcPr marL="50800" marR="50800" marT="25400" marB="25400">
                    <a:solidFill>
                      <a:srgbClr val="1B2A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波動系（本研究）</a:t>
                      </a:r>
                    </a:p>
                  </a:txBody>
                  <a:tcPr marL="50800" marR="50800" marT="25400" marB="25400">
                    <a:solidFill>
                      <a:srgbClr val="1B2A5A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  <a:latin typeface="Arial"/>
                          <a:ea typeface="Arial"/>
                        </a:rPr>
                        <a:t>位置（先行車との相対位置）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  <a:latin typeface="Arial"/>
                          <a:ea typeface="Arial"/>
                        </a:rPr>
                        <a:t>位相 φ（FRFR：2台のゼロクロス時間差 [ns]）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  <a:latin typeface="Arial"/>
                          <a:ea typeface="Arial"/>
                        </a:rPr>
                        <a:t>速度（相対速度）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  <a:latin typeface="Arial"/>
                          <a:ea typeface="Arial"/>
                        </a:rPr>
                        <a:t>周波数差 Δf [ns/s]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  <a:latin typeface="Arial"/>
                          <a:ea typeface="Arial"/>
                        </a:rPr>
                        <a:t>加速度入力（操作量）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  <a:latin typeface="Arial"/>
                          <a:ea typeface="Arial"/>
                        </a:rPr>
                        <a:t>制御電圧 u [V]（OCXO-2へ印加, 0–5V）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  <a:latin typeface="Arial"/>
                          <a:ea typeface="Arial"/>
                        </a:rPr>
                        <a:t>車間目標（目標相対位置）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  <a:latin typeface="Arial"/>
                          <a:ea typeface="Arial"/>
                        </a:rPr>
                        <a:t>目標 FRFR（位相同期の目標値 φ_ref）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  <a:latin typeface="Arial"/>
                          <a:ea typeface="Arial"/>
                        </a:rPr>
                        <a:t>運動則（加速度→速度→位置）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  <a:latin typeface="Arial"/>
                          <a:ea typeface="Arial"/>
                        </a:rPr>
                        <a:t>プラント u→Δf=K(u−u0)→積分でφ（K≈860）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AB907-215E-803C-0B72-6B8E64172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CD6EF-6374-2AC3-8489-DF262FB5C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000F78"/>
                </a:solidFill>
                <a:latin typeface="Arial"/>
                <a:ea typeface="Arial"/>
              </a:rPr>
              <a:t>04. </a:t>
            </a:r>
            <a:r>
              <a:rPr sz="1400" b="1" dirty="0" err="1">
                <a:solidFill>
                  <a:srgbClr val="000F78"/>
                </a:solidFill>
                <a:latin typeface="Arial"/>
                <a:ea typeface="Arial"/>
              </a:rPr>
              <a:t>研究方法</a:t>
            </a:r>
            <a:endParaRPr sz="1400" b="1" dirty="0">
              <a:solidFill>
                <a:srgbClr val="000F78"/>
              </a:solidFill>
              <a:latin typeface="Arial"/>
              <a:ea typeface="Arial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000F78"/>
                </a:solidFill>
                <a:latin typeface="Arial"/>
                <a:ea typeface="Arial"/>
              </a:rPr>
              <a:t>4-</a:t>
            </a:r>
            <a:r>
              <a:rPr lang="en-US" b="1" dirty="0">
                <a:solidFill>
                  <a:srgbClr val="000F78"/>
                </a:solidFill>
                <a:latin typeface="Arial"/>
                <a:ea typeface="Arial"/>
              </a:rPr>
              <a:t>4</a:t>
            </a:r>
            <a:r>
              <a:rPr b="1" dirty="0">
                <a:solidFill>
                  <a:srgbClr val="000F78"/>
                </a:solidFill>
                <a:latin typeface="Arial"/>
                <a:ea typeface="Arial"/>
              </a:rPr>
              <a:t>. </a:t>
            </a:r>
            <a:r>
              <a:rPr lang="ja-JP" altLang="en-US" b="1" dirty="0">
                <a:solidFill>
                  <a:srgbClr val="000F78"/>
                </a:solidFill>
                <a:latin typeface="Arial"/>
                <a:ea typeface="Arial"/>
              </a:rPr>
              <a:t>状態方程式による制御</a:t>
            </a:r>
            <a:endParaRPr b="1" dirty="0">
              <a:solidFill>
                <a:srgbClr val="000F78"/>
              </a:solidFill>
              <a:latin typeface="Arial"/>
              <a:ea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F06936-9F10-92B8-038E-96B52E85C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4320" y="914400"/>
            <a:ext cx="4983480" cy="1463040"/>
          </a:xfrm>
        </p:spPr>
        <p:txBody>
          <a:bodyPr wrap="square"/>
          <a:lstStyle/>
          <a:p>
            <a:pPr/>
            <a:r>
              <a:rPr b="1" sz="1400">
                <a:solidFill>
                  <a:srgbClr val="1B2A5A"/>
                </a:solidFill>
                <a:latin typeface="Arial"/>
                <a:ea typeface="Arial"/>
              </a:rPr>
              <a:t>車両追従制御（ACC）の2体の状態方程式を波動系へ写して位相同期を設計する。本研究は電圧 u が周波数差 Δf を静的に決めるため、ACC の二重積分より1段素直な単積分（誤差 e の1状態, G(s)=K/s）の系となる。</a:t>
            </a:r>
            <a:endParaRPr dirty="0">
              <a:latin typeface="Arial"/>
              <a:ea typeface="Arial"/>
            </a:endParaRPr>
          </a:p>
        </p:txBody>
      </p:sp>
      <p:pic>
        <p:nvPicPr>
          <p:cNvPr id="5" name="図 4" descr="The image depicts a velocity-time graph showing the movement of two vehicles, with Vehicle 1 moving at a constant speed and Vehicle 2 accelerating over time.&#10;&#10;AI 生成コンテンツは誤りを含む可能性があります。">
            <a:extLst>
              <a:ext uri="{FF2B5EF4-FFF2-40B4-BE49-F238E27FC236}">
                <a16:creationId xmlns:a16="http://schemas.microsoft.com/office/drawing/2014/main" id="{57973489-C92E-DF72-0EEA-B48A6A5CA5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4669" y="1743204"/>
            <a:ext cx="3626614" cy="2410234"/>
          </a:xfrm>
          <a:prstGeom prst="rect">
            <a:avLst/>
          </a:prstGeom>
        </p:spPr>
      </p:pic>
      <p:pic>
        <p:nvPicPr>
          <p:cNvPr id="9" name="図 8" descr="The diagram shows the positions of two vehicles, one leading and one following, over time, with their positions marked in meters.&#10;&#10;AI 生成コンテンツは誤りを含む可能性があります。">
            <a:extLst>
              <a:ext uri="{FF2B5EF4-FFF2-40B4-BE49-F238E27FC236}">
                <a16:creationId xmlns:a16="http://schemas.microsoft.com/office/drawing/2014/main" id="{25F5D005-1374-A746-DCE1-A10DB5B693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2090" y="4153438"/>
            <a:ext cx="3633473" cy="241023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2542032"/>
            <a:ext cx="475488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900" b="1">
                <a:solidFill>
                  <a:srgbClr val="1B2A5A"/>
                </a:solidFill>
                <a:latin typeface="Arial"/>
                <a:ea typeface="Arial"/>
              </a:rPr>
              <a:t>① ACC（2体・二重積分）  e=車間誤差, v=相対速度, a=加速度入力</a:t>
            </a:r>
          </a:p>
        </p:txBody>
      </p:sp>
      <p:pic>
        <p:nvPicPr>
          <p:cNvPr id="11" name="Picture 10" descr="eq44_a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816352"/>
            <a:ext cx="2377440" cy="47328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3584448"/>
            <a:ext cx="484632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900" b="1">
                <a:solidFill>
                  <a:srgbClr val="1B2A5A"/>
                </a:solidFill>
                <a:latin typeface="Arial"/>
                <a:ea typeface="Arial"/>
              </a:rPr>
              <a:t>② 波動系（本研究・単積分）  電圧 u が Δf を静的に決定→積分1回で位相 φ</a:t>
            </a:r>
          </a:p>
        </p:txBody>
      </p:sp>
      <p:pic>
        <p:nvPicPr>
          <p:cNvPr id="13" name="Picture 12" descr="eq44_wa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858768"/>
            <a:ext cx="4617720" cy="4486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65760" y="4617720"/>
            <a:ext cx="4800600" cy="13716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950" b="0">
                <a:solidFill>
                  <a:srgbClr val="202020"/>
                </a:solidFill>
                <a:latin typeface="Arial"/>
                <a:ea typeface="Arial"/>
              </a:rPr>
              <a:t>対応：制御電圧 u↔加速度入力、周波数差 Δf↔速度、位相差 φ(FRFR)↔位置、目標 φ_ref↔車間目標。Δf は差分 (φ[k]−φ[k−1])/Ts で推定し、e と Δf の両方へフィードバックして φ を目標値で停止＝位相同期。</a:t>
            </a:r>
          </a:p>
        </p:txBody>
      </p:sp>
    </p:spTree>
    <p:extLst>
      <p:ext uri="{BB962C8B-B14F-4D97-AF65-F5344CB8AC3E}">
        <p14:creationId xmlns:p14="http://schemas.microsoft.com/office/powerpoint/2010/main" val="9125649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000F78"/>
                </a:solidFill>
                <a:latin typeface="Arial"/>
                <a:ea typeface="Arial"/>
              </a:rPr>
              <a:t>04. </a:t>
            </a:r>
            <a:r>
              <a:rPr sz="1400" b="1" dirty="0" err="1">
                <a:solidFill>
                  <a:srgbClr val="000F78"/>
                </a:solidFill>
                <a:latin typeface="Arial"/>
                <a:ea typeface="Arial"/>
              </a:rPr>
              <a:t>研究方法</a:t>
            </a:r>
            <a:endParaRPr sz="1400" b="1" dirty="0">
              <a:solidFill>
                <a:srgbClr val="000F78"/>
              </a:solidFill>
              <a:latin typeface="Arial"/>
              <a:ea typeface="Arial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000F78"/>
                </a:solidFill>
                <a:latin typeface="Arial"/>
                <a:ea typeface="Arial"/>
              </a:rPr>
              <a:t>4-</a:t>
            </a:r>
            <a:r>
              <a:rPr lang="en-US" b="1" dirty="0">
                <a:solidFill>
                  <a:srgbClr val="000F78"/>
                </a:solidFill>
                <a:latin typeface="Arial"/>
                <a:ea typeface="Arial"/>
              </a:rPr>
              <a:t>5</a:t>
            </a:r>
            <a:r>
              <a:rPr b="1" dirty="0">
                <a:solidFill>
                  <a:srgbClr val="000F78"/>
                </a:solidFill>
                <a:latin typeface="Arial"/>
                <a:ea typeface="Arial"/>
              </a:rPr>
              <a:t>. </a:t>
            </a:r>
            <a:r>
              <a:rPr b="1" dirty="0" err="1">
                <a:solidFill>
                  <a:srgbClr val="000F78"/>
                </a:solidFill>
                <a:latin typeface="Arial"/>
                <a:ea typeface="Arial"/>
              </a:rPr>
              <a:t>予備実験：フィードバック電圧の感応度同定</a:t>
            </a:r>
            <a:endParaRPr b="1" dirty="0">
              <a:solidFill>
                <a:srgbClr val="000F78"/>
              </a:solidFill>
              <a:latin typeface="Arial"/>
              <a:ea typeface="Arial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32688"/>
            <a:ext cx="9326880" cy="1810512"/>
          </a:xfrm>
        </p:spPr>
        <p:txBody>
          <a:bodyPr wrap="square"/>
          <a:lstStyle/>
          <a:p>
            <a:r>
              <a:rPr b="1" dirty="0" err="1">
                <a:solidFill>
                  <a:srgbClr val="1B2A5A"/>
                </a:solidFill>
                <a:latin typeface="Arial"/>
                <a:ea typeface="Arial"/>
              </a:rPr>
              <a:t>フィードバック電圧のLSBを測定し回帰検証することで、フィードバックロジックのパラメータをチューニングした</a:t>
            </a:r>
            <a:r>
              <a:rPr b="1" dirty="0">
                <a:solidFill>
                  <a:srgbClr val="1B2A5A"/>
                </a:solidFill>
                <a:latin typeface="Arial"/>
                <a:ea typeface="Arial"/>
              </a:rPr>
              <a:t>。</a:t>
            </a:r>
          </a:p>
          <a:p>
            <a:pPr lvl="1"/>
            <a:r>
              <a:rPr dirty="0">
                <a:latin typeface="Arial"/>
                <a:ea typeface="Arial"/>
              </a:rPr>
              <a:t>1 LSB（≈305 µ</a:t>
            </a:r>
            <a:r>
              <a:rPr dirty="0" err="1">
                <a:latin typeface="Arial"/>
                <a:ea typeface="Arial"/>
              </a:rPr>
              <a:t>V）ずつ階段状に電圧を変え、各段の</a:t>
            </a:r>
            <a:r>
              <a:rPr dirty="0">
                <a:latin typeface="Arial"/>
                <a:ea typeface="Arial"/>
              </a:rPr>
              <a:t> FRFR </a:t>
            </a:r>
            <a:r>
              <a:rPr dirty="0" err="1">
                <a:latin typeface="Arial"/>
                <a:ea typeface="Arial"/>
              </a:rPr>
              <a:t>傾きを電圧増分に直線回帰</a:t>
            </a:r>
            <a:endParaRPr dirty="0">
              <a:latin typeface="Arial"/>
              <a:ea typeface="Arial"/>
            </a:endParaRPr>
          </a:p>
          <a:p>
            <a:pPr lvl="1"/>
            <a:r>
              <a:rPr dirty="0">
                <a:latin typeface="Arial"/>
                <a:ea typeface="Arial"/>
              </a:rPr>
              <a:t>→ </a:t>
            </a:r>
            <a:r>
              <a:rPr dirty="0" err="1">
                <a:latin typeface="Arial"/>
                <a:ea typeface="Arial"/>
              </a:rPr>
              <a:t>プラントゲイン</a:t>
            </a:r>
            <a:r>
              <a:rPr dirty="0">
                <a:latin typeface="Arial"/>
                <a:ea typeface="Arial"/>
              </a:rPr>
              <a:t> K≈860 ns/(V·s) </a:t>
            </a:r>
            <a:r>
              <a:rPr dirty="0" err="1">
                <a:latin typeface="Arial"/>
                <a:ea typeface="Arial"/>
              </a:rPr>
              <a:t>が得られた</a:t>
            </a:r>
            <a:endParaRPr dirty="0">
              <a:latin typeface="Arial"/>
              <a:ea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935" y="2432304"/>
            <a:ext cx="7555829" cy="4187952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56B7F1F-EE88-5D45-1AA0-641DA6F5D3F6}"/>
              </a:ext>
            </a:extLst>
          </p:cNvPr>
          <p:cNvSpPr/>
          <p:nvPr/>
        </p:nvSpPr>
        <p:spPr>
          <a:xfrm>
            <a:off x="1997476" y="2432304"/>
            <a:ext cx="6267635" cy="24875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tx1"/>
                </a:solidFill>
                <a:latin typeface="Arial"/>
                <a:ea typeface="Arial"/>
              </a:rPr>
              <a:t>図　</a:t>
            </a:r>
            <a:r>
              <a:rPr kumimoji="1" lang="en-US" altLang="ja-JP" b="1" dirty="0">
                <a:solidFill>
                  <a:schemeClr val="tx1"/>
                </a:solidFill>
                <a:latin typeface="Arial"/>
                <a:ea typeface="Arial"/>
              </a:rPr>
              <a:t>LSB</a:t>
            </a:r>
            <a:r>
              <a:rPr kumimoji="1" lang="ja-JP" altLang="en-US" b="1" dirty="0">
                <a:solidFill>
                  <a:schemeClr val="tx1"/>
                </a:solidFill>
                <a:latin typeface="Arial"/>
                <a:ea typeface="Arial"/>
              </a:rPr>
              <a:t>感応度</a:t>
            </a:r>
            <a:r>
              <a:rPr kumimoji="1" lang="en-US" altLang="ja-JP" b="1" dirty="0">
                <a:solidFill>
                  <a:schemeClr val="tx1"/>
                </a:solidFill>
                <a:latin typeface="Arial"/>
                <a:ea typeface="Arial"/>
              </a:rPr>
              <a:t>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FFC93-6711-C2B9-E69F-E57837F7C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63245-55E9-B407-3252-FBD65DDD8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000F78"/>
                </a:solidFill>
                <a:latin typeface="Arial"/>
                <a:ea typeface="Arial"/>
              </a:rPr>
              <a:t>04. </a:t>
            </a:r>
            <a:r>
              <a:rPr sz="1400" b="1" dirty="0" err="1">
                <a:solidFill>
                  <a:srgbClr val="000F78"/>
                </a:solidFill>
                <a:latin typeface="Arial"/>
                <a:ea typeface="Arial"/>
              </a:rPr>
              <a:t>研究方法</a:t>
            </a:r>
            <a:endParaRPr sz="1400" b="1" dirty="0">
              <a:solidFill>
                <a:srgbClr val="000F78"/>
              </a:solidFill>
              <a:latin typeface="Arial"/>
              <a:ea typeface="Arial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000F78"/>
                </a:solidFill>
                <a:latin typeface="Arial"/>
                <a:ea typeface="Arial"/>
              </a:rPr>
              <a:t>4-</a:t>
            </a:r>
            <a:r>
              <a:rPr lang="en-US" b="1" dirty="0">
                <a:solidFill>
                  <a:srgbClr val="000F78"/>
                </a:solidFill>
                <a:latin typeface="Arial"/>
                <a:ea typeface="Arial"/>
              </a:rPr>
              <a:t>6</a:t>
            </a:r>
            <a:r>
              <a:rPr b="1" dirty="0">
                <a:solidFill>
                  <a:srgbClr val="000F78"/>
                </a:solidFill>
                <a:latin typeface="Arial"/>
                <a:ea typeface="Arial"/>
              </a:rPr>
              <a:t>. </a:t>
            </a:r>
            <a:r>
              <a:rPr lang="ja-JP" altLang="en-US" b="1" dirty="0">
                <a:solidFill>
                  <a:srgbClr val="000F78"/>
                </a:solidFill>
                <a:latin typeface="Arial"/>
                <a:ea typeface="Arial"/>
              </a:rPr>
              <a:t>制御ターゲット：</a:t>
            </a:r>
            <a:r>
              <a:rPr lang="en-US" altLang="ja-JP" b="1" dirty="0">
                <a:solidFill>
                  <a:srgbClr val="000F78"/>
                </a:solidFill>
                <a:latin typeface="Arial"/>
                <a:ea typeface="Arial"/>
              </a:rPr>
              <a:t>FRFR</a:t>
            </a:r>
            <a:endParaRPr b="1" dirty="0">
              <a:solidFill>
                <a:srgbClr val="000F78"/>
              </a:solidFill>
              <a:latin typeface="Arial"/>
              <a:ea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E9D7A-9BE3-02A0-BFE1-98487BDBAC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4320" y="914400"/>
            <a:ext cx="9326880" cy="2468880"/>
          </a:xfrm>
        </p:spPr>
        <p:txBody>
          <a:bodyPr wrap="square"/>
          <a:lstStyle/>
          <a:p>
            <a:pPr/>
            <a:r>
              <a:rPr b="1">
                <a:solidFill>
                  <a:srgbClr val="1B2A5A"/>
                </a:solidFill>
                <a:latin typeface="Arial"/>
                <a:ea typeface="Arial"/>
              </a:rPr>
              <a:t>制御ターゲットは2台のOCXO（恒温槽付水晶発振器）の立ち上がりゼロクロス間の時間差 FRFR φ[ns]である。10 MHz では波の周期が100 nsなので、φは0–100 nsで折り返す。φを目標値で一定に保てば2台の位相が揃い、位相同期が成立する。</a:t>
            </a:r>
            <a:endParaRPr dirty="0">
              <a:latin typeface="Arial"/>
              <a:ea typeface="Arial"/>
            </a:endParaRPr>
          </a:p>
          <a:p>
            <a:pPr lvl="1"/>
            <a:r>
              <a:rPr>
                <a:latin typeface="Arial"/>
                <a:ea typeface="Arial"/>
              </a:rPr>
              <a:t>FRFR φ[ns]：OCXO-1（基準）とOCXO-2（制御対象）の立ち上がりゼロクロス間の時間差。位相のずれを直接表す量。</a:t>
            </a:r>
          </a:p>
          <a:p>
            <a:pPr lvl="1"/>
            <a:r>
              <a:rPr>
                <a:latin typeface="Arial"/>
                <a:ea typeface="Arial"/>
              </a:rPr>
              <a:t>10 MHz の周期は100 ns なので φ は0–100 ns で折り返す（ラップ）。折り返しは連続値に戻すアンラップ処理で扱う。</a:t>
            </a:r>
          </a:p>
          <a:p>
            <a:pPr lvl="1"/>
            <a:r>
              <a:rPr>
                <a:latin typeface="Arial"/>
                <a:ea typeface="Arial"/>
              </a:rPr>
              <a:t>φを目標値 φ_ref に一定保持すること＝2台の位相が揃った状態＝位相同期。</a:t>
            </a:r>
          </a:p>
        </p:txBody>
      </p:sp>
      <p:pic>
        <p:nvPicPr>
          <p:cNvPr id="4" name="Picture 3" descr="fig1_frf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3611880"/>
            <a:ext cx="6949440" cy="3337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1946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000F78"/>
                </a:solidFill>
                <a:latin typeface="Arial"/>
                <a:ea typeface="Arial"/>
              </a:rPr>
              <a:t>04. </a:t>
            </a:r>
            <a:r>
              <a:rPr sz="1400" b="1" dirty="0" err="1">
                <a:solidFill>
                  <a:srgbClr val="000F78"/>
                </a:solidFill>
                <a:latin typeface="Arial"/>
                <a:ea typeface="Arial"/>
              </a:rPr>
              <a:t>研究方法</a:t>
            </a:r>
            <a:endParaRPr sz="1400" b="1" dirty="0">
              <a:solidFill>
                <a:srgbClr val="000F78"/>
              </a:solidFill>
              <a:latin typeface="Arial"/>
              <a:ea typeface="Arial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000F78"/>
                </a:solidFill>
                <a:latin typeface="Arial"/>
                <a:ea typeface="Arial"/>
              </a:rPr>
              <a:t>4-</a:t>
            </a:r>
            <a:r>
              <a:rPr lang="en-US" b="1" dirty="0">
                <a:solidFill>
                  <a:srgbClr val="000F78"/>
                </a:solidFill>
                <a:latin typeface="Arial"/>
                <a:ea typeface="Arial"/>
              </a:rPr>
              <a:t>7</a:t>
            </a:r>
            <a:r>
              <a:rPr b="1" dirty="0">
                <a:solidFill>
                  <a:srgbClr val="000F78"/>
                </a:solidFill>
                <a:latin typeface="Arial"/>
                <a:ea typeface="Arial"/>
              </a:rPr>
              <a:t>. </a:t>
            </a:r>
            <a:r>
              <a:rPr b="1" dirty="0" err="1">
                <a:solidFill>
                  <a:srgbClr val="000F78"/>
                </a:solidFill>
                <a:latin typeface="Arial"/>
                <a:ea typeface="Arial"/>
              </a:rPr>
              <a:t>フィードバックロジック</a:t>
            </a:r>
            <a:endParaRPr b="1" dirty="0">
              <a:solidFill>
                <a:srgbClr val="000F78"/>
              </a:solidFill>
              <a:latin typeface="Arial"/>
              <a:ea typeface="Arial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14400"/>
            <a:ext cx="9326880" cy="1463040"/>
          </a:xfrm>
        </p:spPr>
        <p:txBody>
          <a:bodyPr wrap="square"/>
          <a:lstStyle/>
          <a:p>
            <a:pPr/>
            <a:r>
              <a:rPr b="1">
                <a:solidFill>
                  <a:srgbClr val="1B2A5A"/>
                </a:solidFill>
                <a:latin typeface="Arial"/>
                <a:ea typeface="Arial"/>
              </a:rPr>
              <a:t>位相誤差 e と周波数差 Δf を使う2状態フィードバックで、必要な分だけ電圧を最小刻み単位で動かす。1 LSB 未満は据え置く不感帯により、同期動作そのものが位相雑音を持ち込まない。</a:t>
            </a:r>
          </a:p>
          <a:p>
            <a:pPr lvl="1"/>
            <a:r>
              <a:rPr>
                <a:latin typeface="Arial"/>
                <a:ea typeface="Arial"/>
              </a:rPr>
              <a:t>出自：ACC（車両追従制御）の状態方程式を波動系へ写した2状態フィードバック。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4526280"/>
            <a:ext cx="4023360" cy="140221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2148840"/>
            <a:ext cx="4023360" cy="2132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2608" y="2414016"/>
            <a:ext cx="105156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950" b="1">
                <a:solidFill>
                  <a:srgbClr val="1B2A5A"/>
                </a:solidFill>
                <a:latin typeface="Arial"/>
                <a:ea typeface="Arial"/>
              </a:rPr>
              <a:t>①観測</a:t>
            </a:r>
          </a:p>
        </p:txBody>
      </p:sp>
      <p:pic>
        <p:nvPicPr>
          <p:cNvPr id="7" name="Picture 6" descr="eq_ob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880" y="2395728"/>
            <a:ext cx="4297680" cy="73962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92608" y="3354805"/>
            <a:ext cx="105156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950" b="1">
                <a:solidFill>
                  <a:srgbClr val="1B2A5A"/>
                </a:solidFill>
                <a:latin typeface="Arial"/>
                <a:ea typeface="Arial"/>
              </a:rPr>
              <a:t>②平滑(EMA)</a:t>
            </a:r>
          </a:p>
        </p:txBody>
      </p:sp>
      <p:pic>
        <p:nvPicPr>
          <p:cNvPr id="9" name="Picture 8" descr="eq_em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5880" y="3336517"/>
            <a:ext cx="3840480" cy="3610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2608" y="3940021"/>
            <a:ext cx="105156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950" b="1">
                <a:solidFill>
                  <a:srgbClr val="1B2A5A"/>
                </a:solidFill>
                <a:latin typeface="Arial"/>
                <a:ea typeface="Arial"/>
              </a:rPr>
              <a:t>③比例</a:t>
            </a:r>
          </a:p>
        </p:txBody>
      </p:sp>
      <p:pic>
        <p:nvPicPr>
          <p:cNvPr id="11" name="Picture 10" descr="eq_law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25880" y="3921733"/>
            <a:ext cx="3840480" cy="4415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2608" y="4582777"/>
            <a:ext cx="105156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950" b="1">
                <a:solidFill>
                  <a:srgbClr val="1B2A5A"/>
                </a:solidFill>
                <a:latin typeface="Arial"/>
                <a:ea typeface="Arial"/>
              </a:rPr>
              <a:t>④逆算(不感帯)</a:t>
            </a:r>
          </a:p>
        </p:txBody>
      </p:sp>
      <p:pic>
        <p:nvPicPr>
          <p:cNvPr id="13" name="Picture 12" descr="eq_law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25880" y="4564489"/>
            <a:ext cx="4572000" cy="57242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2608" y="5356368"/>
            <a:ext cx="105156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950" b="1">
                <a:solidFill>
                  <a:srgbClr val="1B2A5A"/>
                </a:solidFill>
                <a:latin typeface="Arial"/>
                <a:ea typeface="Arial"/>
              </a:rPr>
              <a:t>⑤更新</a:t>
            </a:r>
          </a:p>
        </p:txBody>
      </p:sp>
      <p:pic>
        <p:nvPicPr>
          <p:cNvPr id="15" name="Picture 14" descr="eq_law3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25880" y="5338080"/>
            <a:ext cx="3840480" cy="39833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Arial"/>
                <a:ea typeface="Arial"/>
              </a:rPr>
              <a:t>05. 実験と結果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32688"/>
            <a:ext cx="9326880" cy="1810512"/>
          </a:xfrm>
        </p:spPr>
        <p:txBody>
          <a:bodyPr wrap="square"/>
          <a:lstStyle/>
          <a:p>
            <a:r>
              <a:rPr b="1">
                <a:solidFill>
                  <a:srgbClr val="1B2A5A"/>
                </a:solidFill>
                <a:latin typeface="Arial"/>
                <a:ea typeface="Arial"/>
              </a:rPr>
              <a:t>実測モデルに基づくモデルFB（Kp_e=0.08）は、無制御HOLDと同等の低オフセット周波数（0.1–1 Hz）の位相雑音のまま同期できる（差≈0 dB）＝同期時に余分な位相雑音を加えない。比例・微分（PD）制御は短期雑音を生む（対比）。</a:t>
            </a:r>
          </a:p>
          <a:p>
            <a:pPr lvl="1"/>
            <a:r>
              <a:rPr>
                <a:latin typeface="Arial"/>
                <a:ea typeface="Arial"/>
              </a:rPr>
              <a:t>モデルFB と HOLD の低オフセット周波数（0.1–1 Hz）の位相雑音がほぼ一致（差≈0 dB）</a:t>
            </a:r>
          </a:p>
          <a:p>
            <a:pPr lvl="1"/>
            <a:r>
              <a:rPr>
                <a:latin typeface="Arial"/>
                <a:ea typeface="Arial"/>
              </a:rPr>
              <a:t>比例・微分（PD）制御は過剰動作で短期ジッタを注入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968507"/>
            <a:ext cx="4449927" cy="309725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8567" y="2968507"/>
            <a:ext cx="4449927" cy="309725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Arial"/>
                <a:ea typeface="Arial"/>
              </a:rPr>
              <a:t>06. 考察と今後の展望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32688"/>
            <a:ext cx="9326880" cy="1424146"/>
          </a:xfrm>
        </p:spPr>
        <p:txBody>
          <a:bodyPr wrap="square"/>
          <a:lstStyle/>
          <a:p>
            <a:r>
              <a:rPr b="1" dirty="0">
                <a:solidFill>
                  <a:srgbClr val="1B2A5A"/>
                </a:solidFill>
                <a:latin typeface="Arial"/>
                <a:ea typeface="Arial"/>
              </a:rPr>
              <a:t>フィードバック制御により、余分な位相雑音を加えずに同期させることに成功した（低オフセット周波数（0.1–1 Hz）の位相雑音を悪化させない）。今後は2台を同時制御・合成器で平均して −3 dB を実証し、N台へ拡張する。</a:t>
            </a:r>
          </a:p>
        </p:txBody>
      </p:sp>
      <p:sp>
        <p:nvSpPr>
          <p:cNvPr id="5" name="フローチャート: 他ページ結合子 4">
            <a:extLst>
              <a:ext uri="{FF2B5EF4-FFF2-40B4-BE49-F238E27FC236}">
                <a16:creationId xmlns:a16="http://schemas.microsoft.com/office/drawing/2014/main" id="{05C5E4A2-40EA-3831-00BD-9F2BE282D4C3}"/>
              </a:ext>
            </a:extLst>
          </p:cNvPr>
          <p:cNvSpPr/>
          <p:nvPr/>
        </p:nvSpPr>
        <p:spPr>
          <a:xfrm>
            <a:off x="656822" y="2589684"/>
            <a:ext cx="1403797" cy="830172"/>
          </a:xfrm>
          <a:prstGeom prst="flowChartOffpage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 dirty="0">
                <a:latin typeface="Arial"/>
                <a:ea typeface="Arial"/>
              </a:rPr>
              <a:t>現状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CCBBC37-475A-1459-4A2A-9A3A8910950D}"/>
              </a:ext>
            </a:extLst>
          </p:cNvPr>
          <p:cNvSpPr txBox="1"/>
          <p:nvPr/>
        </p:nvSpPr>
        <p:spPr>
          <a:xfrm>
            <a:off x="2461797" y="2850882"/>
            <a:ext cx="70050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ja-JP" altLang="en-US" dirty="0">
                <a:latin typeface="Arial"/>
                <a:ea typeface="Arial"/>
              </a:rPr>
              <a:t>実測モデルに基づくFBで余分な位相雑音を加えずに同期を実現</a:t>
            </a:r>
          </a:p>
        </p:txBody>
      </p:sp>
      <p:sp>
        <p:nvSpPr>
          <p:cNvPr id="8" name="フローチャート: 他ページ結合子 7">
            <a:extLst>
              <a:ext uri="{FF2B5EF4-FFF2-40B4-BE49-F238E27FC236}">
                <a16:creationId xmlns:a16="http://schemas.microsoft.com/office/drawing/2014/main" id="{08EBF897-D13F-E212-8B3E-C73BAA19611E}"/>
              </a:ext>
            </a:extLst>
          </p:cNvPr>
          <p:cNvSpPr/>
          <p:nvPr/>
        </p:nvSpPr>
        <p:spPr>
          <a:xfrm>
            <a:off x="656822" y="3460167"/>
            <a:ext cx="1403797" cy="830172"/>
          </a:xfrm>
          <a:prstGeom prst="flowChartOffpage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b="1" dirty="0">
                <a:latin typeface="Arial"/>
                <a:ea typeface="Arial"/>
              </a:rPr>
              <a:t>Step1</a:t>
            </a:r>
          </a:p>
        </p:txBody>
      </p:sp>
      <p:sp>
        <p:nvSpPr>
          <p:cNvPr id="9" name="フローチャート: 他ページ結合子 8">
            <a:extLst>
              <a:ext uri="{FF2B5EF4-FFF2-40B4-BE49-F238E27FC236}">
                <a16:creationId xmlns:a16="http://schemas.microsoft.com/office/drawing/2014/main" id="{AD683D8F-C9D3-4078-B2A6-FA1663C3D490}"/>
              </a:ext>
            </a:extLst>
          </p:cNvPr>
          <p:cNvSpPr/>
          <p:nvPr/>
        </p:nvSpPr>
        <p:spPr>
          <a:xfrm>
            <a:off x="656822" y="4330650"/>
            <a:ext cx="1403797" cy="830172"/>
          </a:xfrm>
          <a:prstGeom prst="flowChartOffpage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b="1" dirty="0">
                <a:latin typeface="Arial"/>
                <a:ea typeface="Arial"/>
              </a:rPr>
              <a:t>Step2</a:t>
            </a:r>
            <a:endParaRPr kumimoji="1" lang="ja-JP" altLang="en-US" sz="1600" b="1" dirty="0">
              <a:latin typeface="+mj-lt"/>
            </a:endParaRPr>
          </a:p>
        </p:txBody>
      </p:sp>
      <p:sp>
        <p:nvSpPr>
          <p:cNvPr id="10" name="フローチャート: 他ページ結合子 9">
            <a:extLst>
              <a:ext uri="{FF2B5EF4-FFF2-40B4-BE49-F238E27FC236}">
                <a16:creationId xmlns:a16="http://schemas.microsoft.com/office/drawing/2014/main" id="{9DDC8AEE-0D00-7D7F-387D-0E6422E6B24E}"/>
              </a:ext>
            </a:extLst>
          </p:cNvPr>
          <p:cNvSpPr/>
          <p:nvPr/>
        </p:nvSpPr>
        <p:spPr>
          <a:xfrm>
            <a:off x="656821" y="5201134"/>
            <a:ext cx="1403797" cy="830172"/>
          </a:xfrm>
          <a:prstGeom prst="flowChartOffpage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b="1" dirty="0">
                <a:latin typeface="Arial"/>
                <a:ea typeface="Arial"/>
              </a:rPr>
              <a:t>Step3</a:t>
            </a:r>
            <a:endParaRPr kumimoji="1" lang="ja-JP" altLang="en-US" sz="1600" b="1" dirty="0">
              <a:latin typeface="+mj-lt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3894E7B0-12D2-45A5-A463-7CAFAB8F40AA}"/>
              </a:ext>
            </a:extLst>
          </p:cNvPr>
          <p:cNvSpPr txBox="1"/>
          <p:nvPr/>
        </p:nvSpPr>
        <p:spPr>
          <a:xfrm>
            <a:off x="2461797" y="3721365"/>
            <a:ext cx="49519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ja-JP" altLang="en-US" dirty="0">
                <a:latin typeface="Arial"/>
                <a:ea typeface="Arial"/>
              </a:rPr>
              <a:t>二つの</a:t>
            </a:r>
            <a:r>
              <a:rPr lang="en-US" altLang="ja-JP" dirty="0">
                <a:latin typeface="Arial"/>
                <a:ea typeface="Arial"/>
              </a:rPr>
              <a:t>OCXO</a:t>
            </a:r>
            <a:r>
              <a:rPr lang="ja-JP" altLang="en-US" dirty="0">
                <a:latin typeface="Arial"/>
                <a:ea typeface="Arial"/>
              </a:rPr>
              <a:t>の平均に対して同期させる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E56E0D7-3BE7-7AB1-F460-7CA6A1FDFC7F}"/>
              </a:ext>
            </a:extLst>
          </p:cNvPr>
          <p:cNvSpPr txBox="1"/>
          <p:nvPr/>
        </p:nvSpPr>
        <p:spPr>
          <a:xfrm>
            <a:off x="2461797" y="4591848"/>
            <a:ext cx="49519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ja-JP" altLang="en-US" dirty="0">
                <a:latin typeface="Arial"/>
                <a:ea typeface="Arial"/>
              </a:rPr>
              <a:t>同期した</a:t>
            </a:r>
            <a:r>
              <a:rPr lang="en-US" altLang="ja-JP" dirty="0">
                <a:latin typeface="Arial"/>
                <a:ea typeface="Arial"/>
              </a:rPr>
              <a:t>OCXO</a:t>
            </a:r>
            <a:r>
              <a:rPr lang="ja-JP" altLang="en-US" dirty="0">
                <a:latin typeface="Arial"/>
                <a:ea typeface="Arial"/>
              </a:rPr>
              <a:t>を合成器で平均し</a:t>
            </a:r>
            <a:r>
              <a:rPr lang="ja-JP" altLang="en-US" dirty="0">
                <a:latin typeface="Arial"/>
                <a:ea typeface="Arial"/>
              </a:rPr>
              <a:t>測定</a:t>
            </a:r>
            <a:endParaRPr lang="ja-JP" altLang="en-US" dirty="0">
              <a:latin typeface="Arial"/>
              <a:ea typeface="Arial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BA08A95-5A30-5DC1-F2F7-4B6B98949581}"/>
              </a:ext>
            </a:extLst>
          </p:cNvPr>
          <p:cNvSpPr txBox="1"/>
          <p:nvPr/>
        </p:nvSpPr>
        <p:spPr>
          <a:xfrm>
            <a:off x="2461797" y="5462332"/>
            <a:ext cx="49519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altLang="ja-JP" dirty="0">
                <a:latin typeface="Arial"/>
                <a:ea typeface="Arial"/>
              </a:rPr>
              <a:t>N</a:t>
            </a:r>
            <a:r>
              <a:rPr lang="ja-JP" altLang="en-US" dirty="0">
                <a:latin typeface="Arial"/>
                <a:ea typeface="Arial"/>
              </a:rPr>
              <a:t>台へ拡張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480CC7-C2AC-AC42-A69E-25BFFC791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1400" b="1" dirty="0">
                <a:solidFill>
                  <a:schemeClr val="bg1"/>
                </a:solidFill>
                <a:latin typeface="Arial"/>
                <a:ea typeface="Arial"/>
              </a:rPr>
              <a:t>05</a:t>
            </a:r>
            <a:br>
              <a:rPr kumimoji="1" lang="en-US" altLang="ja-JP" b="1" dirty="0"/>
            </a:br>
            <a:r>
              <a:rPr kumimoji="1" lang="en-US" altLang="ja-JP" b="1" dirty="0">
                <a:latin typeface="Arial"/>
                <a:ea typeface="Arial"/>
              </a:rPr>
              <a:t>06.Appendix</a:t>
            </a:r>
            <a:endParaRPr kumimoji="1" lang="ja-JP" altLang="en-US" b="1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7E80DAE-6024-3195-D2D4-EA3A5C54BC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13525" y="906114"/>
            <a:ext cx="9101925" cy="628322"/>
          </a:xfrm>
        </p:spPr>
        <p:txBody>
          <a:bodyPr/>
          <a:lstStyle/>
          <a:p>
            <a:r>
              <a:rPr kumimoji="1" lang="en-US" altLang="ja-JP" sz="1800" dirty="0">
                <a:latin typeface="Arial"/>
                <a:ea typeface="Arial"/>
              </a:rPr>
              <a:t>Power laws for spectra and Allan variance</a:t>
            </a:r>
          </a:p>
        </p:txBody>
      </p:sp>
      <p:pic>
        <p:nvPicPr>
          <p:cNvPr id="6" name="図 5" descr="ダイアグラム&#10;&#10;自動的に生成された説明">
            <a:extLst>
              <a:ext uri="{FF2B5EF4-FFF2-40B4-BE49-F238E27FC236}">
                <a16:creationId xmlns:a16="http://schemas.microsoft.com/office/drawing/2014/main" id="{E1729760-8423-469D-DAB5-2C95D90C47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6651" y="1353233"/>
            <a:ext cx="3772698" cy="5029424"/>
          </a:xfrm>
          <a:prstGeom prst="rect">
            <a:avLst/>
          </a:prstGeom>
        </p:spPr>
      </p:pic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E8EBDA7F-41B7-8F02-8D98-66B5EF1431E8}"/>
              </a:ext>
            </a:extLst>
          </p:cNvPr>
          <p:cNvCxnSpPr>
            <a:cxnSpLocks/>
          </p:cNvCxnSpPr>
          <p:nvPr/>
        </p:nvCxnSpPr>
        <p:spPr>
          <a:xfrm flipH="1">
            <a:off x="262215" y="6481500"/>
            <a:ext cx="938156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328309F-53FC-9D69-213A-15BA930524BE}"/>
              </a:ext>
            </a:extLst>
          </p:cNvPr>
          <p:cNvSpPr txBox="1"/>
          <p:nvPr/>
        </p:nvSpPr>
        <p:spPr>
          <a:xfrm>
            <a:off x="323502" y="6505048"/>
            <a:ext cx="92589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latin typeface="Arial"/>
                <a:ea typeface="Arial"/>
              </a:rPr>
              <a:t>Enrico </a:t>
            </a:r>
            <a:r>
              <a:rPr lang="en-US" altLang="ja-JP" dirty="0" err="1">
                <a:latin typeface="Arial"/>
                <a:ea typeface="Arial"/>
              </a:rPr>
              <a:t>Rubiola</a:t>
            </a:r>
            <a:r>
              <a:rPr lang="en-US" altLang="ja-JP" dirty="0">
                <a:latin typeface="Arial"/>
                <a:ea typeface="Arial"/>
              </a:rPr>
              <a:t>, Phase Noise and Frequency Stability in Oscillators</a:t>
            </a:r>
          </a:p>
        </p:txBody>
      </p:sp>
    </p:spTree>
    <p:extLst>
      <p:ext uri="{BB962C8B-B14F-4D97-AF65-F5344CB8AC3E}">
        <p14:creationId xmlns:p14="http://schemas.microsoft.com/office/powerpoint/2010/main" val="3550089105"/>
      </p:ext>
    </p:extLst>
  </p:cSld>
  <p:clrMapOvr>
    <a:masterClrMapping/>
  </p:clrMapOvr>
</p:sld>
</file>

<file path=ppt/theme/theme1.xml><?xml version="1.0" encoding="utf-8"?>
<a:theme xmlns:a="http://schemas.openxmlformats.org/drawingml/2006/main" name="mb_標準テンプレート01">
  <a:themeElements>
    <a:clrScheme name="ユーザー定義 1">
      <a:dk1>
        <a:srgbClr val="000000"/>
      </a:dk1>
      <a:lt1>
        <a:srgbClr val="FFFFFF"/>
      </a:lt1>
      <a:dk2>
        <a:srgbClr val="001279"/>
      </a:dk2>
      <a:lt2>
        <a:srgbClr val="636363"/>
      </a:lt2>
      <a:accent1>
        <a:srgbClr val="001279"/>
      </a:accent1>
      <a:accent2>
        <a:srgbClr val="FF0000"/>
      </a:accent2>
      <a:accent3>
        <a:srgbClr val="FFFFFF"/>
      </a:accent3>
      <a:accent4>
        <a:srgbClr val="000000"/>
      </a:accent4>
      <a:accent5>
        <a:srgbClr val="EBEBEB"/>
      </a:accent5>
      <a:accent6>
        <a:srgbClr val="AEAEAE"/>
      </a:accent6>
      <a:hlink>
        <a:srgbClr val="0066B3"/>
      </a:hlink>
      <a:folHlink>
        <a:srgbClr val="CC006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46763</TotalTime>
  <Words>787</Words>
  <Application>Microsoft Office PowerPoint</Application>
  <PresentationFormat>A4 210 x 297 mm</PresentationFormat>
  <Paragraphs>132</Paragraphs>
  <Slides>16</Slides>
  <Notes>4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1" baseType="lpstr">
      <vt:lpstr>Noto Sans Symbols</vt:lpstr>
      <vt:lpstr>Yu Gothic</vt:lpstr>
      <vt:lpstr>Arial</vt:lpstr>
      <vt:lpstr>mb_標準テンプレート01</vt:lpstr>
      <vt:lpstr>パッケージ</vt:lpstr>
      <vt:lpstr>PowerPoint プレゼンテーション</vt:lpstr>
      <vt:lpstr>PowerPoint プレゼンテーション</vt:lpstr>
      <vt:lpstr>01.研究背景 1-1.位相ノイズとは</vt:lpstr>
      <vt:lpstr>01. 研究背景 1-2. 基準信号の純度と現状</vt:lpstr>
      <vt:lpstr>02. 本研究の目標</vt:lpstr>
      <vt:lpstr>03. 先行研究 3-1. 同期・平均による位相雑音の改善原理</vt:lpstr>
      <vt:lpstr>04. 研究方法 4-1. 実験系</vt:lpstr>
      <vt:lpstr>04. 研究方法 4-2. 測定法：オーディオレコーダを使う理由</vt:lpstr>
      <vt:lpstr>04. 研究方法 4-3. OCXOの同期制御</vt:lpstr>
      <vt:lpstr>04. 研究方法 4-4. 状態方程式による制御</vt:lpstr>
      <vt:lpstr>04. 研究方法 4-5. 予備実験：フィードバック電圧の感応度同定</vt:lpstr>
      <vt:lpstr>04. 研究方法 4-6. 制御ターゲット：FRFR</vt:lpstr>
      <vt:lpstr>04. 研究方法 4-7. フィードバックロジック</vt:lpstr>
      <vt:lpstr>05. 実験と結果</vt:lpstr>
      <vt:lpstr>06. 考察と今後の展望</vt:lpstr>
      <vt:lpstr>05 06.Appendix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事業承継およびM&amp;Aに関する打ち合わせ　#2</dc:title>
  <dc:creator>m-base</dc:creator>
  <cp:lastModifiedBy>福井　晴士郎</cp:lastModifiedBy>
  <cp:revision>129</cp:revision>
  <cp:lastPrinted>2025-01-31T09:29:12Z</cp:lastPrinted>
  <dcterms:created xsi:type="dcterms:W3CDTF">2005-06-08T01:35:16Z</dcterms:created>
  <dcterms:modified xsi:type="dcterms:W3CDTF">2026-06-24T00:23:37Z</dcterms:modified>
</cp:coreProperties>
</file>