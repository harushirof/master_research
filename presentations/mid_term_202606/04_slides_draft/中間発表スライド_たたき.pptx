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Yu Gothic"/>
                <a:ea typeface="Yu Gothic"/>
              </a:rPr>
              <a:t>水晶振動発振器の位相同期制御による高純度信号作成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CADCFC"/>
                </a:solidFill>
                <a:latin typeface="Yu Gothic"/>
                <a:ea typeface="Yu Gothic"/>
              </a:rPr>
              <a:t>福井 晴士郎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ADCFC"/>
                </a:solidFill>
                <a:latin typeface="Yu Gothic"/>
                <a:ea typeface="Yu Gothic"/>
              </a:rPr>
              <a:t>指導教員：齋藤 晴雄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Yu Gothic"/>
                <a:ea typeface="Yu Gothic"/>
              </a:rPr>
              <a:t>東京大学　広域システム科学　／　2026年6月（中間発表）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Yu Gothic"/>
                <a:ea typeface="Yu Gothic"/>
              </a:rPr>
              <a:t>背景・目的・究極のゴール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28090"/>
                </a:solidFill>
                <a:latin typeface="Yu Gothic"/>
                <a:ea typeface="Yu Gothic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737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Yu Gothic"/>
                <a:ea typeface="Yu Gothic"/>
              </a:rPr>
              <a:t>通信・測位・計測といった技術は、基準となる正弦波信号の純度に支えられている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28090"/>
                </a:solidFill>
                <a:latin typeface="Yu Gothic"/>
                <a:ea typeface="Yu Gothic"/>
              </a:rPr>
              <a:t>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154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Yu Gothic"/>
                <a:ea typeface="Yu Gothic"/>
              </a:rPr>
              <a:t>安価な水晶発振器（OCXO）を用いて、可能な限り高純度な基準信号源をつくる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28090"/>
                </a:solidFill>
                <a:latin typeface="Yu Gothic"/>
                <a:ea typeface="Yu Gothic"/>
              </a:rPr>
              <a:t>究極のゴール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72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Yu Gothic"/>
                <a:ea typeface="Yu Gothic"/>
              </a:rPr>
              <a:t>位相雑音のない理想的な正弦波。純度が高いほど各応用の性能が向上する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Yu Gothic"/>
                <a:ea typeface="Yu Gothic"/>
              </a:rPr>
              <a:t>現状と課題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Yu Gothic"/>
                <a:ea typeface="Yu Gothic"/>
              </a:rPr>
              <a:t>・最高純度は原子時計・水素メーザー。大型・高価で外部基準に依存する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Yu Gothic"/>
                <a:ea typeface="Yu Gothic"/>
              </a:rPr>
              <a:t>・GPS規律発振器（GPSDO）：毎秒の基準パルスは大気・電離層の影響で数nsのゆらぎ。長時間の計測で平均され純度が向上するが、10秒〜1分では高い精度が得にくい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Yu Gothic"/>
                <a:ea typeface="Yu Gothic"/>
              </a:rPr>
              <a:t>・OCXOは短時間の安定度に優れるが、単体には限界がある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Yu Gothic"/>
                <a:ea typeface="Yu Gothic"/>
              </a:rPr>
              <a:t>・近傍（0.01–0.1 Hz）の純度をどう高めるかが論点</a:t>
            </a:r>
          </a:p>
        </p:txBody>
      </p:sp>
      <p:pic>
        <p:nvPicPr>
          <p:cNvPr id="4" name="Picture 3" descr="bench_p2_cu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60249"/>
            <a:ext cx="5212080" cy="28690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6053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  <a:latin typeface="Yu Gothic"/>
                <a:ea typeface="Yu Gothic"/>
              </a:rPr>
              <a:t>図：市販各機の位相雑音（10 MHz 換算）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Yu Gothic"/>
                <a:ea typeface="Yu Gothic"/>
              </a:rPr>
              <a:t>先行研究（4件に絞り込み）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Yu Gothic"/>
                <a:ea typeface="Yu Gothic"/>
              </a:rPr>
              <a:t>Chang–York (1997)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6459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Yu Gothic"/>
                <a:ea typeface="Yu Gothic"/>
              </a:rPr>
              <a:t>結合発振器の位相雑音 1/N 理論（原典）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Yu Gothic"/>
                <a:ea typeface="Yu Gothic"/>
              </a:rPr>
              <a:t>Rubiola『Phase Noise…』(2008)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423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Yu Gothic"/>
                <a:ea typeface="Yu Gothic"/>
              </a:rPr>
              <a:t>位相雑音・周波数安定度の計測の基盤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Yu Gothic"/>
                <a:ea typeface="Yu Gothic"/>
              </a:rPr>
              <a:t>Rubiola–Giordano (2010)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Yu Gothic"/>
                <a:ea typeface="Yu Gothic"/>
              </a:rPr>
              <a:t>相互相関による f &lt; 1 Hz の位相雑音計測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Yu Gothic"/>
                <a:ea typeface="Yu Gothic"/>
              </a:rPr>
              <a:t>Zhang ほか (2015)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97763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Yu Gothic"/>
                <a:ea typeface="Yu Gothic"/>
              </a:rPr>
              <a:t>光結合アレイで位相雑音が 1/N になることを実証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79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28090"/>
                </a:solidFill>
                <a:latin typeface="Yu Gothic"/>
                <a:ea typeface="Yu Gothic"/>
              </a:rPr>
              <a:t>本研究の位置づけ：10 MHz の水晶発振器を能動的フィードバックで複数同期し、位相雑音を改善した報告は確認されていない（実証はマイクロ波発振器・光機械振動子・原子時計の合成に限られる）。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Yu Gothic"/>
                <a:ea typeface="Yu Gothic"/>
              </a:rPr>
              <a:t>アプローチ：同期して平均する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Yu Gothic"/>
                <a:ea typeface="Yu Gothic"/>
              </a:rPr>
              <a:t>・互いに無相関な雑音は平均で打ち消し合い、N台で 1/N（2台で約3 dB改善）になる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Yu Gothic"/>
                <a:ea typeface="Yu Gothic"/>
              </a:rPr>
              <a:t>・国際原子時（TAI）が多数の時計を平均する発想を、小規模かつ実時間で水晶発振器に適用する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Yu Gothic"/>
                <a:ea typeface="Yu Gothic"/>
              </a:rPr>
              <a:t>・平均が有効に働くには各発振器の位相が揃っている必要がある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707070"/>
                </a:solidFill>
                <a:latin typeface="Yu Gothic"/>
                <a:ea typeface="Yu Gothic"/>
              </a:rPr>
              <a:t>－ 雑音を加えずに同期する制御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707070"/>
                </a:solidFill>
                <a:latin typeface="Yu Gothic"/>
                <a:ea typeface="Yu Gothic"/>
              </a:rPr>
              <a:t>－ 近傍位相雑音の高分解能な測定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Yu Gothic"/>
                <a:ea typeface="Yu Gothic"/>
              </a:rPr>
              <a:t>実験系（オーディオレコーダを使う理由を含む）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Yu Gothic"/>
                <a:ea typeface="Yu Gothic"/>
              </a:rPr>
              <a:t>・OCXO 2台、デジタルオシロ（SIGLENT）で位相差（FRFR）を観測、NI製DAQで制御電圧を一方へ印加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Yu Gothic"/>
                <a:ea typeface="Yu Gothic"/>
              </a:rPr>
              <a:t>・PIC（マイコン）で 10 MHz → 48 kHz に変換し、TASCAM でステレオ録音 → ヒルベルト変換で解析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Yu Gothic"/>
                <a:ea typeface="Yu Gothic"/>
              </a:rPr>
              <a:t>・オーディオレコーダを使う理由：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707070"/>
                </a:solidFill>
                <a:latin typeface="Yu Gothic"/>
                <a:ea typeface="Yu Gothic"/>
              </a:rPr>
              <a:t>－ オシロのFRFRは精度が得にくい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707070"/>
                </a:solidFill>
                <a:latin typeface="Yu Gothic"/>
                <a:ea typeface="Yu Gothic"/>
              </a:rPr>
              <a:t>－ 録音＋ヒルベルトは高精度（10秒測定で std 20–30 ps）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707070"/>
                </a:solidFill>
                <a:latin typeface="Yu Gothic"/>
                <a:ea typeface="Yu Gothic"/>
              </a:rPr>
              <a:t>－ ステレオは同時測定で相対測定が高精度・長時間測定が可能で 0.01–0.1 Hz に向く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97543"/>
            <a:ext cx="5120640" cy="2702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5779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  <a:latin typeface="Yu Gothic"/>
                <a:ea typeface="Yu Gothic"/>
              </a:rPr>
              <a:t>図：実験系ブロック図（手書き・清書予定）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Yu Gothic"/>
                <a:ea typeface="Yu Gothic"/>
              </a:rPr>
              <a:t>予備実験：フィードバックのための感応度同定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Yu Gothic"/>
                <a:ea typeface="Yu Gothic"/>
              </a:rPr>
              <a:t>・フィードバック設計に必要な感応度（プラントゲイン）を、最小電圧ステップ応答から同定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Yu Gothic"/>
                <a:ea typeface="Yu Gothic"/>
              </a:rPr>
              <a:t>・結果：K ≈ 860 ns/(V·s)（当初想定の約10倍）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Yu Gothic"/>
                <a:ea typeface="Yu Gothic"/>
              </a:rPr>
              <a:t>・電圧から位相差への応答は積分器的な振る舞い G(s)=K/s として扱える</a:t>
            </a:r>
          </a:p>
        </p:txBody>
      </p:sp>
      <p:pic>
        <p:nvPicPr>
          <p:cNvPr id="4" name="Picture 3" descr="frfr_gainsweep_20260608_183932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04170"/>
            <a:ext cx="5212080" cy="33068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5779007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  <a:latin typeface="Yu Gothic"/>
                <a:ea typeface="Yu Gothic"/>
              </a:rPr>
              <a:t>図：ゲインスイープの時系列（260608）　※K同定の専用図は作成予定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Yu Gothic"/>
                <a:ea typeface="Yu Gothic"/>
              </a:rPr>
              <a:t>ロジック（制御則）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  <a:latin typeface="Yu Gothic"/>
                <a:ea typeface="Yu Gothic"/>
              </a:rPr>
              <a:t>・更新式：積分型 u[k]=u[k−1]−Kp·freq_err（Phase 1）、Ki·e_phase を加えて指定値へ追従（Phase 2）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  <a:latin typeface="Yu Gothic"/>
                <a:ea typeface="Yu Gothic"/>
              </a:rPr>
              <a:t>・実測モデルに基づき「必要な分だけ電圧を動かす」設計（比例・微分制御は過剰な動作で短期の雑音を生む）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  <a:latin typeface="Yu Gothic"/>
                <a:ea typeface="Yu Gothic"/>
              </a:rPr>
              <a:t>・状態方程式（状態空間）に基づいて定式化</a:t>
            </a:r>
          </a:p>
        </p:txBody>
      </p:sp>
      <p:pic>
        <p:nvPicPr>
          <p:cNvPr id="4" name="Picture 3" descr="fig_control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442700"/>
            <a:ext cx="8869680" cy="28072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6373367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  <a:latin typeface="Yu Gothic"/>
                <a:ea typeface="Yu Gothic"/>
              </a:rPr>
              <a:t>図：制御ループ（フィードバック制御）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Yu Gothic"/>
                <a:ea typeface="Yu Gothic"/>
              </a:rPr>
              <a:t>実験結果：モデルに基づくFB と 無制御（HOLD）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Yu Gothic"/>
                <a:ea typeface="Yu Gothic"/>
              </a:rPr>
              <a:t>・実測モデルに基づくFBで追従ゲインを適切に選ぶ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Yu Gothic"/>
                <a:ea typeface="Yu Gothic"/>
              </a:rPr>
              <a:t>・無制御（開ループ保持, HOLD）と同等の近傍位相雑音のまま同期できることを実測で確認（差 ≈ 0 dB）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Yu Gothic"/>
                <a:ea typeface="Yu Gothic"/>
              </a:rPr>
              <a:t>・比例・微分制御は短期の位相雑音を生む（対比）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Yu Gothic"/>
                <a:ea typeface="Yu Gothic"/>
              </a:rPr>
              <a:t>・「同期する際に雑音を持ち込まない」段階に到達した、というのが今回の主張</a:t>
            </a:r>
          </a:p>
        </p:txBody>
      </p:sp>
      <p:pic>
        <p:nvPicPr>
          <p:cNvPr id="4" name="Picture 3" descr="260610_compare_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8823"/>
            <a:ext cx="5303520" cy="3648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5870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07070"/>
                </a:solidFill>
                <a:latin typeface="Yu Gothic"/>
                <a:ea typeface="Yu Gothic"/>
              </a:rPr>
              <a:t>図：位相雑音 L(f) 比較（比例微分 / モデルFB / HOLD）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Yu Gothic"/>
                <a:ea typeface="Yu Gothic"/>
              </a:rPr>
              <a:t>今後の予定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333333"/>
                </a:solidFill>
                <a:latin typeface="Yu Gothic"/>
                <a:ea typeface="Yu Gothic"/>
              </a:rPr>
              <a:t>・同期した2台を合成器で平均し、単体比 3 dB の改善を実証する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333333"/>
                </a:solidFill>
                <a:latin typeface="Yu Gothic"/>
                <a:ea typeface="Yu Gothic"/>
              </a:rPr>
              <a:t>・N台へ拡張し、さらに双方向（相互）結合へ発展させる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